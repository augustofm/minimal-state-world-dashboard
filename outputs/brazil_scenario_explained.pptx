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3e5ee21edc64151" /><Relationship Type="http://schemas.openxmlformats.org/officeDocument/2006/relationships/extended-properties" Target="/docProps/app.xml" Id="R4895137f6ec142bd" /><Relationship Type="http://schemas.openxmlformats.org/officeDocument/2006/relationships/officeDocument" Target="/ppt/presentation.xml" Id="R350980c290834c91" /></Relationships>
</file>

<file path=ppt/presentation.xml><?xml version="1.0" encoding="utf-8"?>
<p:presentation xmlns:p="http://schemas.openxmlformats.org/presentationml/2006/main">
  <p:sldMasterIdLst>
    <p:sldMasterId xmlns:r="http://schemas.openxmlformats.org/officeDocument/2006/relationships" id="2147483648" r:id="R1ecc2de7a82542f7"/>
  </p:sldMasterIdLst>
  <p:notesMasterIdLst>
    <p:notesMasterId xmlns:r="http://schemas.openxmlformats.org/officeDocument/2006/relationships" r:id="Rc530b37b331c4910"/>
  </p:notesMasterIdLst>
  <p:sldIdLst>
    <p:sldId xmlns:r="http://schemas.openxmlformats.org/officeDocument/2006/relationships" id="256" r:id="R41d89dc77b6c4dc4"/>
    <p:sldId xmlns:r="http://schemas.openxmlformats.org/officeDocument/2006/relationships" id="257" r:id="Rd8fba4f037e84f42"/>
    <p:sldId xmlns:r="http://schemas.openxmlformats.org/officeDocument/2006/relationships" id="258" r:id="R1728ca68b8b946e0"/>
    <p:sldId xmlns:r="http://schemas.openxmlformats.org/officeDocument/2006/relationships" id="259" r:id="Rcd4c2651ffb94ad4"/>
    <p:sldId xmlns:r="http://schemas.openxmlformats.org/officeDocument/2006/relationships" id="260" r:id="R786acc12f3434664"/>
    <p:sldId xmlns:r="http://schemas.openxmlformats.org/officeDocument/2006/relationships" id="261" r:id="Rdb0eeb0fb29a4ee0"/>
    <p:sldId xmlns:r="http://schemas.openxmlformats.org/officeDocument/2006/relationships" id="262" r:id="Rb987f91ff2684bf4"/>
    <p:sldId xmlns:r="http://schemas.openxmlformats.org/officeDocument/2006/relationships" id="263" r:id="R71bd871570794bf6"/>
    <p:sldId xmlns:r="http://schemas.openxmlformats.org/officeDocument/2006/relationships" id="264" r:id="R37dcbe1b3c034f8d"/>
    <p:sldId xmlns:r="http://schemas.openxmlformats.org/officeDocument/2006/relationships" id="265" r:id="Ra823cb41016c4e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c14ec8fd1584dc2" /><Relationship Type="http://schemas.openxmlformats.org/officeDocument/2006/relationships/slideMaster" Target="/ppt/slideMasters/slideMaster1.xml" Id="R1ecc2de7a82542f7" /><Relationship Type="http://schemas.openxmlformats.org/officeDocument/2006/relationships/notesMaster" Target="/ppt/notesMasters/notesMaster1.xml" Id="Rc530b37b331c4910" /><Relationship Type="http://schemas.openxmlformats.org/officeDocument/2006/relationships/presProps" Target="/ppt/presProps.xml" Id="R8974ab7b95d740df" /><Relationship Type="http://schemas.openxmlformats.org/officeDocument/2006/relationships/tableStyles" Target="/ppt/tableStyles.xml" Id="R50081e4aa1884d52" /><Relationship Type="http://schemas.openxmlformats.org/officeDocument/2006/relationships/slide" Target="/ppt/slides/slide1.xml" Id="R41d89dc77b6c4dc4" /><Relationship Type="http://schemas.openxmlformats.org/officeDocument/2006/relationships/slide" Target="/ppt/slides/slide2.xml" Id="Rd8fba4f037e84f42" /><Relationship Type="http://schemas.openxmlformats.org/officeDocument/2006/relationships/slide" Target="/ppt/slides/slide3.xml" Id="R1728ca68b8b946e0" /><Relationship Type="http://schemas.openxmlformats.org/officeDocument/2006/relationships/slide" Target="/ppt/slides/slide4.xml" Id="Rcd4c2651ffb94ad4" /><Relationship Type="http://schemas.openxmlformats.org/officeDocument/2006/relationships/slide" Target="/ppt/slides/slide5.xml" Id="R786acc12f3434664" /><Relationship Type="http://schemas.openxmlformats.org/officeDocument/2006/relationships/slide" Target="/ppt/slides/slide6.xml" Id="Rdb0eeb0fb29a4ee0" /><Relationship Type="http://schemas.openxmlformats.org/officeDocument/2006/relationships/slide" Target="/ppt/slides/slide7.xml" Id="Rb987f91ff2684bf4" /><Relationship Type="http://schemas.openxmlformats.org/officeDocument/2006/relationships/slide" Target="/ppt/slides/slide8.xml" Id="R71bd871570794bf6" /><Relationship Type="http://schemas.openxmlformats.org/officeDocument/2006/relationships/slide" Target="/ppt/slides/slide9.xml" Id="R37dcbe1b3c034f8d" /><Relationship Type="http://schemas.openxmlformats.org/officeDocument/2006/relationships/slide" Target="/ppt/slides/slide10.xml" Id="Ra823cb41016c4e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77677eb0f34f4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05308f4fbe43e1" /><Relationship Type="http://schemas.openxmlformats.org/officeDocument/2006/relationships/notesMaster" Target="/ppt/notesMasters/notesMaster1.xml" Id="R11c42f43b3c24d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2c490f61da440f1" /><Relationship Type="http://schemas.openxmlformats.org/officeDocument/2006/relationships/notesMaster" Target="/ppt/notesMasters/notesMaster1.xml" Id="R5acd5e54ff2045d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756dfd53654b14" /><Relationship Type="http://schemas.openxmlformats.org/officeDocument/2006/relationships/notesMaster" Target="/ppt/notesMasters/notesMaster1.xml" Id="R77522f21c0aa4ebf" /></Relationships>
</file>

<file path=ppt/notesSlides/_rels/notesSlide4.xml.rels>&#65279;<?xml version="1.0" encoding="utf-8"?><Relationships xmlns="http://schemas.openxmlformats.org/package/2006/relationships"><Relationship Type="http://schemas.openxmlformats.org/officeDocument/2006/relationships/slide" Target="/ppt/slides/slide4.xml" Id="R7a842af1b41e480c" /><Relationship Type="http://schemas.openxmlformats.org/officeDocument/2006/relationships/notesMaster" Target="/ppt/notesMasters/notesMaster1.xml" Id="Ra2d688760abe4612" /></Relationships>
</file>

<file path=ppt/notesSlides/_rels/notesSlide5.xml.rels>&#65279;<?xml version="1.0" encoding="utf-8"?><Relationships xmlns="http://schemas.openxmlformats.org/package/2006/relationships"><Relationship Type="http://schemas.openxmlformats.org/officeDocument/2006/relationships/slide" Target="/ppt/slides/slide5.xml" Id="Reb8964637c9247ff" /><Relationship Type="http://schemas.openxmlformats.org/officeDocument/2006/relationships/notesMaster" Target="/ppt/notesMasters/notesMaster1.xml" Id="Ree549b307d8c4032"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fa2bc013c84db8" /><Relationship Type="http://schemas.openxmlformats.org/officeDocument/2006/relationships/notesMaster" Target="/ppt/notesMasters/notesMaster1.xml" Id="R119af559f6cf4c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61ff677edc9548a9" /><Relationship Type="http://schemas.openxmlformats.org/officeDocument/2006/relationships/notesMaster" Target="/ppt/notesMasters/notesMaster1.xml" Id="R89fd9ddc44a04cee"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3cca10b935476b" /><Relationship Type="http://schemas.openxmlformats.org/officeDocument/2006/relationships/notesMaster" Target="/ppt/notesMasters/notesMaster1.xml" Id="Rf8886368f68043d6" /></Relationships>
</file>

<file path=ppt/notesSlides/_rels/notesSlide9.xml.rels>&#65279;<?xml version="1.0" encoding="utf-8"?><Relationships xmlns="http://schemas.openxmlformats.org/package/2006/relationships"><Relationship Type="http://schemas.openxmlformats.org/officeDocument/2006/relationships/slide" Target="/ppt/slides/slide9.xml" Id="R6279bef4f3754c83" /><Relationship Type="http://schemas.openxmlformats.org/officeDocument/2006/relationships/notesMaster" Target="/ppt/notesMasters/notesMaster1.xml" Id="R5dc178b84a77433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a315f27efc40e9" /><Relationship Type="http://schemas.openxmlformats.org/officeDocument/2006/relationships/notesMaster" Target="/ppt/notesMasters/notesMaster1.xml" Id="Rc6576d262d5443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explains the committed internal scenario run. It is not a public forecast.</a:t>
            </a:r>
          </a:p>
          <a:p xmlns:a="http://schemas.openxmlformats.org/drawingml/2006/main">
            <a:r>
              <a:t>Sources: outputs/results_brazil.md; outputs/runs/summary_percentiles.csv; outputs/runs/run_metadata.json; outputs/backtest.md; config/scenarios.yaml.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Backtest details: outputs/backtest.md. D2 proposes but does not approve the 5 pp debt and 0.5 pp/year growth tolerances.</a:t>
            </a:r>
          </a:p>
          <a:p xmlns:a="http://schemas.openxmlformats.org/drawingml/2006/main">
            <a:r>
              <a:t>Sources: outputs/results_brazil.md; outputs/runs/summary_percentiles.csv; outputs/runs/run_metadata.json; outputs/backtest.md; config/scenarios.yaml.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Scenario definitions are in config/scenarios.yaml and outputs/results_brazil.md.</a:t>
            </a:r>
          </a:p>
          <a:p xmlns:a="http://schemas.openxmlformats.org/drawingml/2006/main">
            <a:r>
              <a:t>Sources: outputs/results_brazil.md; outputs/runs/summary_percentiles.csv; outputs/runs/run_metadata.json; outputs/backtest.md; config/scenarios.yaml.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Reduction paths are measured against S0. R_amb 20y was reduced from 8 to 7 pp after conservative precedent calibration. config/scenarios.yaml.</a:t>
            </a:r>
          </a:p>
          <a:p xmlns:a="http://schemas.openxmlformats.org/drawingml/2006/main">
            <a:r>
              <a:t>Sources: outputs/results_brazil.md; outputs/runs/summary_percentiles.csv; outputs/runs/run_metadata.json; outputs/backtest.md; config/scenarios.yaml.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gini_change_vs_s0_points rows from the default composition, persistent, 20-year run. R_mod +0.192 [0.042,1.103]; R_amb +0.497 [0.231,2.405]; R_max +0.727 [0.405,3.270]. S1 distributional C3 result is not modeled.</a:t>
            </a:r>
          </a:p>
          <a:p xmlns:a="http://schemas.openxmlformats.org/drawingml/2006/main">
            <a:r>
              <a:t>Sources: outputs/results_brazil.md; outputs/runs/summary_percentiles.csv; outputs/runs/run_metadata.json; outputs/backtest.md; config/scenarios.yaml.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causal claim beyond the model is warranted. C3 has default-composition outputs only; see results status and summary CSV.</a:t>
            </a:r>
          </a:p>
          <a:p xmlns:a="http://schemas.openxmlformats.org/drawingml/2006/main">
            <a:r>
              <a:t>Sources: outputs/results_brazil.md; outputs/runs/summary_percentiles.csv; outputs/runs/run_metadata.json; outputs/backtest.md; config/scenarios.yaml.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Units are taken from summary_percentiles.csv. Always verify the exact indicator label and unit before interpreting a sign.</a:t>
            </a:r>
          </a:p>
          <a:p xmlns:a="http://schemas.openxmlformats.org/drawingml/2006/main">
            <a:r>
              <a:t>Sources: outputs/results_brazil.md; outputs/runs/summary_percentiles.csv; outputs/runs/run_metadata.json; outputs/backtest.md; config/scenarios.yaml.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metadata: 1,000 draws, seed 20261020. Parameters sampled independently; persistence separated, not sampled.</a:t>
            </a:r>
          </a:p>
          <a:p xmlns:a="http://schemas.openxmlformats.org/drawingml/2006/main">
            <a:r>
              <a:t>Sources: outputs/results_brazil.md; outputs/runs/summary_percentiles.csv; outputs/runs/run_metadata.json; outputs/backtest.md; config/scenarios.yaml.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Persistence definitions in config/parameters.yaml, multiplier_persistence. Composition definitions in config/scenarios.yaml.</a:t>
            </a:r>
          </a:p>
          <a:p xmlns:a="http://schemas.openxmlformats.org/drawingml/2006/main">
            <a:r>
              <a:t>Sources: outputs/results_brazil.md; outputs/runs/summary_percentiles.csv; outputs/runs/run_metadata.json; outputs/backtest.md; config/scenarios.yaml.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D2 diagnostics: outputs/backtest.md. Results run: seed 20261020; created 2026-10-21. Internal use only.</a:t>
            </a:r>
          </a:p>
          <a:p xmlns:a="http://schemas.openxmlformats.org/drawingml/2006/main">
            <a:r>
              <a:t>Sources: outputs/results_brazil.md; outputs/runs/summary_percentiles.csv; outputs/runs/run_metadata.json; outputs/backtest.md; config/scenarios.yaml.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ebc7b0d54e4e8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5212d74d9824ef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0cef68d9e334bc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030126c7a164e1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14580dc1a0a4dc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395d607dd9f44a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5B1015-C124-4722-A765-8063CFBA489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32C7E87-111E-4729-A2CC-E859550DB84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DB9CCCF-6A95-4AAA-BE9B-2CCBB61751E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D75A258-1679-4460-BA60-16B8834934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A8A7E3F-8FA5-410F-8A69-3AFCD966AF0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ABFD087-4FB7-4FE0-B484-68AC2E2281D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BEEECD8-A416-4BFE-95EF-C8B0A5C6543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5864510-B051-4C68-AED9-60A432F0E7F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269EFF4-9D3F-4C30-BF0A-881D01D30D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EFC1E7C-E579-4110-AE13-90173B8377C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2e4493e80064738" /><Relationship Type="http://schemas.openxmlformats.org/officeDocument/2006/relationships/slideLayout" Target="/ppt/slideLayouts/slideLayout1.xml" Id="Rff080e5bb7634e54" /><Relationship Type="http://schemas.openxmlformats.org/officeDocument/2006/relationships/slideLayout" Target="/ppt/slideLayouts/slideLayout2.xml" Id="R743a59fcf6334550" /><Relationship Type="http://schemas.openxmlformats.org/officeDocument/2006/relationships/slideLayout" Target="/ppt/slideLayouts/slideLayout3.xml" Id="Rd464739a4fcf4602" /><Relationship Type="http://schemas.openxmlformats.org/officeDocument/2006/relationships/slideLayout" Target="/ppt/slideLayouts/slideLayout4.xml" Id="R703b8003e5d644a9" /><Relationship Type="http://schemas.openxmlformats.org/officeDocument/2006/relationships/slideLayout" Target="/ppt/slideLayouts/slideLayout5.xml" Id="R6df9b21bca6b45b4" /><Relationship Type="http://schemas.openxmlformats.org/officeDocument/2006/relationships/slideLayout" Target="/ppt/slideLayouts/slideLayout6.xml" Id="Rfc8e66e564f340b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080e5bb7634e54"/>
    <p:sldLayoutId xmlns:r="http://schemas.openxmlformats.org/officeDocument/2006/relationships" id="2147483650" r:id="R743a59fcf6334550"/>
    <p:sldLayoutId xmlns:r="http://schemas.openxmlformats.org/officeDocument/2006/relationships" id="2147483651" r:id="Rd464739a4fcf4602"/>
    <p:sldLayoutId xmlns:r="http://schemas.openxmlformats.org/officeDocument/2006/relationships" id="2147483652" r:id="R703b8003e5d644a9"/>
    <p:sldLayoutId xmlns:r="http://schemas.openxmlformats.org/officeDocument/2006/relationships" id="2147483653" r:id="R6df9b21bca6b45b4"/>
    <p:sldLayoutId xmlns:r="http://schemas.openxmlformats.org/officeDocument/2006/relationships" id="2147483654" r:id="Rfc8e66e564f340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5b42e08943b4521" /><Relationship Type="http://schemas.openxmlformats.org/officeDocument/2006/relationships/notesSlide" Target="/ppt/notesSlides/notesSlide1.xml" Id="R9c3ea70de1e9421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613d3b22b2c4220" /><Relationship Type="http://schemas.openxmlformats.org/officeDocument/2006/relationships/notesSlide" Target="/ppt/notesSlides/notesSlide2.xml" Id="Rd69a51ffb7754c1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9cc3501f12143ab" /><Relationship Type="http://schemas.openxmlformats.org/officeDocument/2006/relationships/notesSlide" Target="/ppt/notesSlides/notesSlide3.xml" Id="R738b8357897a4c7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15315d3264249f3" /><Relationship Type="http://schemas.openxmlformats.org/officeDocument/2006/relationships/notesSlide" Target="/ppt/notesSlides/notesSlide4.xml" Id="R000b123f562d40b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f4fc0b3a52b4d0e" /><Relationship Type="http://schemas.openxmlformats.org/officeDocument/2006/relationships/notesSlide" Target="/ppt/notesSlides/notesSlide5.xml" Id="R01456b742fc74d5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83be17dc6e34748" /><Relationship Type="http://schemas.openxmlformats.org/officeDocument/2006/relationships/notesSlide" Target="/ppt/notesSlides/notesSlide6.xml" Id="Rbc13d010e6f8455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541591a093e4071" /><Relationship Type="http://schemas.openxmlformats.org/officeDocument/2006/relationships/notesSlide" Target="/ppt/notesSlides/notesSlide7.xml" Id="R99e4a566d96d4fe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a7aec2b8d504670" /><Relationship Type="http://schemas.openxmlformats.org/officeDocument/2006/relationships/notesSlide" Target="/ppt/notesSlides/notesSlide8.xml" Id="Rab5d2eb22de340e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b4f396e5bcb4510" /><Relationship Type="http://schemas.openxmlformats.org/officeDocument/2006/relationships/notesSlide" Target="/ppt/notesSlides/notesSlide9.xml" Id="R78c06b5e81634de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5312988bc514d4c" /><Relationship Type="http://schemas.openxmlformats.org/officeDocument/2006/relationships/notesSlide" Target="/ppt/notesSlides/notesSlide10.xml" Id="R1e566cb2fd87440a" /></Relationships>
</file>

<file path=ppt/slides/slide1.xml><?xml version="1.0" encoding="utf-8"?>
<p:sld xmlns:p="http://schemas.openxmlformats.org/presentationml/2006/main">
  <p:cSld>
    <p:bg>
      <p:bgPr>
        <a:solidFill xmlns:a="http://schemas.openxmlformats.org/drawingml/2006/main">
          <a:srgbClr val="1733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9AF2DA8-91C6-4032-B0CA-9789A2938853}"/>
              </a:ext>
            </a:extLst>
          </p:cNvPr>
          <p:cNvSpPr>
            <a:spLocks xmlns:a="http://schemas.openxmlformats.org/drawingml/2006/main" noGrp="1"/>
          </p:cNvSpPr>
          <p:nvPr/>
        </p:nvSpPr>
        <p:spPr>
          <a:xfrm xmlns:a="http://schemas.openxmlformats.org/drawingml/2006/main">
            <a:off x="723900" y="7239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8ED4D0"/>
                </a:solidFill>
              </a:defRPr>
            </a:defPPr>
            <a:lvl1pPr>
              <a:defRPr sz="1125" b="1">
                <a:solidFill>
                  <a:srgbClr val="8ED4D0"/>
                </a:solidFill>
              </a:defRPr>
            </a:lvl1pPr>
            <a:lvl2pPr>
              <a:defRPr sz="1125" b="1">
                <a:solidFill>
                  <a:srgbClr val="8ED4D0"/>
                </a:solidFill>
              </a:defRPr>
            </a:lvl2pPr>
            <a:lvl3pPr>
              <a:defRPr sz="1125" b="1">
                <a:solidFill>
                  <a:srgbClr val="8ED4D0"/>
                </a:solidFill>
              </a:defRPr>
            </a:lvl3pPr>
            <a:lvl4pPr>
              <a:defRPr sz="1125" b="1">
                <a:solidFill>
                  <a:srgbClr val="8ED4D0"/>
                </a:solidFill>
              </a:defRPr>
            </a:lvl4pPr>
            <a:lvl5pPr>
              <a:defRPr sz="1125" b="1">
                <a:solidFill>
                  <a:srgbClr val="8ED4D0"/>
                </a:solidFill>
              </a:defRPr>
            </a:lvl5pPr>
            <a:lvl6pPr>
              <a:defRPr sz="1125" b="1">
                <a:solidFill>
                  <a:srgbClr val="8ED4D0"/>
                </a:solidFill>
              </a:defRPr>
            </a:lvl6pPr>
            <a:lvl7pPr>
              <a:defRPr sz="1125" b="1">
                <a:solidFill>
                  <a:srgbClr val="8ED4D0"/>
                </a:solidFill>
              </a:defRPr>
            </a:lvl7pPr>
            <a:lvl8pPr>
              <a:defRPr sz="1125" b="1">
                <a:solidFill>
                  <a:srgbClr val="8ED4D0"/>
                </a:solidFill>
              </a:defRPr>
            </a:lvl8pPr>
            <a:lvl9pPr>
              <a:defRPr sz="1125" b="1">
                <a:solidFill>
                  <a:srgbClr val="8ED4D0"/>
                </a:solidFill>
              </a:defRPr>
            </a:lvl9pPr>
          </a:lstStyle>
          <a:p xmlns:a="http://schemas.openxmlformats.org/drawingml/2006/main">
            <a:pPr>
              <a:defRPr sz="1125" b="1">
                <a:solidFill>
                  <a:srgbClr val="8ED4D0"/>
                </a:solidFill>
              </a:defRPr>
            </a:pPr>
            <a:r>
              <a:rPr sz="1125" b="1">
                <a:solidFill>
                  <a:srgbClr val="8ED4D0"/>
                </a:solidFill>
              </a:rPr>
              <a:t>BRAZIL · POLICY SCENARIOS</a:t>
            </a:r>
          </a:p>
        </p:txBody>
      </p:sp>
      <p:sp>
        <p:nvSpPr>
          <p:cNvPr id="2" name="">
            <a:extLst xmlns:a="http://schemas.openxmlformats.org/drawingml/2006/main">
              <a:ext uri="{FF2B5EF4-FFF2-40B4-BE49-F238E27FC236}">
                <a16:creationId xmlns:a16="http://schemas.microsoft.com/office/drawing/2014/main" id="{B66B88FB-AAFC-4285-972A-25EB6447FF32}"/>
              </a:ext>
            </a:extLst>
          </p:cNvPr>
          <p:cNvSpPr>
            <a:spLocks xmlns:a="http://schemas.openxmlformats.org/drawingml/2006/main" noGrp="1"/>
          </p:cNvSpPr>
          <p:nvPr/>
        </p:nvSpPr>
        <p:spPr>
          <a:xfrm xmlns:a="http://schemas.openxmlformats.org/drawingml/2006/main">
            <a:off x="723900" y="1466850"/>
            <a:ext cx="8382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FFFFFF"/>
                </a:solidFill>
              </a:defRPr>
            </a:defPPr>
            <a:lvl1pPr>
              <a:defRPr sz="3750" b="1">
                <a:solidFill>
                  <a:srgbClr val="FFFFFF"/>
                </a:solidFill>
              </a:defRPr>
            </a:lvl1pPr>
            <a:lvl2pPr>
              <a:defRPr sz="3750" b="1">
                <a:solidFill>
                  <a:srgbClr val="FFFFFF"/>
                </a:solidFill>
              </a:defRPr>
            </a:lvl2pPr>
            <a:lvl3pPr>
              <a:defRPr sz="3750" b="1">
                <a:solidFill>
                  <a:srgbClr val="FFFFFF"/>
                </a:solidFill>
              </a:defRPr>
            </a:lvl3pPr>
            <a:lvl4pPr>
              <a:defRPr sz="3750" b="1">
                <a:solidFill>
                  <a:srgbClr val="FFFFFF"/>
                </a:solidFill>
              </a:defRPr>
            </a:lvl4pPr>
            <a:lvl5pPr>
              <a:defRPr sz="3750" b="1">
                <a:solidFill>
                  <a:srgbClr val="FFFFFF"/>
                </a:solidFill>
              </a:defRPr>
            </a:lvl5pPr>
            <a:lvl6pPr>
              <a:defRPr sz="3750" b="1">
                <a:solidFill>
                  <a:srgbClr val="FFFFFF"/>
                </a:solidFill>
              </a:defRPr>
            </a:lvl6pPr>
            <a:lvl7pPr>
              <a:defRPr sz="3750" b="1">
                <a:solidFill>
                  <a:srgbClr val="FFFFFF"/>
                </a:solidFill>
              </a:defRPr>
            </a:lvl7pPr>
            <a:lvl8pPr>
              <a:defRPr sz="3750" b="1">
                <a:solidFill>
                  <a:srgbClr val="FFFFFF"/>
                </a:solidFill>
              </a:defRPr>
            </a:lvl8pPr>
            <a:lvl9pPr>
              <a:defRPr sz="3750" b="1">
                <a:solidFill>
                  <a:srgbClr val="FFFFFF"/>
                </a:solidFill>
              </a:defRPr>
            </a:lvl9pPr>
          </a:lstStyle>
          <a:p xmlns:a="http://schemas.openxmlformats.org/drawingml/2006/main">
            <a:pPr>
              <a:defRPr sz="3750" b="1">
                <a:solidFill>
                  <a:srgbClr val="FFFFFF"/>
                </a:solidFill>
              </a:defRPr>
            </a:pPr>
            <a:r>
              <a:rPr sz="3750" b="1">
                <a:solidFill>
                  <a:srgbClr val="FFFFFF"/>
                </a:solidFill>
              </a:rPr>
              <a:t>How to read the results</a:t>
            </a:r>
          </a:p>
        </p:txBody>
      </p:sp>
      <p:sp>
        <p:nvSpPr>
          <p:cNvPr id="3" name="">
            <a:extLst xmlns:a="http://schemas.openxmlformats.org/drawingml/2006/main">
              <a:ext uri="{FF2B5EF4-FFF2-40B4-BE49-F238E27FC236}">
                <a16:creationId xmlns:a16="http://schemas.microsoft.com/office/drawing/2014/main" id="{2FE07381-4C78-48A0-B852-1ACD265DBA5D}"/>
              </a:ext>
            </a:extLst>
          </p:cNvPr>
          <p:cNvSpPr>
            <a:spLocks xmlns:a="http://schemas.openxmlformats.org/drawingml/2006/main" noGrp="1"/>
          </p:cNvSpPr>
          <p:nvPr/>
        </p:nvSpPr>
        <p:spPr>
          <a:xfrm xmlns:a="http://schemas.openxmlformats.org/drawingml/2006/main">
            <a:off x="742950" y="2590800"/>
            <a:ext cx="8382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D5E1E5"/>
                </a:solidFill>
              </a:defRPr>
            </a:defPPr>
            <a:lvl1pPr>
              <a:defRPr sz="1875" b="0">
                <a:solidFill>
                  <a:srgbClr val="D5E1E5"/>
                </a:solidFill>
              </a:defRPr>
            </a:lvl1pPr>
            <a:lvl2pPr>
              <a:defRPr sz="1875" b="0">
                <a:solidFill>
                  <a:srgbClr val="D5E1E5"/>
                </a:solidFill>
              </a:defRPr>
            </a:lvl2pPr>
            <a:lvl3pPr>
              <a:defRPr sz="1875" b="0">
                <a:solidFill>
                  <a:srgbClr val="D5E1E5"/>
                </a:solidFill>
              </a:defRPr>
            </a:lvl3pPr>
            <a:lvl4pPr>
              <a:defRPr sz="1875" b="0">
                <a:solidFill>
                  <a:srgbClr val="D5E1E5"/>
                </a:solidFill>
              </a:defRPr>
            </a:lvl4pPr>
            <a:lvl5pPr>
              <a:defRPr sz="1875" b="0">
                <a:solidFill>
                  <a:srgbClr val="D5E1E5"/>
                </a:solidFill>
              </a:defRPr>
            </a:lvl5pPr>
            <a:lvl6pPr>
              <a:defRPr sz="1875" b="0">
                <a:solidFill>
                  <a:srgbClr val="D5E1E5"/>
                </a:solidFill>
              </a:defRPr>
            </a:lvl6pPr>
            <a:lvl7pPr>
              <a:defRPr sz="1875" b="0">
                <a:solidFill>
                  <a:srgbClr val="D5E1E5"/>
                </a:solidFill>
              </a:defRPr>
            </a:lvl7pPr>
            <a:lvl8pPr>
              <a:defRPr sz="1875" b="0">
                <a:solidFill>
                  <a:srgbClr val="D5E1E5"/>
                </a:solidFill>
              </a:defRPr>
            </a:lvl8pPr>
            <a:lvl9pPr>
              <a:defRPr sz="1875" b="0">
                <a:solidFill>
                  <a:srgbClr val="D5E1E5"/>
                </a:solidFill>
              </a:defRPr>
            </a:lvl9pPr>
          </a:lstStyle>
          <a:p xmlns:a="http://schemas.openxmlformats.org/drawingml/2006/main">
            <a:pPr>
              <a:defRPr sz="1875" b="0">
                <a:solidFill>
                  <a:srgbClr val="D5E1E5"/>
                </a:solidFill>
              </a:defRPr>
            </a:pPr>
            <a:r>
              <a:rPr sz="1875" b="0">
                <a:solidFill>
                  <a:srgbClr val="D5E1E5"/>
                </a:solidFill>
              </a:rPr>
              <a:t>A guide to the baseline, scenario paths, indicators, and what the model can—and cannot—say</a:t>
            </a:r>
          </a:p>
        </p:txBody>
      </p:sp>
      <p:sp>
        <p:nvSpPr>
          <p:cNvPr id="4" name="">
            <a:extLst xmlns:a="http://schemas.openxmlformats.org/drawingml/2006/main">
              <a:ext uri="{FF2B5EF4-FFF2-40B4-BE49-F238E27FC236}">
                <a16:creationId xmlns:a16="http://schemas.microsoft.com/office/drawing/2014/main" id="{60F52F46-776E-4C00-B165-0B3E06C455FC}"/>
              </a:ext>
            </a:extLst>
          </p:cNvPr>
          <p:cNvSpPr>
            <a:spLocks xmlns:a="http://schemas.openxmlformats.org/drawingml/2006/main" noGrp="1"/>
          </p:cNvSpPr>
          <p:nvPr/>
        </p:nvSpPr>
        <p:spPr>
          <a:xfrm xmlns:a="http://schemas.openxmlformats.org/drawingml/2006/main">
            <a:off x="742950" y="4000500"/>
            <a:ext cx="4686300" cy="990600"/>
          </a:xfrm>
          <a:prstGeom xmlns:a="http://schemas.openxmlformats.org/drawingml/2006/main" prst="roundRect">
            <a:avLst>
              <a:gd name="adj" fmla="val 11538"/>
            </a:avLst>
          </a:prstGeom>
          <a:solidFill xmlns:a="http://schemas.openxmlformats.org/drawingml/2006/main">
            <a:srgbClr val="244759"/>
          </a:solidFill>
          <a:ln xmlns:a="http://schemas.openxmlformats.org/drawingml/2006/main" w="9525">
            <a:solidFill>
              <a:srgbClr val="244759"/>
            </a:solidFill>
            <a:prstDash val="solid"/>
          </a:ln>
        </p:spPr>
      </p:sp>
      <p:sp>
        <p:nvSpPr>
          <p:cNvPr id="5" name="">
            <a:extLst xmlns:a="http://schemas.openxmlformats.org/drawingml/2006/main">
              <a:ext uri="{FF2B5EF4-FFF2-40B4-BE49-F238E27FC236}">
                <a16:creationId xmlns:a16="http://schemas.microsoft.com/office/drawing/2014/main" id="{9A89512D-67FF-4454-9D6B-FD09E16A9ADA}"/>
              </a:ext>
            </a:extLst>
          </p:cNvPr>
          <p:cNvSpPr>
            <a:spLocks xmlns:a="http://schemas.openxmlformats.org/drawingml/2006/main" noGrp="1"/>
          </p:cNvSpPr>
          <p:nvPr/>
        </p:nvSpPr>
        <p:spPr>
          <a:xfrm xmlns:a="http://schemas.openxmlformats.org/drawingml/2006/main">
            <a:off x="971550" y="4314825"/>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FFFFFF"/>
                </a:solidFill>
              </a:defRPr>
            </a:defPPr>
            <a:lvl1pPr>
              <a:defRPr sz="1275" b="1">
                <a:solidFill>
                  <a:srgbClr val="FFFFFF"/>
                </a:solidFill>
              </a:defRPr>
            </a:lvl1pPr>
            <a:lvl2pPr>
              <a:defRPr sz="1275" b="1">
                <a:solidFill>
                  <a:srgbClr val="FFFFFF"/>
                </a:solidFill>
              </a:defRPr>
            </a:lvl2pPr>
            <a:lvl3pPr>
              <a:defRPr sz="1275" b="1">
                <a:solidFill>
                  <a:srgbClr val="FFFFFF"/>
                </a:solidFill>
              </a:defRPr>
            </a:lvl3pPr>
            <a:lvl4pPr>
              <a:defRPr sz="1275" b="1">
                <a:solidFill>
                  <a:srgbClr val="FFFFFF"/>
                </a:solidFill>
              </a:defRPr>
            </a:lvl4pPr>
            <a:lvl5pPr>
              <a:defRPr sz="1275" b="1">
                <a:solidFill>
                  <a:srgbClr val="FFFFFF"/>
                </a:solidFill>
              </a:defRPr>
            </a:lvl5pPr>
            <a:lvl6pPr>
              <a:defRPr sz="1275" b="1">
                <a:solidFill>
                  <a:srgbClr val="FFFFFF"/>
                </a:solidFill>
              </a:defRPr>
            </a:lvl6pPr>
            <a:lvl7pPr>
              <a:defRPr sz="1275" b="1">
                <a:solidFill>
                  <a:srgbClr val="FFFFFF"/>
                </a:solidFill>
              </a:defRPr>
            </a:lvl7pPr>
            <a:lvl8pPr>
              <a:defRPr sz="1275" b="1">
                <a:solidFill>
                  <a:srgbClr val="FFFFFF"/>
                </a:solidFill>
              </a:defRPr>
            </a:lvl8pPr>
            <a:lvl9pPr>
              <a:defRPr sz="1275" b="1">
                <a:solidFill>
                  <a:srgbClr val="FFFFFF"/>
                </a:solidFill>
              </a:defRPr>
            </a:lvl9pPr>
          </a:lstStyle>
          <a:p xmlns:a="http://schemas.openxmlformats.org/drawingml/2006/main">
            <a:pPr>
              <a:defRPr sz="1275" b="1">
                <a:solidFill>
                  <a:srgbClr val="FFFFFF"/>
                </a:solidFill>
              </a:defRPr>
            </a:pPr>
            <a:r>
              <a:rPr sz="1275" b="1">
                <a:solidFill>
                  <a:srgbClr val="FFFFFF"/>
                </a:solidFill>
              </a:rPr>
              <a:t>Internal review · 1,000 parameter draws · 2025 base year</a:t>
            </a:r>
          </a:p>
        </p:txBody>
      </p:sp>
      <p:sp>
        <p:nvSpPr>
          <p:cNvPr id="6" name="">
            <a:extLst xmlns:a="http://schemas.openxmlformats.org/drawingml/2006/main">
              <a:ext uri="{FF2B5EF4-FFF2-40B4-BE49-F238E27FC236}">
                <a16:creationId xmlns:a16="http://schemas.microsoft.com/office/drawing/2014/main" id="{AD7435A2-1767-4D8F-A4C0-31CB852163C6}"/>
              </a:ext>
            </a:extLst>
          </p:cNvPr>
          <p:cNvSpPr>
            <a:spLocks xmlns:a="http://schemas.openxmlformats.org/drawingml/2006/main" noGrp="1"/>
          </p:cNvSpPr>
          <p:nvPr/>
        </p:nvSpPr>
        <p:spPr>
          <a:xfrm xmlns:a="http://schemas.openxmlformats.org/drawingml/2006/main">
            <a:off x="742950" y="57340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F0B9A5"/>
                </a:solidFill>
              </a:defRPr>
            </a:defPPr>
            <a:lvl1pPr>
              <a:defRPr sz="1350" b="1">
                <a:solidFill>
                  <a:srgbClr val="F0B9A5"/>
                </a:solidFill>
              </a:defRPr>
            </a:lvl1pPr>
            <a:lvl2pPr>
              <a:defRPr sz="1350" b="1">
                <a:solidFill>
                  <a:srgbClr val="F0B9A5"/>
                </a:solidFill>
              </a:defRPr>
            </a:lvl2pPr>
            <a:lvl3pPr>
              <a:defRPr sz="1350" b="1">
                <a:solidFill>
                  <a:srgbClr val="F0B9A5"/>
                </a:solidFill>
              </a:defRPr>
            </a:lvl3pPr>
            <a:lvl4pPr>
              <a:defRPr sz="1350" b="1">
                <a:solidFill>
                  <a:srgbClr val="F0B9A5"/>
                </a:solidFill>
              </a:defRPr>
            </a:lvl4pPr>
            <a:lvl5pPr>
              <a:defRPr sz="1350" b="1">
                <a:solidFill>
                  <a:srgbClr val="F0B9A5"/>
                </a:solidFill>
              </a:defRPr>
            </a:lvl5pPr>
            <a:lvl6pPr>
              <a:defRPr sz="1350" b="1">
                <a:solidFill>
                  <a:srgbClr val="F0B9A5"/>
                </a:solidFill>
              </a:defRPr>
            </a:lvl6pPr>
            <a:lvl7pPr>
              <a:defRPr sz="1350" b="1">
                <a:solidFill>
                  <a:srgbClr val="F0B9A5"/>
                </a:solidFill>
              </a:defRPr>
            </a:lvl7pPr>
            <a:lvl8pPr>
              <a:defRPr sz="1350" b="1">
                <a:solidFill>
                  <a:srgbClr val="F0B9A5"/>
                </a:solidFill>
              </a:defRPr>
            </a:lvl8pPr>
            <a:lvl9pPr>
              <a:defRPr sz="1350" b="1">
                <a:solidFill>
                  <a:srgbClr val="F0B9A5"/>
                </a:solidFill>
              </a:defRPr>
            </a:lvl9pPr>
          </a:lstStyle>
          <a:p xmlns:a="http://schemas.openxmlformats.org/drawingml/2006/main">
            <a:pPr>
              <a:defRPr sz="1350" b="1">
                <a:solidFill>
                  <a:srgbClr val="F0B9A5"/>
                </a:solidFill>
              </a:defRPr>
            </a:pPr>
            <a:r>
              <a:rPr sz="1350" b="1">
                <a:solidFill>
                  <a:srgbClr val="F0B9A5"/>
                </a:solidFill>
              </a:rPr>
              <a:t>D2 validation gate: FAIL</a:t>
            </a:r>
          </a:p>
        </p:txBody>
      </p:sp>
    </p:spTree>
    <p:extLst>
      <p:ext uri="{BB962C8B-B14F-4D97-AF65-F5344CB8AC3E}">
        <p14:creationId xmlns:p14="http://schemas.microsoft.com/office/powerpoint/2010/main" val="984681727"/>
      </p:ext>
    </p:extLst>
  </p:cSld>
</p:sld>
</file>

<file path=ppt/slides/slide2.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8589B98-9546-4A6F-B159-A3E561763F27}"/>
              </a:ext>
            </a:extLst>
          </p:cNvPr>
          <p:cNvSpPr>
            <a:spLocks xmlns:a="http://schemas.openxmlformats.org/drawingml/2006/main" noGrp="1"/>
          </p:cNvSpPr>
          <p:nvPr/>
        </p:nvSpPr>
        <p:spPr>
          <a:xfrm xmlns:a="http://schemas.openxmlformats.org/drawingml/2006/main">
            <a:off x="647700" y="3238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168184"/>
                </a:solidFill>
              </a:defRPr>
            </a:defPPr>
            <a:lvl1pPr>
              <a:defRPr sz="975" b="1">
                <a:solidFill>
                  <a:srgbClr val="168184"/>
                </a:solidFill>
              </a:defRPr>
            </a:lvl1pPr>
            <a:lvl2pPr>
              <a:defRPr sz="975" b="1">
                <a:solidFill>
                  <a:srgbClr val="168184"/>
                </a:solidFill>
              </a:defRPr>
            </a:lvl2pPr>
            <a:lvl3pPr>
              <a:defRPr sz="975" b="1">
                <a:solidFill>
                  <a:srgbClr val="168184"/>
                </a:solidFill>
              </a:defRPr>
            </a:lvl3pPr>
            <a:lvl4pPr>
              <a:defRPr sz="975" b="1">
                <a:solidFill>
                  <a:srgbClr val="168184"/>
                </a:solidFill>
              </a:defRPr>
            </a:lvl4pPr>
            <a:lvl5pPr>
              <a:defRPr sz="975" b="1">
                <a:solidFill>
                  <a:srgbClr val="168184"/>
                </a:solidFill>
              </a:defRPr>
            </a:lvl5pPr>
            <a:lvl6pPr>
              <a:defRPr sz="975" b="1">
                <a:solidFill>
                  <a:srgbClr val="168184"/>
                </a:solidFill>
              </a:defRPr>
            </a:lvl6pPr>
            <a:lvl7pPr>
              <a:defRPr sz="975" b="1">
                <a:solidFill>
                  <a:srgbClr val="168184"/>
                </a:solidFill>
              </a:defRPr>
            </a:lvl7pPr>
            <a:lvl8pPr>
              <a:defRPr sz="975" b="1">
                <a:solidFill>
                  <a:srgbClr val="168184"/>
                </a:solidFill>
              </a:defRPr>
            </a:lvl8pPr>
            <a:lvl9pPr>
              <a:defRPr sz="975" b="1">
                <a:solidFill>
                  <a:srgbClr val="168184"/>
                </a:solidFill>
              </a:defRPr>
            </a:lvl9pPr>
          </a:lstStyle>
          <a:p xmlns:a="http://schemas.openxmlformats.org/drawingml/2006/main">
            <a:pPr>
              <a:defRPr sz="975" b="1">
                <a:solidFill>
                  <a:srgbClr val="168184"/>
                </a:solidFill>
              </a:defRPr>
            </a:pPr>
            <a:r>
              <a:rPr sz="975" b="1">
                <a:solidFill>
                  <a:srgbClr val="168184"/>
                </a:solidFill>
              </a:rPr>
              <a:t>BRAZIL SCENARIO RESULTS</a:t>
            </a:r>
          </a:p>
        </p:txBody>
      </p:sp>
      <p:sp>
        <p:nvSpPr>
          <p:cNvPr id="2" name="">
            <a:extLst xmlns:a="http://schemas.openxmlformats.org/drawingml/2006/main">
              <a:ext uri="{FF2B5EF4-FFF2-40B4-BE49-F238E27FC236}">
                <a16:creationId xmlns:a16="http://schemas.microsoft.com/office/drawing/2014/main" id="{7402FCC3-D06A-40E1-960C-543311E9C339}"/>
              </a:ext>
            </a:extLst>
          </p:cNvPr>
          <p:cNvSpPr>
            <a:spLocks xmlns:a="http://schemas.openxmlformats.org/drawingml/2006/main" noGrp="1"/>
          </p:cNvSpPr>
          <p:nvPr/>
        </p:nvSpPr>
        <p:spPr>
          <a:xfrm xmlns:a="http://schemas.openxmlformats.org/drawingml/2006/main">
            <a:off x="647700" y="6286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173344"/>
                </a:solidFill>
              </a:defRPr>
            </a:defPPr>
            <a:lvl1pPr>
              <a:defRPr sz="2550" b="1">
                <a:solidFill>
                  <a:srgbClr val="173344"/>
                </a:solidFill>
              </a:defRPr>
            </a:lvl1pPr>
            <a:lvl2pPr>
              <a:defRPr sz="2550" b="1">
                <a:solidFill>
                  <a:srgbClr val="173344"/>
                </a:solidFill>
              </a:defRPr>
            </a:lvl2pPr>
            <a:lvl3pPr>
              <a:defRPr sz="2550" b="1">
                <a:solidFill>
                  <a:srgbClr val="173344"/>
                </a:solidFill>
              </a:defRPr>
            </a:lvl3pPr>
            <a:lvl4pPr>
              <a:defRPr sz="2550" b="1">
                <a:solidFill>
                  <a:srgbClr val="173344"/>
                </a:solidFill>
              </a:defRPr>
            </a:lvl4pPr>
            <a:lvl5pPr>
              <a:defRPr sz="2550" b="1">
                <a:solidFill>
                  <a:srgbClr val="173344"/>
                </a:solidFill>
              </a:defRPr>
            </a:lvl5pPr>
            <a:lvl6pPr>
              <a:defRPr sz="2550" b="1">
                <a:solidFill>
                  <a:srgbClr val="173344"/>
                </a:solidFill>
              </a:defRPr>
            </a:lvl6pPr>
            <a:lvl7pPr>
              <a:defRPr sz="2550" b="1">
                <a:solidFill>
                  <a:srgbClr val="173344"/>
                </a:solidFill>
              </a:defRPr>
            </a:lvl7pPr>
            <a:lvl8pPr>
              <a:defRPr sz="2550" b="1">
                <a:solidFill>
                  <a:srgbClr val="173344"/>
                </a:solidFill>
              </a:defRPr>
            </a:lvl8pPr>
            <a:lvl9pPr>
              <a:defRPr sz="2550" b="1">
                <a:solidFill>
                  <a:srgbClr val="173344"/>
                </a:solidFill>
              </a:defRPr>
            </a:lvl9pPr>
          </a:lstStyle>
          <a:p xmlns:a="http://schemas.openxmlformats.org/drawingml/2006/main">
            <a:pPr>
              <a:defRPr sz="2550" b="1">
                <a:solidFill>
                  <a:srgbClr val="173344"/>
                </a:solidFill>
              </a:defRPr>
            </a:pPr>
            <a:r>
              <a:rPr sz="2550" b="1">
                <a:solidFill>
                  <a:srgbClr val="173344"/>
                </a:solidFill>
              </a:rPr>
              <a:t>Start with the validation status</a:t>
            </a:r>
          </a:p>
        </p:txBody>
      </p:sp>
      <p:sp>
        <p:nvSpPr>
          <p:cNvPr id="3" name="">
            <a:extLst xmlns:a="http://schemas.openxmlformats.org/drawingml/2006/main">
              <a:ext uri="{FF2B5EF4-FFF2-40B4-BE49-F238E27FC236}">
                <a16:creationId xmlns:a16="http://schemas.microsoft.com/office/drawing/2014/main" id="{EF300754-0B48-4B82-8972-3F7CD4F21F67}"/>
              </a:ext>
            </a:extLst>
          </p:cNvPr>
          <p:cNvSpPr>
            <a:spLocks xmlns:a="http://schemas.openxmlformats.org/drawingml/2006/main" noGrp="1"/>
          </p:cNvSpPr>
          <p:nvPr/>
        </p:nvSpPr>
        <p:spPr>
          <a:xfrm xmlns:a="http://schemas.openxmlformats.org/drawingml/2006/main">
            <a:off x="647700" y="6477000"/>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0">
                <a:solidFill>
                  <a:srgbClr val="596D78"/>
                </a:solidFill>
              </a:defRPr>
            </a:defPPr>
            <a:lvl1pPr>
              <a:defRPr sz="900" b="0">
                <a:solidFill>
                  <a:srgbClr val="596D78"/>
                </a:solidFill>
              </a:defRPr>
            </a:lvl1pPr>
            <a:lvl2pPr>
              <a:defRPr sz="900" b="0">
                <a:solidFill>
                  <a:srgbClr val="596D78"/>
                </a:solidFill>
              </a:defRPr>
            </a:lvl2pPr>
            <a:lvl3pPr>
              <a:defRPr sz="900" b="0">
                <a:solidFill>
                  <a:srgbClr val="596D78"/>
                </a:solidFill>
              </a:defRPr>
            </a:lvl3pPr>
            <a:lvl4pPr>
              <a:defRPr sz="900" b="0">
                <a:solidFill>
                  <a:srgbClr val="596D78"/>
                </a:solidFill>
              </a:defRPr>
            </a:lvl4pPr>
            <a:lvl5pPr>
              <a:defRPr sz="900" b="0">
                <a:solidFill>
                  <a:srgbClr val="596D78"/>
                </a:solidFill>
              </a:defRPr>
            </a:lvl5pPr>
            <a:lvl6pPr>
              <a:defRPr sz="900" b="0">
                <a:solidFill>
                  <a:srgbClr val="596D78"/>
                </a:solidFill>
              </a:defRPr>
            </a:lvl6pPr>
            <a:lvl7pPr>
              <a:defRPr sz="900" b="0">
                <a:solidFill>
                  <a:srgbClr val="596D78"/>
                </a:solidFill>
              </a:defRPr>
            </a:lvl7pPr>
            <a:lvl8pPr>
              <a:defRPr sz="900" b="0">
                <a:solidFill>
                  <a:srgbClr val="596D78"/>
                </a:solidFill>
              </a:defRPr>
            </a:lvl8pPr>
            <a:lvl9pPr>
              <a:defRPr sz="900" b="0">
                <a:solidFill>
                  <a:srgbClr val="596D78"/>
                </a:solidFill>
              </a:defRPr>
            </a:lvl9pPr>
          </a:lstStyle>
          <a:p xmlns:a="http://schemas.openxmlformats.org/drawingml/2006/main">
            <a:pPr>
              <a:defRPr sz="900" b="0">
                <a:solidFill>
                  <a:srgbClr val="596D78"/>
                </a:solidFill>
              </a:defRPr>
            </a:pPr>
            <a:r>
              <a:rPr sz="900" b="0">
                <a:solidFill>
                  <a:srgbClr val="596D78"/>
                </a:solidFill>
              </a:rPr>
              <a:t>Internal review · D2 validation gate FAIL · 21 Oct 2026</a:t>
            </a:r>
          </a:p>
        </p:txBody>
      </p:sp>
      <p:sp>
        <p:nvSpPr>
          <p:cNvPr id="4" name="">
            <a:extLst xmlns:a="http://schemas.openxmlformats.org/drawingml/2006/main">
              <a:ext uri="{FF2B5EF4-FFF2-40B4-BE49-F238E27FC236}">
                <a16:creationId xmlns:a16="http://schemas.microsoft.com/office/drawing/2014/main" id="{66F4E6FC-A6E8-44E7-8AA3-C8EFF61A42A6}"/>
              </a:ext>
            </a:extLst>
          </p:cNvPr>
          <p:cNvSpPr>
            <a:spLocks xmlns:a="http://schemas.openxmlformats.org/drawingml/2006/main" noGrp="1"/>
          </p:cNvSpPr>
          <p:nvPr/>
        </p:nvSpPr>
        <p:spPr>
          <a:xfrm xmlns:a="http://schemas.openxmlformats.org/drawingml/2006/main">
            <a:off x="647700" y="1571625"/>
            <a:ext cx="5143500" cy="180975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9525">
            <a:solidFill>
              <a:srgbClr val="D9E2E5"/>
            </a:solidFill>
            <a:prstDash val="solid"/>
          </a:ln>
        </p:spPr>
      </p:sp>
      <p:sp>
        <p:nvSpPr>
          <p:cNvPr id="5" name="">
            <a:extLst xmlns:a="http://schemas.openxmlformats.org/drawingml/2006/main">
              <a:ext uri="{FF2B5EF4-FFF2-40B4-BE49-F238E27FC236}">
                <a16:creationId xmlns:a16="http://schemas.microsoft.com/office/drawing/2014/main" id="{CD93146F-7DE2-42CC-9DCA-BEF5C548742E}"/>
              </a:ext>
            </a:extLst>
          </p:cNvPr>
          <p:cNvSpPr>
            <a:spLocks xmlns:a="http://schemas.openxmlformats.org/drawingml/2006/main" noGrp="1"/>
          </p:cNvSpPr>
          <p:nvPr/>
        </p:nvSpPr>
        <p:spPr>
          <a:xfrm xmlns:a="http://schemas.openxmlformats.org/drawingml/2006/main">
            <a:off x="647700" y="1571625"/>
            <a:ext cx="57150" cy="1809750"/>
          </a:xfrm>
          <a:prstGeom xmlns:a="http://schemas.openxmlformats.org/drawingml/2006/main" prst="rect">
            <a:avLst/>
          </a:prstGeom>
          <a:solidFill xmlns:a="http://schemas.openxmlformats.org/drawingml/2006/main">
            <a:srgbClr val="BD5B4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6967C9D-B892-4F89-8E04-EFBEB97E3264}"/>
              </a:ext>
            </a:extLst>
          </p:cNvPr>
          <p:cNvSpPr>
            <a:spLocks xmlns:a="http://schemas.openxmlformats.org/drawingml/2006/main" noGrp="1"/>
          </p:cNvSpPr>
          <p:nvPr/>
        </p:nvSpPr>
        <p:spPr>
          <a:xfrm xmlns:a="http://schemas.openxmlformats.org/drawingml/2006/main">
            <a:off x="857250" y="1743075"/>
            <a:ext cx="4724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173344"/>
                </a:solidFill>
              </a:defRPr>
            </a:defPPr>
            <a:lvl1pPr>
              <a:defRPr sz="1425" b="1">
                <a:solidFill>
                  <a:srgbClr val="173344"/>
                </a:solidFill>
              </a:defRPr>
            </a:lvl1pPr>
            <a:lvl2pPr>
              <a:defRPr sz="1425" b="1">
                <a:solidFill>
                  <a:srgbClr val="173344"/>
                </a:solidFill>
              </a:defRPr>
            </a:lvl2pPr>
            <a:lvl3pPr>
              <a:defRPr sz="1425" b="1">
                <a:solidFill>
                  <a:srgbClr val="173344"/>
                </a:solidFill>
              </a:defRPr>
            </a:lvl3pPr>
            <a:lvl4pPr>
              <a:defRPr sz="1425" b="1">
                <a:solidFill>
                  <a:srgbClr val="173344"/>
                </a:solidFill>
              </a:defRPr>
            </a:lvl4pPr>
            <a:lvl5pPr>
              <a:defRPr sz="1425" b="1">
                <a:solidFill>
                  <a:srgbClr val="173344"/>
                </a:solidFill>
              </a:defRPr>
            </a:lvl5pPr>
            <a:lvl6pPr>
              <a:defRPr sz="1425" b="1">
                <a:solidFill>
                  <a:srgbClr val="173344"/>
                </a:solidFill>
              </a:defRPr>
            </a:lvl6pPr>
            <a:lvl7pPr>
              <a:defRPr sz="1425" b="1">
                <a:solidFill>
                  <a:srgbClr val="173344"/>
                </a:solidFill>
              </a:defRPr>
            </a:lvl7pPr>
            <a:lvl8pPr>
              <a:defRPr sz="1425" b="1">
                <a:solidFill>
                  <a:srgbClr val="173344"/>
                </a:solidFill>
              </a:defRPr>
            </a:lvl8pPr>
            <a:lvl9pPr>
              <a:defRPr sz="1425" b="1">
                <a:solidFill>
                  <a:srgbClr val="173344"/>
                </a:solidFill>
              </a:defRPr>
            </a:lvl9pPr>
          </a:lstStyle>
          <a:p xmlns:a="http://schemas.openxmlformats.org/drawingml/2006/main">
            <a:pPr>
              <a:defRPr sz="1425" b="1">
                <a:solidFill>
                  <a:srgbClr val="173344"/>
                </a:solidFill>
              </a:defRPr>
            </a:pPr>
            <a:r>
              <a:rPr sz="1425" b="1">
                <a:solidFill>
                  <a:srgbClr val="173344"/>
                </a:solidFill>
              </a:rPr>
              <a:t>Debt model: FAIL</a:t>
            </a:r>
          </a:p>
        </p:txBody>
      </p:sp>
      <p:sp>
        <p:nvSpPr>
          <p:cNvPr id="7" name="">
            <a:extLst xmlns:a="http://schemas.openxmlformats.org/drawingml/2006/main">
              <a:ext uri="{FF2B5EF4-FFF2-40B4-BE49-F238E27FC236}">
                <a16:creationId xmlns:a16="http://schemas.microsoft.com/office/drawing/2014/main" id="{7444EE96-FE61-4CF4-9B77-077BAA2D106F}"/>
              </a:ext>
            </a:extLst>
          </p:cNvPr>
          <p:cNvSpPr>
            <a:spLocks xmlns:a="http://schemas.openxmlformats.org/drawingml/2006/main" noGrp="1"/>
          </p:cNvSpPr>
          <p:nvPr/>
        </p:nvSpPr>
        <p:spPr>
          <a:xfrm xmlns:a="http://schemas.openxmlformats.org/drawingml/2006/main">
            <a:off x="857250" y="2162175"/>
            <a:ext cx="47244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96D78"/>
                </a:solidFill>
              </a:defRPr>
            </a:defPPr>
            <a:lvl1pPr>
              <a:defRPr sz="1200" b="0">
                <a:solidFill>
                  <a:srgbClr val="596D78"/>
                </a:solidFill>
              </a:defRPr>
            </a:lvl1pPr>
            <a:lvl2pPr>
              <a:defRPr sz="1200" b="0">
                <a:solidFill>
                  <a:srgbClr val="596D78"/>
                </a:solidFill>
              </a:defRPr>
            </a:lvl2pPr>
            <a:lvl3pPr>
              <a:defRPr sz="1200" b="0">
                <a:solidFill>
                  <a:srgbClr val="596D78"/>
                </a:solidFill>
              </a:defRPr>
            </a:lvl3pPr>
            <a:lvl4pPr>
              <a:defRPr sz="1200" b="0">
                <a:solidFill>
                  <a:srgbClr val="596D78"/>
                </a:solidFill>
              </a:defRPr>
            </a:lvl4pPr>
            <a:lvl5pPr>
              <a:defRPr sz="1200" b="0">
                <a:solidFill>
                  <a:srgbClr val="596D78"/>
                </a:solidFill>
              </a:defRPr>
            </a:lvl5pPr>
            <a:lvl6pPr>
              <a:defRPr sz="1200" b="0">
                <a:solidFill>
                  <a:srgbClr val="596D78"/>
                </a:solidFill>
              </a:defRPr>
            </a:lvl6pPr>
            <a:lvl7pPr>
              <a:defRPr sz="1200" b="0">
                <a:solidFill>
                  <a:srgbClr val="596D78"/>
                </a:solidFill>
              </a:defRPr>
            </a:lvl7pPr>
            <a:lvl8pPr>
              <a:defRPr sz="1200" b="0">
                <a:solidFill>
                  <a:srgbClr val="596D78"/>
                </a:solidFill>
              </a:defRPr>
            </a:lvl8pPr>
            <a:lvl9pPr>
              <a:defRPr sz="1200" b="0">
                <a:solidFill>
                  <a:srgbClr val="596D78"/>
                </a:solidFill>
              </a:defRPr>
            </a:lvl9pPr>
          </a:lstStyle>
          <a:p xmlns:a="http://schemas.openxmlformats.org/drawingml/2006/main">
            <a:pPr>
              <a:defRPr sz="1200" b="0">
                <a:solidFill>
                  <a:srgbClr val="596D78"/>
                </a:solidFill>
              </a:defRPr>
            </a:pPr>
            <a:r>
              <a:rPr sz="1200" b="0">
                <a:solidFill>
                  <a:srgbClr val="596D78"/>
                </a:solidFill>
              </a:rPr>
              <a:t>2024 gross debt error is +18.57 percentage points of GDP, above the proposed 5 pp tolerance. Debt outcomes need particular caution.</a:t>
            </a:r>
          </a:p>
        </p:txBody>
      </p:sp>
      <p:sp>
        <p:nvSpPr>
          <p:cNvPr id="8" name="">
            <a:extLst xmlns:a="http://schemas.openxmlformats.org/drawingml/2006/main">
              <a:ext uri="{FF2B5EF4-FFF2-40B4-BE49-F238E27FC236}">
                <a16:creationId xmlns:a16="http://schemas.microsoft.com/office/drawing/2014/main" id="{A1276159-B65A-4803-B821-D218F27AF985}"/>
              </a:ext>
            </a:extLst>
          </p:cNvPr>
          <p:cNvSpPr>
            <a:spLocks xmlns:a="http://schemas.openxmlformats.org/drawingml/2006/main" noGrp="1"/>
          </p:cNvSpPr>
          <p:nvPr/>
        </p:nvSpPr>
        <p:spPr>
          <a:xfrm xmlns:a="http://schemas.openxmlformats.org/drawingml/2006/main">
            <a:off x="6057900" y="1571625"/>
            <a:ext cx="5143500" cy="180975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9525">
            <a:solidFill>
              <a:srgbClr val="D9E2E5"/>
            </a:solidFill>
            <a:prstDash val="solid"/>
          </a:ln>
        </p:spPr>
      </p:sp>
      <p:sp>
        <p:nvSpPr>
          <p:cNvPr id="9" name="">
            <a:extLst xmlns:a="http://schemas.openxmlformats.org/drawingml/2006/main">
              <a:ext uri="{FF2B5EF4-FFF2-40B4-BE49-F238E27FC236}">
                <a16:creationId xmlns:a16="http://schemas.microsoft.com/office/drawing/2014/main" id="{4841B493-9B61-49DF-872F-E1F690BBDA8D}"/>
              </a:ext>
            </a:extLst>
          </p:cNvPr>
          <p:cNvSpPr>
            <a:spLocks xmlns:a="http://schemas.openxmlformats.org/drawingml/2006/main" noGrp="1"/>
          </p:cNvSpPr>
          <p:nvPr/>
        </p:nvSpPr>
        <p:spPr>
          <a:xfrm xmlns:a="http://schemas.openxmlformats.org/drawingml/2006/main">
            <a:off x="6057900" y="1571625"/>
            <a:ext cx="57150" cy="1809750"/>
          </a:xfrm>
          <a:prstGeom xmlns:a="http://schemas.openxmlformats.org/drawingml/2006/main" prst="rect">
            <a:avLst/>
          </a:prstGeom>
          <a:solidFill xmlns:a="http://schemas.openxmlformats.org/drawingml/2006/main">
            <a:srgbClr val="16818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FD62CF4-A8FB-4062-A8D7-C2E3C0F97151}"/>
              </a:ext>
            </a:extLst>
          </p:cNvPr>
          <p:cNvSpPr>
            <a:spLocks xmlns:a="http://schemas.openxmlformats.org/drawingml/2006/main" noGrp="1"/>
          </p:cNvSpPr>
          <p:nvPr/>
        </p:nvSpPr>
        <p:spPr>
          <a:xfrm xmlns:a="http://schemas.openxmlformats.org/drawingml/2006/main">
            <a:off x="6267450" y="1743075"/>
            <a:ext cx="4724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173344"/>
                </a:solidFill>
              </a:defRPr>
            </a:defPPr>
            <a:lvl1pPr>
              <a:defRPr sz="1425" b="1">
                <a:solidFill>
                  <a:srgbClr val="173344"/>
                </a:solidFill>
              </a:defRPr>
            </a:lvl1pPr>
            <a:lvl2pPr>
              <a:defRPr sz="1425" b="1">
                <a:solidFill>
                  <a:srgbClr val="173344"/>
                </a:solidFill>
              </a:defRPr>
            </a:lvl2pPr>
            <a:lvl3pPr>
              <a:defRPr sz="1425" b="1">
                <a:solidFill>
                  <a:srgbClr val="173344"/>
                </a:solidFill>
              </a:defRPr>
            </a:lvl3pPr>
            <a:lvl4pPr>
              <a:defRPr sz="1425" b="1">
                <a:solidFill>
                  <a:srgbClr val="173344"/>
                </a:solidFill>
              </a:defRPr>
            </a:lvl4pPr>
            <a:lvl5pPr>
              <a:defRPr sz="1425" b="1">
                <a:solidFill>
                  <a:srgbClr val="173344"/>
                </a:solidFill>
              </a:defRPr>
            </a:lvl5pPr>
            <a:lvl6pPr>
              <a:defRPr sz="1425" b="1">
                <a:solidFill>
                  <a:srgbClr val="173344"/>
                </a:solidFill>
              </a:defRPr>
            </a:lvl6pPr>
            <a:lvl7pPr>
              <a:defRPr sz="1425" b="1">
                <a:solidFill>
                  <a:srgbClr val="173344"/>
                </a:solidFill>
              </a:defRPr>
            </a:lvl7pPr>
            <a:lvl8pPr>
              <a:defRPr sz="1425" b="1">
                <a:solidFill>
                  <a:srgbClr val="173344"/>
                </a:solidFill>
              </a:defRPr>
            </a:lvl8pPr>
            <a:lvl9pPr>
              <a:defRPr sz="1425" b="1">
                <a:solidFill>
                  <a:srgbClr val="173344"/>
                </a:solidFill>
              </a:defRPr>
            </a:lvl9pPr>
          </a:lstStyle>
          <a:p xmlns:a="http://schemas.openxmlformats.org/drawingml/2006/main">
            <a:pPr>
              <a:defRPr sz="1425" b="1">
                <a:solidFill>
                  <a:srgbClr val="173344"/>
                </a:solidFill>
              </a:defRPr>
            </a:pPr>
            <a:r>
              <a:rPr sz="1425" b="1">
                <a:solidFill>
                  <a:srgbClr val="173344"/>
                </a:solidFill>
              </a:rPr>
              <a:t>Growth block: PASS</a:t>
            </a:r>
          </a:p>
        </p:txBody>
      </p:sp>
      <p:sp>
        <p:nvSpPr>
          <p:cNvPr id="11" name="">
            <a:extLst xmlns:a="http://schemas.openxmlformats.org/drawingml/2006/main">
              <a:ext uri="{FF2B5EF4-FFF2-40B4-BE49-F238E27FC236}">
                <a16:creationId xmlns:a16="http://schemas.microsoft.com/office/drawing/2014/main" id="{2CD7F159-E134-4A21-B0D4-0E5AD085E518}"/>
              </a:ext>
            </a:extLst>
          </p:cNvPr>
          <p:cNvSpPr>
            <a:spLocks xmlns:a="http://schemas.openxmlformats.org/drawingml/2006/main" noGrp="1"/>
          </p:cNvSpPr>
          <p:nvPr/>
        </p:nvSpPr>
        <p:spPr>
          <a:xfrm xmlns:a="http://schemas.openxmlformats.org/drawingml/2006/main">
            <a:off x="6267450" y="2162175"/>
            <a:ext cx="47244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96D78"/>
                </a:solidFill>
              </a:defRPr>
            </a:defPPr>
            <a:lvl1pPr>
              <a:defRPr sz="1200" b="0">
                <a:solidFill>
                  <a:srgbClr val="596D78"/>
                </a:solidFill>
              </a:defRPr>
            </a:lvl1pPr>
            <a:lvl2pPr>
              <a:defRPr sz="1200" b="0">
                <a:solidFill>
                  <a:srgbClr val="596D78"/>
                </a:solidFill>
              </a:defRPr>
            </a:lvl2pPr>
            <a:lvl3pPr>
              <a:defRPr sz="1200" b="0">
                <a:solidFill>
                  <a:srgbClr val="596D78"/>
                </a:solidFill>
              </a:defRPr>
            </a:lvl3pPr>
            <a:lvl4pPr>
              <a:defRPr sz="1200" b="0">
                <a:solidFill>
                  <a:srgbClr val="596D78"/>
                </a:solidFill>
              </a:defRPr>
            </a:lvl4pPr>
            <a:lvl5pPr>
              <a:defRPr sz="1200" b="0">
                <a:solidFill>
                  <a:srgbClr val="596D78"/>
                </a:solidFill>
              </a:defRPr>
            </a:lvl5pPr>
            <a:lvl6pPr>
              <a:defRPr sz="1200" b="0">
                <a:solidFill>
                  <a:srgbClr val="596D78"/>
                </a:solidFill>
              </a:defRPr>
            </a:lvl6pPr>
            <a:lvl7pPr>
              <a:defRPr sz="1200" b="0">
                <a:solidFill>
                  <a:srgbClr val="596D78"/>
                </a:solidFill>
              </a:defRPr>
            </a:lvl7pPr>
            <a:lvl8pPr>
              <a:defRPr sz="1200" b="0">
                <a:solidFill>
                  <a:srgbClr val="596D78"/>
                </a:solidFill>
              </a:defRPr>
            </a:lvl8pPr>
            <a:lvl9pPr>
              <a:defRPr sz="1200" b="0">
                <a:solidFill>
                  <a:srgbClr val="596D78"/>
                </a:solidFill>
              </a:defRPr>
            </a:lvl9pPr>
          </a:lstStyle>
          <a:p xmlns:a="http://schemas.openxmlformats.org/drawingml/2006/main">
            <a:pPr>
              <a:defRPr sz="1200" b="0">
                <a:solidFill>
                  <a:srgbClr val="596D78"/>
                </a:solidFill>
              </a:defRPr>
            </a:pPr>
            <a:r>
              <a:rPr sz="1200" b="0">
                <a:solidFill>
                  <a:srgbClr val="596D78"/>
                </a:solidFill>
              </a:rPr>
              <a:t>Mean error is +0.165 pp/year against a 0.5 pp/year tolerance. This pass does not validate every model component.</a:t>
            </a:r>
          </a:p>
        </p:txBody>
      </p:sp>
      <p:sp>
        <p:nvSpPr>
          <p:cNvPr id="12" name="">
            <a:extLst xmlns:a="http://schemas.openxmlformats.org/drawingml/2006/main">
              <a:ext uri="{FF2B5EF4-FFF2-40B4-BE49-F238E27FC236}">
                <a16:creationId xmlns:a16="http://schemas.microsoft.com/office/drawing/2014/main" id="{27BC7E93-C5C3-4EBC-89B1-4CA534C1107B}"/>
              </a:ext>
            </a:extLst>
          </p:cNvPr>
          <p:cNvSpPr>
            <a:spLocks xmlns:a="http://schemas.openxmlformats.org/drawingml/2006/main" noGrp="1"/>
          </p:cNvSpPr>
          <p:nvPr/>
        </p:nvSpPr>
        <p:spPr>
          <a:xfrm xmlns:a="http://schemas.openxmlformats.org/drawingml/2006/main">
            <a:off x="647700" y="3714750"/>
            <a:ext cx="10553700" cy="200025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9E2E5"/>
            </a:solidFill>
            <a:prstDash val="solid"/>
          </a:ln>
        </p:spPr>
      </p:sp>
      <p:sp>
        <p:nvSpPr>
          <p:cNvPr id="13" name="">
            <a:extLst xmlns:a="http://schemas.openxmlformats.org/drawingml/2006/main">
              <a:ext uri="{FF2B5EF4-FFF2-40B4-BE49-F238E27FC236}">
                <a16:creationId xmlns:a16="http://schemas.microsoft.com/office/drawing/2014/main" id="{BD4FEA6D-D3D7-4442-8091-26B180BEBA9D}"/>
              </a:ext>
            </a:extLst>
          </p:cNvPr>
          <p:cNvSpPr>
            <a:spLocks xmlns:a="http://schemas.openxmlformats.org/drawingml/2006/main" noGrp="1"/>
          </p:cNvSpPr>
          <p:nvPr/>
        </p:nvSpPr>
        <p:spPr>
          <a:xfrm xmlns:a="http://schemas.openxmlformats.org/drawingml/2006/main">
            <a:off x="647700" y="3714750"/>
            <a:ext cx="57150" cy="2000250"/>
          </a:xfrm>
          <a:prstGeom xmlns:a="http://schemas.openxmlformats.org/drawingml/2006/main" prst="rect">
            <a:avLst/>
          </a:prstGeom>
          <a:solidFill xmlns:a="http://schemas.openxmlformats.org/drawingml/2006/main">
            <a:srgbClr val="C1943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DFF15D0-3947-47FF-8194-E60B0BFC9E84}"/>
              </a:ext>
            </a:extLst>
          </p:cNvPr>
          <p:cNvSpPr>
            <a:spLocks xmlns:a="http://schemas.openxmlformats.org/drawingml/2006/main" noGrp="1"/>
          </p:cNvSpPr>
          <p:nvPr/>
        </p:nvSpPr>
        <p:spPr>
          <a:xfrm xmlns:a="http://schemas.openxmlformats.org/drawingml/2006/main">
            <a:off x="857250" y="3886200"/>
            <a:ext cx="1013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173344"/>
                </a:solidFill>
              </a:defRPr>
            </a:defPPr>
            <a:lvl1pPr>
              <a:defRPr sz="1425" b="1">
                <a:solidFill>
                  <a:srgbClr val="173344"/>
                </a:solidFill>
              </a:defRPr>
            </a:lvl1pPr>
            <a:lvl2pPr>
              <a:defRPr sz="1425" b="1">
                <a:solidFill>
                  <a:srgbClr val="173344"/>
                </a:solidFill>
              </a:defRPr>
            </a:lvl2pPr>
            <a:lvl3pPr>
              <a:defRPr sz="1425" b="1">
                <a:solidFill>
                  <a:srgbClr val="173344"/>
                </a:solidFill>
              </a:defRPr>
            </a:lvl3pPr>
            <a:lvl4pPr>
              <a:defRPr sz="1425" b="1">
                <a:solidFill>
                  <a:srgbClr val="173344"/>
                </a:solidFill>
              </a:defRPr>
            </a:lvl4pPr>
            <a:lvl5pPr>
              <a:defRPr sz="1425" b="1">
                <a:solidFill>
                  <a:srgbClr val="173344"/>
                </a:solidFill>
              </a:defRPr>
            </a:lvl5pPr>
            <a:lvl6pPr>
              <a:defRPr sz="1425" b="1">
                <a:solidFill>
                  <a:srgbClr val="173344"/>
                </a:solidFill>
              </a:defRPr>
            </a:lvl6pPr>
            <a:lvl7pPr>
              <a:defRPr sz="1425" b="1">
                <a:solidFill>
                  <a:srgbClr val="173344"/>
                </a:solidFill>
              </a:defRPr>
            </a:lvl7pPr>
            <a:lvl8pPr>
              <a:defRPr sz="1425" b="1">
                <a:solidFill>
                  <a:srgbClr val="173344"/>
                </a:solidFill>
              </a:defRPr>
            </a:lvl8pPr>
            <a:lvl9pPr>
              <a:defRPr sz="1425" b="1">
                <a:solidFill>
                  <a:srgbClr val="173344"/>
                </a:solidFill>
              </a:defRPr>
            </a:lvl9pPr>
          </a:lstStyle>
          <a:p xmlns:a="http://schemas.openxmlformats.org/drawingml/2006/main">
            <a:pPr>
              <a:defRPr sz="1425" b="1">
                <a:solidFill>
                  <a:srgbClr val="173344"/>
                </a:solidFill>
              </a:defRPr>
            </a:pPr>
            <a:r>
              <a:rPr sz="1425" b="1">
                <a:solidFill>
                  <a:srgbClr val="173344"/>
                </a:solidFill>
              </a:rPr>
              <a:t>What this means</a:t>
            </a:r>
          </a:p>
        </p:txBody>
      </p:sp>
      <p:sp>
        <p:nvSpPr>
          <p:cNvPr id="15" name="">
            <a:extLst xmlns:a="http://schemas.openxmlformats.org/drawingml/2006/main">
              <a:ext uri="{FF2B5EF4-FFF2-40B4-BE49-F238E27FC236}">
                <a16:creationId xmlns:a16="http://schemas.microsoft.com/office/drawing/2014/main" id="{B369E64A-A1B4-42CC-A546-EC672ACC5E4A}"/>
              </a:ext>
            </a:extLst>
          </p:cNvPr>
          <p:cNvSpPr>
            <a:spLocks xmlns:a="http://schemas.openxmlformats.org/drawingml/2006/main" noGrp="1"/>
          </p:cNvSpPr>
          <p:nvPr/>
        </p:nvSpPr>
        <p:spPr>
          <a:xfrm xmlns:a="http://schemas.openxmlformats.org/drawingml/2006/main">
            <a:off x="857250" y="4305300"/>
            <a:ext cx="101346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96D78"/>
                </a:solidFill>
              </a:defRPr>
            </a:defPPr>
            <a:lvl1pPr>
              <a:defRPr sz="1200" b="0">
                <a:solidFill>
                  <a:srgbClr val="596D78"/>
                </a:solidFill>
              </a:defRPr>
            </a:lvl1pPr>
            <a:lvl2pPr>
              <a:defRPr sz="1200" b="0">
                <a:solidFill>
                  <a:srgbClr val="596D78"/>
                </a:solidFill>
              </a:defRPr>
            </a:lvl2pPr>
            <a:lvl3pPr>
              <a:defRPr sz="1200" b="0">
                <a:solidFill>
                  <a:srgbClr val="596D78"/>
                </a:solidFill>
              </a:defRPr>
            </a:lvl3pPr>
            <a:lvl4pPr>
              <a:defRPr sz="1200" b="0">
                <a:solidFill>
                  <a:srgbClr val="596D78"/>
                </a:solidFill>
              </a:defRPr>
            </a:lvl4pPr>
            <a:lvl5pPr>
              <a:defRPr sz="1200" b="0">
                <a:solidFill>
                  <a:srgbClr val="596D78"/>
                </a:solidFill>
              </a:defRPr>
            </a:lvl5pPr>
            <a:lvl6pPr>
              <a:defRPr sz="1200" b="0">
                <a:solidFill>
                  <a:srgbClr val="596D78"/>
                </a:solidFill>
              </a:defRPr>
            </a:lvl6pPr>
            <a:lvl7pPr>
              <a:defRPr sz="1200" b="0">
                <a:solidFill>
                  <a:srgbClr val="596D78"/>
                </a:solidFill>
              </a:defRPr>
            </a:lvl7pPr>
            <a:lvl8pPr>
              <a:defRPr sz="1200" b="0">
                <a:solidFill>
                  <a:srgbClr val="596D78"/>
                </a:solidFill>
              </a:defRPr>
            </a:lvl8pPr>
            <a:lvl9pPr>
              <a:defRPr sz="1200" b="0">
                <a:solidFill>
                  <a:srgbClr val="596D78"/>
                </a:solidFill>
              </a:defRPr>
            </a:lvl9pPr>
          </a:lstStyle>
          <a:p xmlns:a="http://schemas.openxmlformats.org/drawingml/2006/main">
            <a:pPr>
              <a:defRPr sz="1200" b="0">
                <a:solidFill>
                  <a:srgbClr val="596D78"/>
                </a:solidFill>
              </a:defRPr>
            </a:pPr>
            <a:r>
              <a:rPr sz="1200" b="0">
                <a:solidFill>
                  <a:srgbClr val="596D78"/>
                </a:solidFill>
              </a:rPr>
              <a:t>Treat the charts as conditional scenario comparisons produced by the current model. Do not call them validated projections. The debt level recursion omits historical stock-flow adjustments; the growth block misses much of the 2006–10 boom and the 2014–16 recession.</a:t>
            </a:r>
          </a:p>
        </p:txBody>
      </p:sp>
    </p:spTree>
    <p:extLst>
      <p:ext uri="{BB962C8B-B14F-4D97-AF65-F5344CB8AC3E}">
        <p14:creationId xmlns:p14="http://schemas.microsoft.com/office/powerpoint/2010/main" val="360544246"/>
      </p:ext>
    </p:extLst>
  </p:cSld>
</p:sld>
</file>

<file path=ppt/slides/slide3.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C9F57240-7E38-4CBD-8B10-596696BE354C}"/>
              </a:ext>
            </a:extLst>
          </p:cNvPr>
          <p:cNvSpPr>
            <a:spLocks xmlns:a="http://schemas.openxmlformats.org/drawingml/2006/main" noGrp="1"/>
          </p:cNvSpPr>
          <p:nvPr/>
        </p:nvSpPr>
        <p:spPr>
          <a:xfrm xmlns:a="http://schemas.openxmlformats.org/drawingml/2006/main">
            <a:off x="647700" y="3238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168184"/>
                </a:solidFill>
              </a:defRPr>
            </a:defPPr>
            <a:lvl1pPr>
              <a:defRPr sz="975" b="1">
                <a:solidFill>
                  <a:srgbClr val="168184"/>
                </a:solidFill>
              </a:defRPr>
            </a:lvl1pPr>
            <a:lvl2pPr>
              <a:defRPr sz="975" b="1">
                <a:solidFill>
                  <a:srgbClr val="168184"/>
                </a:solidFill>
              </a:defRPr>
            </a:lvl2pPr>
            <a:lvl3pPr>
              <a:defRPr sz="975" b="1">
                <a:solidFill>
                  <a:srgbClr val="168184"/>
                </a:solidFill>
              </a:defRPr>
            </a:lvl3pPr>
            <a:lvl4pPr>
              <a:defRPr sz="975" b="1">
                <a:solidFill>
                  <a:srgbClr val="168184"/>
                </a:solidFill>
              </a:defRPr>
            </a:lvl4pPr>
            <a:lvl5pPr>
              <a:defRPr sz="975" b="1">
                <a:solidFill>
                  <a:srgbClr val="168184"/>
                </a:solidFill>
              </a:defRPr>
            </a:lvl5pPr>
            <a:lvl6pPr>
              <a:defRPr sz="975" b="1">
                <a:solidFill>
                  <a:srgbClr val="168184"/>
                </a:solidFill>
              </a:defRPr>
            </a:lvl6pPr>
            <a:lvl7pPr>
              <a:defRPr sz="975" b="1">
                <a:solidFill>
                  <a:srgbClr val="168184"/>
                </a:solidFill>
              </a:defRPr>
            </a:lvl7pPr>
            <a:lvl8pPr>
              <a:defRPr sz="975" b="1">
                <a:solidFill>
                  <a:srgbClr val="168184"/>
                </a:solidFill>
              </a:defRPr>
            </a:lvl8pPr>
            <a:lvl9pPr>
              <a:defRPr sz="975" b="1">
                <a:solidFill>
                  <a:srgbClr val="168184"/>
                </a:solidFill>
              </a:defRPr>
            </a:lvl9pPr>
          </a:lstStyle>
          <a:p xmlns:a="http://schemas.openxmlformats.org/drawingml/2006/main">
            <a:pPr>
              <a:defRPr sz="975" b="1">
                <a:solidFill>
                  <a:srgbClr val="168184"/>
                </a:solidFill>
              </a:defRPr>
            </a:pPr>
            <a:r>
              <a:rPr sz="975" b="1">
                <a:solidFill>
                  <a:srgbClr val="168184"/>
                </a:solidFill>
              </a:rPr>
              <a:t>BRAZIL SCENARIO RESULTS</a:t>
            </a:r>
          </a:p>
        </p:txBody>
      </p:sp>
      <p:sp>
        <p:nvSpPr>
          <p:cNvPr id="2" name="">
            <a:extLst xmlns:a="http://schemas.openxmlformats.org/drawingml/2006/main">
              <a:ext uri="{FF2B5EF4-FFF2-40B4-BE49-F238E27FC236}">
                <a16:creationId xmlns:a16="http://schemas.microsoft.com/office/drawing/2014/main" id="{5A994AD2-5FCF-4D41-BAEE-BC1AF8517C48}"/>
              </a:ext>
            </a:extLst>
          </p:cNvPr>
          <p:cNvSpPr>
            <a:spLocks xmlns:a="http://schemas.openxmlformats.org/drawingml/2006/main" noGrp="1"/>
          </p:cNvSpPr>
          <p:nvPr/>
        </p:nvSpPr>
        <p:spPr>
          <a:xfrm xmlns:a="http://schemas.openxmlformats.org/drawingml/2006/main">
            <a:off x="647700" y="6286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173344"/>
                </a:solidFill>
              </a:defRPr>
            </a:defPPr>
            <a:lvl1pPr>
              <a:defRPr sz="2550" b="1">
                <a:solidFill>
                  <a:srgbClr val="173344"/>
                </a:solidFill>
              </a:defRPr>
            </a:lvl1pPr>
            <a:lvl2pPr>
              <a:defRPr sz="2550" b="1">
                <a:solidFill>
                  <a:srgbClr val="173344"/>
                </a:solidFill>
              </a:defRPr>
            </a:lvl2pPr>
            <a:lvl3pPr>
              <a:defRPr sz="2550" b="1">
                <a:solidFill>
                  <a:srgbClr val="173344"/>
                </a:solidFill>
              </a:defRPr>
            </a:lvl3pPr>
            <a:lvl4pPr>
              <a:defRPr sz="2550" b="1">
                <a:solidFill>
                  <a:srgbClr val="173344"/>
                </a:solidFill>
              </a:defRPr>
            </a:lvl4pPr>
            <a:lvl5pPr>
              <a:defRPr sz="2550" b="1">
                <a:solidFill>
                  <a:srgbClr val="173344"/>
                </a:solidFill>
              </a:defRPr>
            </a:lvl5pPr>
            <a:lvl6pPr>
              <a:defRPr sz="2550" b="1">
                <a:solidFill>
                  <a:srgbClr val="173344"/>
                </a:solidFill>
              </a:defRPr>
            </a:lvl6pPr>
            <a:lvl7pPr>
              <a:defRPr sz="2550" b="1">
                <a:solidFill>
                  <a:srgbClr val="173344"/>
                </a:solidFill>
              </a:defRPr>
            </a:lvl7pPr>
            <a:lvl8pPr>
              <a:defRPr sz="2550" b="1">
                <a:solidFill>
                  <a:srgbClr val="173344"/>
                </a:solidFill>
              </a:defRPr>
            </a:lvl8pPr>
            <a:lvl9pPr>
              <a:defRPr sz="2550" b="1">
                <a:solidFill>
                  <a:srgbClr val="173344"/>
                </a:solidFill>
              </a:defRPr>
            </a:lvl9pPr>
          </a:lstStyle>
          <a:p xmlns:a="http://schemas.openxmlformats.org/drawingml/2006/main">
            <a:pPr>
              <a:defRPr sz="2550" b="1">
                <a:solidFill>
                  <a:srgbClr val="173344"/>
                </a:solidFill>
              </a:defRPr>
            </a:pPr>
            <a:r>
              <a:rPr sz="2550" b="1">
                <a:solidFill>
                  <a:srgbClr val="173344"/>
                </a:solidFill>
              </a:rPr>
              <a:t>Why every scenario is compared with S0</a:t>
            </a:r>
          </a:p>
        </p:txBody>
      </p:sp>
      <p:sp>
        <p:nvSpPr>
          <p:cNvPr id="3" name="">
            <a:extLst xmlns:a="http://schemas.openxmlformats.org/drawingml/2006/main">
              <a:ext uri="{FF2B5EF4-FFF2-40B4-BE49-F238E27FC236}">
                <a16:creationId xmlns:a16="http://schemas.microsoft.com/office/drawing/2014/main" id="{7A3CDB8A-EE30-462C-80ED-773A5FBEA011}"/>
              </a:ext>
            </a:extLst>
          </p:cNvPr>
          <p:cNvSpPr>
            <a:spLocks xmlns:a="http://schemas.openxmlformats.org/drawingml/2006/main" noGrp="1"/>
          </p:cNvSpPr>
          <p:nvPr/>
        </p:nvSpPr>
        <p:spPr>
          <a:xfrm xmlns:a="http://schemas.openxmlformats.org/drawingml/2006/main">
            <a:off x="647700" y="6477000"/>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0">
                <a:solidFill>
                  <a:srgbClr val="596D78"/>
                </a:solidFill>
              </a:defRPr>
            </a:defPPr>
            <a:lvl1pPr>
              <a:defRPr sz="900" b="0">
                <a:solidFill>
                  <a:srgbClr val="596D78"/>
                </a:solidFill>
              </a:defRPr>
            </a:lvl1pPr>
            <a:lvl2pPr>
              <a:defRPr sz="900" b="0">
                <a:solidFill>
                  <a:srgbClr val="596D78"/>
                </a:solidFill>
              </a:defRPr>
            </a:lvl2pPr>
            <a:lvl3pPr>
              <a:defRPr sz="900" b="0">
                <a:solidFill>
                  <a:srgbClr val="596D78"/>
                </a:solidFill>
              </a:defRPr>
            </a:lvl3pPr>
            <a:lvl4pPr>
              <a:defRPr sz="900" b="0">
                <a:solidFill>
                  <a:srgbClr val="596D78"/>
                </a:solidFill>
              </a:defRPr>
            </a:lvl4pPr>
            <a:lvl5pPr>
              <a:defRPr sz="900" b="0">
                <a:solidFill>
                  <a:srgbClr val="596D78"/>
                </a:solidFill>
              </a:defRPr>
            </a:lvl5pPr>
            <a:lvl6pPr>
              <a:defRPr sz="900" b="0">
                <a:solidFill>
                  <a:srgbClr val="596D78"/>
                </a:solidFill>
              </a:defRPr>
            </a:lvl6pPr>
            <a:lvl7pPr>
              <a:defRPr sz="900" b="0">
                <a:solidFill>
                  <a:srgbClr val="596D78"/>
                </a:solidFill>
              </a:defRPr>
            </a:lvl7pPr>
            <a:lvl8pPr>
              <a:defRPr sz="900" b="0">
                <a:solidFill>
                  <a:srgbClr val="596D78"/>
                </a:solidFill>
              </a:defRPr>
            </a:lvl8pPr>
            <a:lvl9pPr>
              <a:defRPr sz="900" b="0">
                <a:solidFill>
                  <a:srgbClr val="596D78"/>
                </a:solidFill>
              </a:defRPr>
            </a:lvl9pPr>
          </a:lstStyle>
          <a:p xmlns:a="http://schemas.openxmlformats.org/drawingml/2006/main">
            <a:pPr>
              <a:defRPr sz="900" b="0">
                <a:solidFill>
                  <a:srgbClr val="596D78"/>
                </a:solidFill>
              </a:defRPr>
            </a:pPr>
            <a:r>
              <a:rPr sz="900" b="0">
                <a:solidFill>
                  <a:srgbClr val="596D78"/>
                </a:solidFill>
              </a:rPr>
              <a:t>Internal review · D2 validation gate FAIL · 21 Oct 2026</a:t>
            </a:r>
          </a:p>
        </p:txBody>
      </p:sp>
      <p:sp>
        <p:nvSpPr>
          <p:cNvPr id="4" name="">
            <a:extLst xmlns:a="http://schemas.openxmlformats.org/drawingml/2006/main">
              <a:ext uri="{FF2B5EF4-FFF2-40B4-BE49-F238E27FC236}">
                <a16:creationId xmlns:a16="http://schemas.microsoft.com/office/drawing/2014/main" id="{D1111DCB-A32B-48AC-8B80-7F061179BA6D}"/>
              </a:ext>
            </a:extLst>
          </p:cNvPr>
          <p:cNvSpPr>
            <a:spLocks xmlns:a="http://schemas.openxmlformats.org/drawingml/2006/main" noGrp="1"/>
          </p:cNvSpPr>
          <p:nvPr/>
        </p:nvSpPr>
        <p:spPr>
          <a:xfrm xmlns:a="http://schemas.openxmlformats.org/drawingml/2006/main">
            <a:off x="714375" y="14287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1C303B"/>
                </a:solidFill>
              </a:defRPr>
            </a:defPPr>
            <a:lvl1pPr>
              <a:defRPr sz="1725" b="1">
                <a:solidFill>
                  <a:srgbClr val="1C303B"/>
                </a:solidFill>
              </a:defRPr>
            </a:lvl1pPr>
            <a:lvl2pPr>
              <a:defRPr sz="1725" b="1">
                <a:solidFill>
                  <a:srgbClr val="1C303B"/>
                </a:solidFill>
              </a:defRPr>
            </a:lvl2pPr>
            <a:lvl3pPr>
              <a:defRPr sz="1725" b="1">
                <a:solidFill>
                  <a:srgbClr val="1C303B"/>
                </a:solidFill>
              </a:defRPr>
            </a:lvl3pPr>
            <a:lvl4pPr>
              <a:defRPr sz="1725" b="1">
                <a:solidFill>
                  <a:srgbClr val="1C303B"/>
                </a:solidFill>
              </a:defRPr>
            </a:lvl4pPr>
            <a:lvl5pPr>
              <a:defRPr sz="1725" b="1">
                <a:solidFill>
                  <a:srgbClr val="1C303B"/>
                </a:solidFill>
              </a:defRPr>
            </a:lvl5pPr>
            <a:lvl6pPr>
              <a:defRPr sz="1725" b="1">
                <a:solidFill>
                  <a:srgbClr val="1C303B"/>
                </a:solidFill>
              </a:defRPr>
            </a:lvl6pPr>
            <a:lvl7pPr>
              <a:defRPr sz="1725" b="1">
                <a:solidFill>
                  <a:srgbClr val="1C303B"/>
                </a:solidFill>
              </a:defRPr>
            </a:lvl7pPr>
            <a:lvl8pPr>
              <a:defRPr sz="1725" b="1">
                <a:solidFill>
                  <a:srgbClr val="1C303B"/>
                </a:solidFill>
              </a:defRPr>
            </a:lvl8pPr>
            <a:lvl9pPr>
              <a:defRPr sz="1725" b="1">
                <a:solidFill>
                  <a:srgbClr val="1C303B"/>
                </a:solidFill>
              </a:defRPr>
            </a:lvl9pPr>
          </a:lstStyle>
          <a:p xmlns:a="http://schemas.openxmlformats.org/drawingml/2006/main">
            <a:pPr>
              <a:defRPr sz="1725" b="1">
                <a:solidFill>
                  <a:srgbClr val="1C303B"/>
                </a:solidFill>
              </a:defRPr>
            </a:pPr>
            <a:r>
              <a:rPr sz="1725" b="1">
                <a:solidFill>
                  <a:srgbClr val="1C303B"/>
                </a:solidFill>
              </a:rPr>
              <a:t>A paired comparison isolates the policy path from shared assumptions.</a:t>
            </a:r>
          </a:p>
        </p:txBody>
      </p:sp>
      <p:sp>
        <p:nvSpPr>
          <p:cNvPr id="5" name="">
            <a:extLst xmlns:a="http://schemas.openxmlformats.org/drawingml/2006/main">
              <a:ext uri="{FF2B5EF4-FFF2-40B4-BE49-F238E27FC236}">
                <a16:creationId xmlns:a16="http://schemas.microsoft.com/office/drawing/2014/main" id="{799FD4DD-E9D2-42FA-B184-6F46841860E0}"/>
              </a:ext>
            </a:extLst>
          </p:cNvPr>
          <p:cNvSpPr>
            <a:spLocks xmlns:a="http://schemas.openxmlformats.org/drawingml/2006/main" noGrp="1"/>
          </p:cNvSpPr>
          <p:nvPr/>
        </p:nvSpPr>
        <p:spPr>
          <a:xfrm xmlns:a="http://schemas.openxmlformats.org/drawingml/2006/main">
            <a:off x="666750" y="2381250"/>
            <a:ext cx="2381250" cy="133350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9E2E5"/>
            </a:solidFill>
            <a:prstDash val="solid"/>
          </a:ln>
        </p:spPr>
      </p:sp>
      <p:sp>
        <p:nvSpPr>
          <p:cNvPr id="6" name="">
            <a:extLst xmlns:a="http://schemas.openxmlformats.org/drawingml/2006/main">
              <a:ext uri="{FF2B5EF4-FFF2-40B4-BE49-F238E27FC236}">
                <a16:creationId xmlns:a16="http://schemas.microsoft.com/office/drawing/2014/main" id="{5F7BA934-DE22-43AB-9178-A3475DE84FB2}"/>
              </a:ext>
            </a:extLst>
          </p:cNvPr>
          <p:cNvSpPr>
            <a:spLocks xmlns:a="http://schemas.openxmlformats.org/drawingml/2006/main" noGrp="1"/>
          </p:cNvSpPr>
          <p:nvPr/>
        </p:nvSpPr>
        <p:spPr>
          <a:xfrm xmlns:a="http://schemas.openxmlformats.org/drawingml/2006/main">
            <a:off x="838200" y="2581275"/>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73344"/>
                </a:solidFill>
              </a:defRPr>
            </a:defPPr>
            <a:lvl1pPr>
              <a:defRPr sz="1500" b="1">
                <a:solidFill>
                  <a:srgbClr val="173344"/>
                </a:solidFill>
              </a:defRPr>
            </a:lvl1pPr>
            <a:lvl2pPr>
              <a:defRPr sz="1500" b="1">
                <a:solidFill>
                  <a:srgbClr val="173344"/>
                </a:solidFill>
              </a:defRPr>
            </a:lvl2pPr>
            <a:lvl3pPr>
              <a:defRPr sz="1500" b="1">
                <a:solidFill>
                  <a:srgbClr val="173344"/>
                </a:solidFill>
              </a:defRPr>
            </a:lvl3pPr>
            <a:lvl4pPr>
              <a:defRPr sz="1500" b="1">
                <a:solidFill>
                  <a:srgbClr val="173344"/>
                </a:solidFill>
              </a:defRPr>
            </a:lvl4pPr>
            <a:lvl5pPr>
              <a:defRPr sz="1500" b="1">
                <a:solidFill>
                  <a:srgbClr val="173344"/>
                </a:solidFill>
              </a:defRPr>
            </a:lvl5pPr>
            <a:lvl6pPr>
              <a:defRPr sz="1500" b="1">
                <a:solidFill>
                  <a:srgbClr val="173344"/>
                </a:solidFill>
              </a:defRPr>
            </a:lvl6pPr>
            <a:lvl7pPr>
              <a:defRPr sz="1500" b="1">
                <a:solidFill>
                  <a:srgbClr val="173344"/>
                </a:solidFill>
              </a:defRPr>
            </a:lvl7pPr>
            <a:lvl8pPr>
              <a:defRPr sz="1500" b="1">
                <a:solidFill>
                  <a:srgbClr val="173344"/>
                </a:solidFill>
              </a:defRPr>
            </a:lvl8pPr>
            <a:lvl9pPr>
              <a:defRPr sz="1500" b="1">
                <a:solidFill>
                  <a:srgbClr val="173344"/>
                </a:solidFill>
              </a:defRPr>
            </a:lvl9pPr>
          </a:lstStyle>
          <a:p xmlns:a="http://schemas.openxmlformats.org/drawingml/2006/main">
            <a:pPr>
              <a:defRPr sz="1500" b="1">
                <a:solidFill>
                  <a:srgbClr val="173344"/>
                </a:solidFill>
              </a:defRPr>
            </a:pPr>
            <a:r>
              <a:rPr sz="1500" b="1">
                <a:solidFill>
                  <a:srgbClr val="173344"/>
                </a:solidFill>
              </a:rPr>
              <a:t>S0</a:t>
            </a:r>
          </a:p>
        </p:txBody>
      </p:sp>
      <p:sp>
        <p:nvSpPr>
          <p:cNvPr id="7" name="">
            <a:extLst xmlns:a="http://schemas.openxmlformats.org/drawingml/2006/main">
              <a:ext uri="{FF2B5EF4-FFF2-40B4-BE49-F238E27FC236}">
                <a16:creationId xmlns:a16="http://schemas.microsoft.com/office/drawing/2014/main" id="{BDB6CECB-DB0A-4AE8-B96E-9B9FCD8AF717}"/>
              </a:ext>
            </a:extLst>
          </p:cNvPr>
          <p:cNvSpPr>
            <a:spLocks xmlns:a="http://schemas.openxmlformats.org/drawingml/2006/main" noGrp="1"/>
          </p:cNvSpPr>
          <p:nvPr/>
        </p:nvSpPr>
        <p:spPr>
          <a:xfrm xmlns:a="http://schemas.openxmlformats.org/drawingml/2006/main">
            <a:off x="838200" y="2971800"/>
            <a:ext cx="2047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96D78"/>
                </a:solidFill>
              </a:defRPr>
            </a:defPPr>
            <a:lvl1pPr>
              <a:defRPr sz="1200" b="0">
                <a:solidFill>
                  <a:srgbClr val="596D78"/>
                </a:solidFill>
              </a:defRPr>
            </a:lvl1pPr>
            <a:lvl2pPr>
              <a:defRPr sz="1200" b="0">
                <a:solidFill>
                  <a:srgbClr val="596D78"/>
                </a:solidFill>
              </a:defRPr>
            </a:lvl2pPr>
            <a:lvl3pPr>
              <a:defRPr sz="1200" b="0">
                <a:solidFill>
                  <a:srgbClr val="596D78"/>
                </a:solidFill>
              </a:defRPr>
            </a:lvl3pPr>
            <a:lvl4pPr>
              <a:defRPr sz="1200" b="0">
                <a:solidFill>
                  <a:srgbClr val="596D78"/>
                </a:solidFill>
              </a:defRPr>
            </a:lvl4pPr>
            <a:lvl5pPr>
              <a:defRPr sz="1200" b="0">
                <a:solidFill>
                  <a:srgbClr val="596D78"/>
                </a:solidFill>
              </a:defRPr>
            </a:lvl5pPr>
            <a:lvl6pPr>
              <a:defRPr sz="1200" b="0">
                <a:solidFill>
                  <a:srgbClr val="596D78"/>
                </a:solidFill>
              </a:defRPr>
            </a:lvl6pPr>
            <a:lvl7pPr>
              <a:defRPr sz="1200" b="0">
                <a:solidFill>
                  <a:srgbClr val="596D78"/>
                </a:solidFill>
              </a:defRPr>
            </a:lvl7pPr>
            <a:lvl8pPr>
              <a:defRPr sz="1200" b="0">
                <a:solidFill>
                  <a:srgbClr val="596D78"/>
                </a:solidFill>
              </a:defRPr>
            </a:lvl8pPr>
            <a:lvl9pPr>
              <a:defRPr sz="1200" b="0">
                <a:solidFill>
                  <a:srgbClr val="596D78"/>
                </a:solidFill>
              </a:defRPr>
            </a:lvl9pPr>
          </a:lstStyle>
          <a:p xmlns:a="http://schemas.openxmlformats.org/drawingml/2006/main">
            <a:pPr>
              <a:defRPr sz="1200" b="0">
                <a:solidFill>
                  <a:srgbClr val="596D78"/>
                </a:solidFill>
              </a:defRPr>
            </a:pPr>
            <a:r>
              <a:rPr sz="1200" b="0">
                <a:solidFill>
                  <a:srgbClr val="596D78"/>
                </a:solidFill>
              </a:rPr>
              <a:t>Current rules continue</a:t>
            </a:r>
          </a:p>
        </p:txBody>
      </p:sp>
      <p:sp>
        <p:nvSpPr>
          <p:cNvPr id="8" name="">
            <a:extLst xmlns:a="http://schemas.openxmlformats.org/drawingml/2006/main">
              <a:ext uri="{FF2B5EF4-FFF2-40B4-BE49-F238E27FC236}">
                <a16:creationId xmlns:a16="http://schemas.microsoft.com/office/drawing/2014/main" id="{062E6B05-A539-4661-9AEA-D09E072DE9D7}"/>
              </a:ext>
            </a:extLst>
          </p:cNvPr>
          <p:cNvSpPr>
            <a:spLocks xmlns:a="http://schemas.openxmlformats.org/drawingml/2006/main" noGrp="1"/>
          </p:cNvSpPr>
          <p:nvPr/>
        </p:nvSpPr>
        <p:spPr>
          <a:xfrm xmlns:a="http://schemas.openxmlformats.org/drawingml/2006/main">
            <a:off x="3095625" y="3048000"/>
            <a:ext cx="304800" cy="0"/>
          </a:xfrm>
          <a:prstGeom xmlns:a="http://schemas.openxmlformats.org/drawingml/2006/main" prst="line">
            <a:avLst/>
          </a:prstGeom>
          <a:ln xmlns:a="http://schemas.openxmlformats.org/drawingml/2006/main" w="28575">
            <a:solidFill>
              <a:srgbClr val="C1943D"/>
            </a:solidFill>
            <a:prstDash val="solid"/>
          </a:ln>
        </p:spPr>
      </p:sp>
      <p:sp>
        <p:nvSpPr>
          <p:cNvPr id="9" name="">
            <a:extLst xmlns:a="http://schemas.openxmlformats.org/drawingml/2006/main">
              <a:ext uri="{FF2B5EF4-FFF2-40B4-BE49-F238E27FC236}">
                <a16:creationId xmlns:a16="http://schemas.microsoft.com/office/drawing/2014/main" id="{CFE4B9F7-480A-4771-A8F6-3BB3766E384E}"/>
              </a:ext>
            </a:extLst>
          </p:cNvPr>
          <p:cNvSpPr>
            <a:spLocks xmlns:a="http://schemas.openxmlformats.org/drawingml/2006/main" noGrp="1"/>
          </p:cNvSpPr>
          <p:nvPr/>
        </p:nvSpPr>
        <p:spPr>
          <a:xfrm xmlns:a="http://schemas.openxmlformats.org/drawingml/2006/main">
            <a:off x="3152775" y="2838450"/>
            <a:ext cx="323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C1943D"/>
                </a:solidFill>
              </a:defRPr>
            </a:defPPr>
            <a:lvl1pPr>
              <a:defRPr sz="1725" b="1">
                <a:solidFill>
                  <a:srgbClr val="C1943D"/>
                </a:solidFill>
              </a:defRPr>
            </a:lvl1pPr>
            <a:lvl2pPr>
              <a:defRPr sz="1725" b="1">
                <a:solidFill>
                  <a:srgbClr val="C1943D"/>
                </a:solidFill>
              </a:defRPr>
            </a:lvl2pPr>
            <a:lvl3pPr>
              <a:defRPr sz="1725" b="1">
                <a:solidFill>
                  <a:srgbClr val="C1943D"/>
                </a:solidFill>
              </a:defRPr>
            </a:lvl3pPr>
            <a:lvl4pPr>
              <a:defRPr sz="1725" b="1">
                <a:solidFill>
                  <a:srgbClr val="C1943D"/>
                </a:solidFill>
              </a:defRPr>
            </a:lvl4pPr>
            <a:lvl5pPr>
              <a:defRPr sz="1725" b="1">
                <a:solidFill>
                  <a:srgbClr val="C1943D"/>
                </a:solidFill>
              </a:defRPr>
            </a:lvl5pPr>
            <a:lvl6pPr>
              <a:defRPr sz="1725" b="1">
                <a:solidFill>
                  <a:srgbClr val="C1943D"/>
                </a:solidFill>
              </a:defRPr>
            </a:lvl6pPr>
            <a:lvl7pPr>
              <a:defRPr sz="1725" b="1">
                <a:solidFill>
                  <a:srgbClr val="C1943D"/>
                </a:solidFill>
              </a:defRPr>
            </a:lvl7pPr>
            <a:lvl8pPr>
              <a:defRPr sz="1725" b="1">
                <a:solidFill>
                  <a:srgbClr val="C1943D"/>
                </a:solidFill>
              </a:defRPr>
            </a:lvl8pPr>
            <a:lvl9pPr>
              <a:defRPr sz="1725" b="1">
                <a:solidFill>
                  <a:srgbClr val="C1943D"/>
                </a:solidFill>
              </a:defRPr>
            </a:lvl9pPr>
          </a:lstStyle>
          <a:p xmlns:a="http://schemas.openxmlformats.org/drawingml/2006/main">
            <a:pPr>
              <a:defRPr sz="1725" b="1">
                <a:solidFill>
                  <a:srgbClr val="C1943D"/>
                </a:solidFill>
              </a:defRPr>
            </a:pPr>
            <a:r>
              <a:rPr sz="1725" b="1">
                <a:solidFill>
                  <a:srgbClr val="C1943D"/>
                </a:solidFill>
              </a:rPr>
              <a:t>→</a:t>
            </a:r>
          </a:p>
        </p:txBody>
      </p:sp>
      <p:sp>
        <p:nvSpPr>
          <p:cNvPr id="10" name="">
            <a:extLst xmlns:a="http://schemas.openxmlformats.org/drawingml/2006/main">
              <a:ext uri="{FF2B5EF4-FFF2-40B4-BE49-F238E27FC236}">
                <a16:creationId xmlns:a16="http://schemas.microsoft.com/office/drawing/2014/main" id="{D503B92C-AC18-4282-AB81-DEE66F4E6D42}"/>
              </a:ext>
            </a:extLst>
          </p:cNvPr>
          <p:cNvSpPr>
            <a:spLocks xmlns:a="http://schemas.openxmlformats.org/drawingml/2006/main" noGrp="1"/>
          </p:cNvSpPr>
          <p:nvPr/>
        </p:nvSpPr>
        <p:spPr>
          <a:xfrm xmlns:a="http://schemas.openxmlformats.org/drawingml/2006/main">
            <a:off x="3476625" y="2381250"/>
            <a:ext cx="2381250" cy="133350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9E2E5"/>
            </a:solidFill>
            <a:prstDash val="solid"/>
          </a:ln>
        </p:spPr>
      </p:sp>
      <p:sp>
        <p:nvSpPr>
          <p:cNvPr id="11" name="">
            <a:extLst xmlns:a="http://schemas.openxmlformats.org/drawingml/2006/main">
              <a:ext uri="{FF2B5EF4-FFF2-40B4-BE49-F238E27FC236}">
                <a16:creationId xmlns:a16="http://schemas.microsoft.com/office/drawing/2014/main" id="{676EDBF6-45EC-4BEC-BB1E-BF9BC15BF93C}"/>
              </a:ext>
            </a:extLst>
          </p:cNvPr>
          <p:cNvSpPr>
            <a:spLocks xmlns:a="http://schemas.openxmlformats.org/drawingml/2006/main" noGrp="1"/>
          </p:cNvSpPr>
          <p:nvPr/>
        </p:nvSpPr>
        <p:spPr>
          <a:xfrm xmlns:a="http://schemas.openxmlformats.org/drawingml/2006/main">
            <a:off x="3648075" y="2581275"/>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73344"/>
                </a:solidFill>
              </a:defRPr>
            </a:defPPr>
            <a:lvl1pPr>
              <a:defRPr sz="1500" b="1">
                <a:solidFill>
                  <a:srgbClr val="173344"/>
                </a:solidFill>
              </a:defRPr>
            </a:lvl1pPr>
            <a:lvl2pPr>
              <a:defRPr sz="1500" b="1">
                <a:solidFill>
                  <a:srgbClr val="173344"/>
                </a:solidFill>
              </a:defRPr>
            </a:lvl2pPr>
            <a:lvl3pPr>
              <a:defRPr sz="1500" b="1">
                <a:solidFill>
                  <a:srgbClr val="173344"/>
                </a:solidFill>
              </a:defRPr>
            </a:lvl3pPr>
            <a:lvl4pPr>
              <a:defRPr sz="1500" b="1">
                <a:solidFill>
                  <a:srgbClr val="173344"/>
                </a:solidFill>
              </a:defRPr>
            </a:lvl4pPr>
            <a:lvl5pPr>
              <a:defRPr sz="1500" b="1">
                <a:solidFill>
                  <a:srgbClr val="173344"/>
                </a:solidFill>
              </a:defRPr>
            </a:lvl5pPr>
            <a:lvl6pPr>
              <a:defRPr sz="1500" b="1">
                <a:solidFill>
                  <a:srgbClr val="173344"/>
                </a:solidFill>
              </a:defRPr>
            </a:lvl6pPr>
            <a:lvl7pPr>
              <a:defRPr sz="1500" b="1">
                <a:solidFill>
                  <a:srgbClr val="173344"/>
                </a:solidFill>
              </a:defRPr>
            </a:lvl7pPr>
            <a:lvl8pPr>
              <a:defRPr sz="1500" b="1">
                <a:solidFill>
                  <a:srgbClr val="173344"/>
                </a:solidFill>
              </a:defRPr>
            </a:lvl8pPr>
            <a:lvl9pPr>
              <a:defRPr sz="1500" b="1">
                <a:solidFill>
                  <a:srgbClr val="173344"/>
                </a:solidFill>
              </a:defRPr>
            </a:lvl9pPr>
          </a:lstStyle>
          <a:p xmlns:a="http://schemas.openxmlformats.org/drawingml/2006/main">
            <a:pPr>
              <a:defRPr sz="1500" b="1">
                <a:solidFill>
                  <a:srgbClr val="173344"/>
                </a:solidFill>
              </a:defRPr>
            </a:pPr>
            <a:r>
              <a:rPr sz="1500" b="1">
                <a:solidFill>
                  <a:srgbClr val="173344"/>
                </a:solidFill>
              </a:rPr>
              <a:t>Ageing</a:t>
            </a:r>
          </a:p>
        </p:txBody>
      </p:sp>
      <p:sp>
        <p:nvSpPr>
          <p:cNvPr id="12" name="">
            <a:extLst xmlns:a="http://schemas.openxmlformats.org/drawingml/2006/main">
              <a:ext uri="{FF2B5EF4-FFF2-40B4-BE49-F238E27FC236}">
                <a16:creationId xmlns:a16="http://schemas.microsoft.com/office/drawing/2014/main" id="{42020DFE-F967-444A-9074-9F8878BED250}"/>
              </a:ext>
            </a:extLst>
          </p:cNvPr>
          <p:cNvSpPr>
            <a:spLocks xmlns:a="http://schemas.openxmlformats.org/drawingml/2006/main" noGrp="1"/>
          </p:cNvSpPr>
          <p:nvPr/>
        </p:nvSpPr>
        <p:spPr>
          <a:xfrm xmlns:a="http://schemas.openxmlformats.org/drawingml/2006/main">
            <a:off x="3648075" y="2971800"/>
            <a:ext cx="2047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96D78"/>
                </a:solidFill>
              </a:defRPr>
            </a:defPPr>
            <a:lvl1pPr>
              <a:defRPr sz="1200" b="0">
                <a:solidFill>
                  <a:srgbClr val="596D78"/>
                </a:solidFill>
              </a:defRPr>
            </a:lvl1pPr>
            <a:lvl2pPr>
              <a:defRPr sz="1200" b="0">
                <a:solidFill>
                  <a:srgbClr val="596D78"/>
                </a:solidFill>
              </a:defRPr>
            </a:lvl2pPr>
            <a:lvl3pPr>
              <a:defRPr sz="1200" b="0">
                <a:solidFill>
                  <a:srgbClr val="596D78"/>
                </a:solidFill>
              </a:defRPr>
            </a:lvl3pPr>
            <a:lvl4pPr>
              <a:defRPr sz="1200" b="0">
                <a:solidFill>
                  <a:srgbClr val="596D78"/>
                </a:solidFill>
              </a:defRPr>
            </a:lvl4pPr>
            <a:lvl5pPr>
              <a:defRPr sz="1200" b="0">
                <a:solidFill>
                  <a:srgbClr val="596D78"/>
                </a:solidFill>
              </a:defRPr>
            </a:lvl5pPr>
            <a:lvl6pPr>
              <a:defRPr sz="1200" b="0">
                <a:solidFill>
                  <a:srgbClr val="596D78"/>
                </a:solidFill>
              </a:defRPr>
            </a:lvl6pPr>
            <a:lvl7pPr>
              <a:defRPr sz="1200" b="0">
                <a:solidFill>
                  <a:srgbClr val="596D78"/>
                </a:solidFill>
              </a:defRPr>
            </a:lvl7pPr>
            <a:lvl8pPr>
              <a:defRPr sz="1200" b="0">
                <a:solidFill>
                  <a:srgbClr val="596D78"/>
                </a:solidFill>
              </a:defRPr>
            </a:lvl8pPr>
            <a:lvl9pPr>
              <a:defRPr sz="1200" b="0">
                <a:solidFill>
                  <a:srgbClr val="596D78"/>
                </a:solidFill>
              </a:defRPr>
            </a:lvl9pPr>
          </a:lstStyle>
          <a:p xmlns:a="http://schemas.openxmlformats.org/drawingml/2006/main">
            <a:pPr>
              <a:defRPr sz="1200" b="0">
                <a:solidFill>
                  <a:srgbClr val="596D78"/>
                </a:solidFill>
              </a:defRPr>
            </a:pPr>
            <a:r>
              <a:rPr sz="1200" b="0">
                <a:solidFill>
                  <a:srgbClr val="596D78"/>
                </a:solidFill>
              </a:rPr>
              <a:t>Pension + health spending rise</a:t>
            </a:r>
          </a:p>
        </p:txBody>
      </p:sp>
      <p:sp>
        <p:nvSpPr>
          <p:cNvPr id="13" name="">
            <a:extLst xmlns:a="http://schemas.openxmlformats.org/drawingml/2006/main">
              <a:ext uri="{FF2B5EF4-FFF2-40B4-BE49-F238E27FC236}">
                <a16:creationId xmlns:a16="http://schemas.microsoft.com/office/drawing/2014/main" id="{9FAA840A-FCAA-466F-BA3A-DC3074E6174F}"/>
              </a:ext>
            </a:extLst>
          </p:cNvPr>
          <p:cNvSpPr>
            <a:spLocks xmlns:a="http://schemas.openxmlformats.org/drawingml/2006/main" noGrp="1"/>
          </p:cNvSpPr>
          <p:nvPr/>
        </p:nvSpPr>
        <p:spPr>
          <a:xfrm xmlns:a="http://schemas.openxmlformats.org/drawingml/2006/main">
            <a:off x="5905500" y="3048000"/>
            <a:ext cx="304800" cy="0"/>
          </a:xfrm>
          <a:prstGeom xmlns:a="http://schemas.openxmlformats.org/drawingml/2006/main" prst="line">
            <a:avLst/>
          </a:prstGeom>
          <a:ln xmlns:a="http://schemas.openxmlformats.org/drawingml/2006/main" w="28575">
            <a:solidFill>
              <a:srgbClr val="C1943D"/>
            </a:solidFill>
            <a:prstDash val="solid"/>
          </a:ln>
        </p:spPr>
      </p:sp>
      <p:sp>
        <p:nvSpPr>
          <p:cNvPr id="14" name="">
            <a:extLst xmlns:a="http://schemas.openxmlformats.org/drawingml/2006/main">
              <a:ext uri="{FF2B5EF4-FFF2-40B4-BE49-F238E27FC236}">
                <a16:creationId xmlns:a16="http://schemas.microsoft.com/office/drawing/2014/main" id="{C43B2C53-911D-4B3B-BD29-6F9A7DC4EAEB}"/>
              </a:ext>
            </a:extLst>
          </p:cNvPr>
          <p:cNvSpPr>
            <a:spLocks xmlns:a="http://schemas.openxmlformats.org/drawingml/2006/main" noGrp="1"/>
          </p:cNvSpPr>
          <p:nvPr/>
        </p:nvSpPr>
        <p:spPr>
          <a:xfrm xmlns:a="http://schemas.openxmlformats.org/drawingml/2006/main">
            <a:off x="5962650" y="2838450"/>
            <a:ext cx="323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C1943D"/>
                </a:solidFill>
              </a:defRPr>
            </a:defPPr>
            <a:lvl1pPr>
              <a:defRPr sz="1725" b="1">
                <a:solidFill>
                  <a:srgbClr val="C1943D"/>
                </a:solidFill>
              </a:defRPr>
            </a:lvl1pPr>
            <a:lvl2pPr>
              <a:defRPr sz="1725" b="1">
                <a:solidFill>
                  <a:srgbClr val="C1943D"/>
                </a:solidFill>
              </a:defRPr>
            </a:lvl2pPr>
            <a:lvl3pPr>
              <a:defRPr sz="1725" b="1">
                <a:solidFill>
                  <a:srgbClr val="C1943D"/>
                </a:solidFill>
              </a:defRPr>
            </a:lvl3pPr>
            <a:lvl4pPr>
              <a:defRPr sz="1725" b="1">
                <a:solidFill>
                  <a:srgbClr val="C1943D"/>
                </a:solidFill>
              </a:defRPr>
            </a:lvl4pPr>
            <a:lvl5pPr>
              <a:defRPr sz="1725" b="1">
                <a:solidFill>
                  <a:srgbClr val="C1943D"/>
                </a:solidFill>
              </a:defRPr>
            </a:lvl5pPr>
            <a:lvl6pPr>
              <a:defRPr sz="1725" b="1">
                <a:solidFill>
                  <a:srgbClr val="C1943D"/>
                </a:solidFill>
              </a:defRPr>
            </a:lvl6pPr>
            <a:lvl7pPr>
              <a:defRPr sz="1725" b="1">
                <a:solidFill>
                  <a:srgbClr val="C1943D"/>
                </a:solidFill>
              </a:defRPr>
            </a:lvl7pPr>
            <a:lvl8pPr>
              <a:defRPr sz="1725" b="1">
                <a:solidFill>
                  <a:srgbClr val="C1943D"/>
                </a:solidFill>
              </a:defRPr>
            </a:lvl8pPr>
            <a:lvl9pPr>
              <a:defRPr sz="1725" b="1">
                <a:solidFill>
                  <a:srgbClr val="C1943D"/>
                </a:solidFill>
              </a:defRPr>
            </a:lvl9pPr>
          </a:lstStyle>
          <a:p xmlns:a="http://schemas.openxmlformats.org/drawingml/2006/main">
            <a:pPr>
              <a:defRPr sz="1725" b="1">
                <a:solidFill>
                  <a:srgbClr val="C1943D"/>
                </a:solidFill>
              </a:defRPr>
            </a:pPr>
            <a:r>
              <a:rPr sz="1725" b="1">
                <a:solidFill>
                  <a:srgbClr val="C1943D"/>
                </a:solidFill>
              </a:rPr>
              <a:t>→</a:t>
            </a:r>
          </a:p>
        </p:txBody>
      </p:sp>
      <p:sp>
        <p:nvSpPr>
          <p:cNvPr id="15" name="">
            <a:extLst xmlns:a="http://schemas.openxmlformats.org/drawingml/2006/main">
              <a:ext uri="{FF2B5EF4-FFF2-40B4-BE49-F238E27FC236}">
                <a16:creationId xmlns:a16="http://schemas.microsoft.com/office/drawing/2014/main" id="{9D10224A-7D92-4599-AE23-CB13B1F67444}"/>
              </a:ext>
            </a:extLst>
          </p:cNvPr>
          <p:cNvSpPr>
            <a:spLocks xmlns:a="http://schemas.openxmlformats.org/drawingml/2006/main" noGrp="1"/>
          </p:cNvSpPr>
          <p:nvPr/>
        </p:nvSpPr>
        <p:spPr>
          <a:xfrm xmlns:a="http://schemas.openxmlformats.org/drawingml/2006/main">
            <a:off x="6286500" y="2381250"/>
            <a:ext cx="2381250" cy="133350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9E2E5"/>
            </a:solidFill>
            <a:prstDash val="solid"/>
          </a:ln>
        </p:spPr>
      </p:sp>
      <p:sp>
        <p:nvSpPr>
          <p:cNvPr id="16" name="">
            <a:extLst xmlns:a="http://schemas.openxmlformats.org/drawingml/2006/main">
              <a:ext uri="{FF2B5EF4-FFF2-40B4-BE49-F238E27FC236}">
                <a16:creationId xmlns:a16="http://schemas.microsoft.com/office/drawing/2014/main" id="{B558A401-E164-4F54-863E-AFA8177ADE22}"/>
              </a:ext>
            </a:extLst>
          </p:cNvPr>
          <p:cNvSpPr>
            <a:spLocks xmlns:a="http://schemas.openxmlformats.org/drawingml/2006/main" noGrp="1"/>
          </p:cNvSpPr>
          <p:nvPr/>
        </p:nvSpPr>
        <p:spPr>
          <a:xfrm xmlns:a="http://schemas.openxmlformats.org/drawingml/2006/main">
            <a:off x="6457950" y="2581275"/>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73344"/>
                </a:solidFill>
              </a:defRPr>
            </a:defPPr>
            <a:lvl1pPr>
              <a:defRPr sz="1500" b="1">
                <a:solidFill>
                  <a:srgbClr val="173344"/>
                </a:solidFill>
              </a:defRPr>
            </a:lvl1pPr>
            <a:lvl2pPr>
              <a:defRPr sz="1500" b="1">
                <a:solidFill>
                  <a:srgbClr val="173344"/>
                </a:solidFill>
              </a:defRPr>
            </a:lvl2pPr>
            <a:lvl3pPr>
              <a:defRPr sz="1500" b="1">
                <a:solidFill>
                  <a:srgbClr val="173344"/>
                </a:solidFill>
              </a:defRPr>
            </a:lvl3pPr>
            <a:lvl4pPr>
              <a:defRPr sz="1500" b="1">
                <a:solidFill>
                  <a:srgbClr val="173344"/>
                </a:solidFill>
              </a:defRPr>
            </a:lvl4pPr>
            <a:lvl5pPr>
              <a:defRPr sz="1500" b="1">
                <a:solidFill>
                  <a:srgbClr val="173344"/>
                </a:solidFill>
              </a:defRPr>
            </a:lvl5pPr>
            <a:lvl6pPr>
              <a:defRPr sz="1500" b="1">
                <a:solidFill>
                  <a:srgbClr val="173344"/>
                </a:solidFill>
              </a:defRPr>
            </a:lvl6pPr>
            <a:lvl7pPr>
              <a:defRPr sz="1500" b="1">
                <a:solidFill>
                  <a:srgbClr val="173344"/>
                </a:solidFill>
              </a:defRPr>
            </a:lvl7pPr>
            <a:lvl8pPr>
              <a:defRPr sz="1500" b="1">
                <a:solidFill>
                  <a:srgbClr val="173344"/>
                </a:solidFill>
              </a:defRPr>
            </a:lvl8pPr>
            <a:lvl9pPr>
              <a:defRPr sz="1500" b="1">
                <a:solidFill>
                  <a:srgbClr val="173344"/>
                </a:solidFill>
              </a:defRPr>
            </a:lvl9pPr>
          </a:lstStyle>
          <a:p xmlns:a="http://schemas.openxmlformats.org/drawingml/2006/main">
            <a:pPr>
              <a:defRPr sz="1500" b="1">
                <a:solidFill>
                  <a:srgbClr val="173344"/>
                </a:solidFill>
              </a:defRPr>
            </a:pPr>
            <a:r>
              <a:rPr sz="1500" b="1">
                <a:solidFill>
                  <a:srgbClr val="173344"/>
                </a:solidFill>
              </a:rPr>
              <a:t>Scenario</a:t>
            </a:r>
          </a:p>
        </p:txBody>
      </p:sp>
      <p:sp>
        <p:nvSpPr>
          <p:cNvPr id="17" name="">
            <a:extLst xmlns:a="http://schemas.openxmlformats.org/drawingml/2006/main">
              <a:ext uri="{FF2B5EF4-FFF2-40B4-BE49-F238E27FC236}">
                <a16:creationId xmlns:a16="http://schemas.microsoft.com/office/drawing/2014/main" id="{B618D2D3-5F79-478B-AD8E-A34B677D82D9}"/>
              </a:ext>
            </a:extLst>
          </p:cNvPr>
          <p:cNvSpPr>
            <a:spLocks xmlns:a="http://schemas.openxmlformats.org/drawingml/2006/main" noGrp="1"/>
          </p:cNvSpPr>
          <p:nvPr/>
        </p:nvSpPr>
        <p:spPr>
          <a:xfrm xmlns:a="http://schemas.openxmlformats.org/drawingml/2006/main">
            <a:off x="6457950" y="2971800"/>
            <a:ext cx="2047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96D78"/>
                </a:solidFill>
              </a:defRPr>
            </a:defPPr>
            <a:lvl1pPr>
              <a:defRPr sz="1200" b="0">
                <a:solidFill>
                  <a:srgbClr val="596D78"/>
                </a:solidFill>
              </a:defRPr>
            </a:lvl1pPr>
            <a:lvl2pPr>
              <a:defRPr sz="1200" b="0">
                <a:solidFill>
                  <a:srgbClr val="596D78"/>
                </a:solidFill>
              </a:defRPr>
            </a:lvl2pPr>
            <a:lvl3pPr>
              <a:defRPr sz="1200" b="0">
                <a:solidFill>
                  <a:srgbClr val="596D78"/>
                </a:solidFill>
              </a:defRPr>
            </a:lvl3pPr>
            <a:lvl4pPr>
              <a:defRPr sz="1200" b="0">
                <a:solidFill>
                  <a:srgbClr val="596D78"/>
                </a:solidFill>
              </a:defRPr>
            </a:lvl4pPr>
            <a:lvl5pPr>
              <a:defRPr sz="1200" b="0">
                <a:solidFill>
                  <a:srgbClr val="596D78"/>
                </a:solidFill>
              </a:defRPr>
            </a:lvl5pPr>
            <a:lvl6pPr>
              <a:defRPr sz="1200" b="0">
                <a:solidFill>
                  <a:srgbClr val="596D78"/>
                </a:solidFill>
              </a:defRPr>
            </a:lvl6pPr>
            <a:lvl7pPr>
              <a:defRPr sz="1200" b="0">
                <a:solidFill>
                  <a:srgbClr val="596D78"/>
                </a:solidFill>
              </a:defRPr>
            </a:lvl7pPr>
            <a:lvl8pPr>
              <a:defRPr sz="1200" b="0">
                <a:solidFill>
                  <a:srgbClr val="596D78"/>
                </a:solidFill>
              </a:defRPr>
            </a:lvl8pPr>
            <a:lvl9pPr>
              <a:defRPr sz="1200" b="0">
                <a:solidFill>
                  <a:srgbClr val="596D78"/>
                </a:solidFill>
              </a:defRPr>
            </a:lvl9pPr>
          </a:lstStyle>
          <a:p xmlns:a="http://schemas.openxmlformats.org/drawingml/2006/main">
            <a:pPr>
              <a:defRPr sz="1200" b="0">
                <a:solidFill>
                  <a:srgbClr val="596D78"/>
                </a:solidFill>
              </a:defRPr>
            </a:pPr>
            <a:r>
              <a:rPr sz="1200" b="0">
                <a:solidFill>
                  <a:srgbClr val="596D78"/>
                </a:solidFill>
              </a:rPr>
              <a:t>Alternative spending path</a:t>
            </a:r>
          </a:p>
        </p:txBody>
      </p:sp>
      <p:sp>
        <p:nvSpPr>
          <p:cNvPr id="18" name="">
            <a:extLst xmlns:a="http://schemas.openxmlformats.org/drawingml/2006/main">
              <a:ext uri="{FF2B5EF4-FFF2-40B4-BE49-F238E27FC236}">
                <a16:creationId xmlns:a16="http://schemas.microsoft.com/office/drawing/2014/main" id="{399F01A9-4721-4E61-A92D-6EEFE652F203}"/>
              </a:ext>
            </a:extLst>
          </p:cNvPr>
          <p:cNvSpPr>
            <a:spLocks xmlns:a="http://schemas.openxmlformats.org/drawingml/2006/main" noGrp="1"/>
          </p:cNvSpPr>
          <p:nvPr/>
        </p:nvSpPr>
        <p:spPr>
          <a:xfrm xmlns:a="http://schemas.openxmlformats.org/drawingml/2006/main">
            <a:off x="8715375" y="3048000"/>
            <a:ext cx="304800" cy="0"/>
          </a:xfrm>
          <a:prstGeom xmlns:a="http://schemas.openxmlformats.org/drawingml/2006/main" prst="line">
            <a:avLst/>
          </a:prstGeom>
          <a:ln xmlns:a="http://schemas.openxmlformats.org/drawingml/2006/main" w="28575">
            <a:solidFill>
              <a:srgbClr val="C1943D"/>
            </a:solidFill>
            <a:prstDash val="solid"/>
          </a:ln>
        </p:spPr>
      </p:sp>
      <p:sp>
        <p:nvSpPr>
          <p:cNvPr id="19" name="">
            <a:extLst xmlns:a="http://schemas.openxmlformats.org/drawingml/2006/main">
              <a:ext uri="{FF2B5EF4-FFF2-40B4-BE49-F238E27FC236}">
                <a16:creationId xmlns:a16="http://schemas.microsoft.com/office/drawing/2014/main" id="{2C3B88CC-46B3-4BA7-AB17-B486BF723A7D}"/>
              </a:ext>
            </a:extLst>
          </p:cNvPr>
          <p:cNvSpPr>
            <a:spLocks xmlns:a="http://schemas.openxmlformats.org/drawingml/2006/main" noGrp="1"/>
          </p:cNvSpPr>
          <p:nvPr/>
        </p:nvSpPr>
        <p:spPr>
          <a:xfrm xmlns:a="http://schemas.openxmlformats.org/drawingml/2006/main">
            <a:off x="8772525" y="2838450"/>
            <a:ext cx="323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C1943D"/>
                </a:solidFill>
              </a:defRPr>
            </a:defPPr>
            <a:lvl1pPr>
              <a:defRPr sz="1725" b="1">
                <a:solidFill>
                  <a:srgbClr val="C1943D"/>
                </a:solidFill>
              </a:defRPr>
            </a:lvl1pPr>
            <a:lvl2pPr>
              <a:defRPr sz="1725" b="1">
                <a:solidFill>
                  <a:srgbClr val="C1943D"/>
                </a:solidFill>
              </a:defRPr>
            </a:lvl2pPr>
            <a:lvl3pPr>
              <a:defRPr sz="1725" b="1">
                <a:solidFill>
                  <a:srgbClr val="C1943D"/>
                </a:solidFill>
              </a:defRPr>
            </a:lvl3pPr>
            <a:lvl4pPr>
              <a:defRPr sz="1725" b="1">
                <a:solidFill>
                  <a:srgbClr val="C1943D"/>
                </a:solidFill>
              </a:defRPr>
            </a:lvl4pPr>
            <a:lvl5pPr>
              <a:defRPr sz="1725" b="1">
                <a:solidFill>
                  <a:srgbClr val="C1943D"/>
                </a:solidFill>
              </a:defRPr>
            </a:lvl5pPr>
            <a:lvl6pPr>
              <a:defRPr sz="1725" b="1">
                <a:solidFill>
                  <a:srgbClr val="C1943D"/>
                </a:solidFill>
              </a:defRPr>
            </a:lvl6pPr>
            <a:lvl7pPr>
              <a:defRPr sz="1725" b="1">
                <a:solidFill>
                  <a:srgbClr val="C1943D"/>
                </a:solidFill>
              </a:defRPr>
            </a:lvl7pPr>
            <a:lvl8pPr>
              <a:defRPr sz="1725" b="1">
                <a:solidFill>
                  <a:srgbClr val="C1943D"/>
                </a:solidFill>
              </a:defRPr>
            </a:lvl8pPr>
            <a:lvl9pPr>
              <a:defRPr sz="1725" b="1">
                <a:solidFill>
                  <a:srgbClr val="C1943D"/>
                </a:solidFill>
              </a:defRPr>
            </a:lvl9pPr>
          </a:lstStyle>
          <a:p xmlns:a="http://schemas.openxmlformats.org/drawingml/2006/main">
            <a:pPr>
              <a:defRPr sz="1725" b="1">
                <a:solidFill>
                  <a:srgbClr val="C1943D"/>
                </a:solidFill>
              </a:defRPr>
            </a:pPr>
            <a:r>
              <a:rPr sz="1725" b="1">
                <a:solidFill>
                  <a:srgbClr val="C1943D"/>
                </a:solidFill>
              </a:rPr>
              <a:t>→</a:t>
            </a:r>
          </a:p>
        </p:txBody>
      </p:sp>
      <p:sp>
        <p:nvSpPr>
          <p:cNvPr id="20" name="">
            <a:extLst xmlns:a="http://schemas.openxmlformats.org/drawingml/2006/main">
              <a:ext uri="{FF2B5EF4-FFF2-40B4-BE49-F238E27FC236}">
                <a16:creationId xmlns:a16="http://schemas.microsoft.com/office/drawing/2014/main" id="{5D48D356-4F05-47CD-8B07-7DD6AE09E2D2}"/>
              </a:ext>
            </a:extLst>
          </p:cNvPr>
          <p:cNvSpPr>
            <a:spLocks xmlns:a="http://schemas.openxmlformats.org/drawingml/2006/main" noGrp="1"/>
          </p:cNvSpPr>
          <p:nvPr/>
        </p:nvSpPr>
        <p:spPr>
          <a:xfrm xmlns:a="http://schemas.openxmlformats.org/drawingml/2006/main">
            <a:off x="9096375" y="2381250"/>
            <a:ext cx="2381250" cy="1333500"/>
          </a:xfrm>
          <a:prstGeom xmlns:a="http://schemas.openxmlformats.org/drawingml/2006/main" prst="roundRect">
            <a:avLst>
              <a:gd name="adj" fmla="val 8571"/>
            </a:avLst>
          </a:prstGeom>
          <a:solidFill xmlns:a="http://schemas.openxmlformats.org/drawingml/2006/main">
            <a:srgbClr val="E8F2EF"/>
          </a:solidFill>
          <a:ln xmlns:a="http://schemas.openxmlformats.org/drawingml/2006/main" w="9525">
            <a:solidFill>
              <a:srgbClr val="A8D1C8"/>
            </a:solidFill>
            <a:prstDash val="solid"/>
          </a:ln>
        </p:spPr>
      </p:sp>
      <p:sp>
        <p:nvSpPr>
          <p:cNvPr id="21" name="">
            <a:extLst xmlns:a="http://schemas.openxmlformats.org/drawingml/2006/main">
              <a:ext uri="{FF2B5EF4-FFF2-40B4-BE49-F238E27FC236}">
                <a16:creationId xmlns:a16="http://schemas.microsoft.com/office/drawing/2014/main" id="{94AA153C-5894-473F-9A2C-BDB986D6F877}"/>
              </a:ext>
            </a:extLst>
          </p:cNvPr>
          <p:cNvSpPr>
            <a:spLocks xmlns:a="http://schemas.openxmlformats.org/drawingml/2006/main" noGrp="1"/>
          </p:cNvSpPr>
          <p:nvPr/>
        </p:nvSpPr>
        <p:spPr>
          <a:xfrm xmlns:a="http://schemas.openxmlformats.org/drawingml/2006/main">
            <a:off x="9267825" y="2581275"/>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68184"/>
                </a:solidFill>
              </a:defRPr>
            </a:defPPr>
            <a:lvl1pPr>
              <a:defRPr sz="1500" b="1">
                <a:solidFill>
                  <a:srgbClr val="168184"/>
                </a:solidFill>
              </a:defRPr>
            </a:lvl1pPr>
            <a:lvl2pPr>
              <a:defRPr sz="1500" b="1">
                <a:solidFill>
                  <a:srgbClr val="168184"/>
                </a:solidFill>
              </a:defRPr>
            </a:lvl2pPr>
            <a:lvl3pPr>
              <a:defRPr sz="1500" b="1">
                <a:solidFill>
                  <a:srgbClr val="168184"/>
                </a:solidFill>
              </a:defRPr>
            </a:lvl3pPr>
            <a:lvl4pPr>
              <a:defRPr sz="1500" b="1">
                <a:solidFill>
                  <a:srgbClr val="168184"/>
                </a:solidFill>
              </a:defRPr>
            </a:lvl4pPr>
            <a:lvl5pPr>
              <a:defRPr sz="1500" b="1">
                <a:solidFill>
                  <a:srgbClr val="168184"/>
                </a:solidFill>
              </a:defRPr>
            </a:lvl5pPr>
            <a:lvl6pPr>
              <a:defRPr sz="1500" b="1">
                <a:solidFill>
                  <a:srgbClr val="168184"/>
                </a:solidFill>
              </a:defRPr>
            </a:lvl6pPr>
            <a:lvl7pPr>
              <a:defRPr sz="1500" b="1">
                <a:solidFill>
                  <a:srgbClr val="168184"/>
                </a:solidFill>
              </a:defRPr>
            </a:lvl7pPr>
            <a:lvl8pPr>
              <a:defRPr sz="1500" b="1">
                <a:solidFill>
                  <a:srgbClr val="168184"/>
                </a:solidFill>
              </a:defRPr>
            </a:lvl8pPr>
            <a:lvl9pPr>
              <a:defRPr sz="1500" b="1">
                <a:solidFill>
                  <a:srgbClr val="168184"/>
                </a:solidFill>
              </a:defRPr>
            </a:lvl9pPr>
          </a:lstStyle>
          <a:p xmlns:a="http://schemas.openxmlformats.org/drawingml/2006/main">
            <a:pPr>
              <a:defRPr sz="1500" b="1">
                <a:solidFill>
                  <a:srgbClr val="168184"/>
                </a:solidFill>
              </a:defRPr>
            </a:pPr>
            <a:r>
              <a:rPr sz="1500" b="1">
                <a:solidFill>
                  <a:srgbClr val="168184"/>
                </a:solidFill>
              </a:rPr>
              <a:t>Difference</a:t>
            </a:r>
          </a:p>
        </p:txBody>
      </p:sp>
      <p:sp>
        <p:nvSpPr>
          <p:cNvPr id="22" name="">
            <a:extLst xmlns:a="http://schemas.openxmlformats.org/drawingml/2006/main">
              <a:ext uri="{FF2B5EF4-FFF2-40B4-BE49-F238E27FC236}">
                <a16:creationId xmlns:a16="http://schemas.microsoft.com/office/drawing/2014/main" id="{104019E7-0B92-41BE-9D56-557E8712F3C4}"/>
              </a:ext>
            </a:extLst>
          </p:cNvPr>
          <p:cNvSpPr>
            <a:spLocks xmlns:a="http://schemas.openxmlformats.org/drawingml/2006/main" noGrp="1"/>
          </p:cNvSpPr>
          <p:nvPr/>
        </p:nvSpPr>
        <p:spPr>
          <a:xfrm xmlns:a="http://schemas.openxmlformats.org/drawingml/2006/main">
            <a:off x="9267825" y="2971800"/>
            <a:ext cx="2047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96D78"/>
                </a:solidFill>
              </a:defRPr>
            </a:defPPr>
            <a:lvl1pPr>
              <a:defRPr sz="1200" b="0">
                <a:solidFill>
                  <a:srgbClr val="596D78"/>
                </a:solidFill>
              </a:defRPr>
            </a:lvl1pPr>
            <a:lvl2pPr>
              <a:defRPr sz="1200" b="0">
                <a:solidFill>
                  <a:srgbClr val="596D78"/>
                </a:solidFill>
              </a:defRPr>
            </a:lvl2pPr>
            <a:lvl3pPr>
              <a:defRPr sz="1200" b="0">
                <a:solidFill>
                  <a:srgbClr val="596D78"/>
                </a:solidFill>
              </a:defRPr>
            </a:lvl3pPr>
            <a:lvl4pPr>
              <a:defRPr sz="1200" b="0">
                <a:solidFill>
                  <a:srgbClr val="596D78"/>
                </a:solidFill>
              </a:defRPr>
            </a:lvl4pPr>
            <a:lvl5pPr>
              <a:defRPr sz="1200" b="0">
                <a:solidFill>
                  <a:srgbClr val="596D78"/>
                </a:solidFill>
              </a:defRPr>
            </a:lvl5pPr>
            <a:lvl6pPr>
              <a:defRPr sz="1200" b="0">
                <a:solidFill>
                  <a:srgbClr val="596D78"/>
                </a:solidFill>
              </a:defRPr>
            </a:lvl6pPr>
            <a:lvl7pPr>
              <a:defRPr sz="1200" b="0">
                <a:solidFill>
                  <a:srgbClr val="596D78"/>
                </a:solidFill>
              </a:defRPr>
            </a:lvl7pPr>
            <a:lvl8pPr>
              <a:defRPr sz="1200" b="0">
                <a:solidFill>
                  <a:srgbClr val="596D78"/>
                </a:solidFill>
              </a:defRPr>
            </a:lvl8pPr>
            <a:lvl9pPr>
              <a:defRPr sz="1200" b="0">
                <a:solidFill>
                  <a:srgbClr val="596D78"/>
                </a:solidFill>
              </a:defRPr>
            </a:lvl9pPr>
          </a:lstStyle>
          <a:p xmlns:a="http://schemas.openxmlformats.org/drawingml/2006/main">
            <a:pPr>
              <a:defRPr sz="1200" b="0">
                <a:solidFill>
                  <a:srgbClr val="596D78"/>
                </a:solidFill>
              </a:defRPr>
            </a:pPr>
            <a:r>
              <a:rPr sz="1200" b="0">
                <a:solidFill>
                  <a:srgbClr val="596D78"/>
                </a:solidFill>
              </a:rPr>
              <a:t>Scenario outcome minus S0</a:t>
            </a:r>
          </a:p>
        </p:txBody>
      </p:sp>
      <p:sp>
        <p:nvSpPr>
          <p:cNvPr id="23" name="">
            <a:extLst xmlns:a="http://schemas.openxmlformats.org/drawingml/2006/main">
              <a:ext uri="{FF2B5EF4-FFF2-40B4-BE49-F238E27FC236}">
                <a16:creationId xmlns:a16="http://schemas.microsoft.com/office/drawing/2014/main" id="{9FEC66C7-F4C3-48FA-8570-ABBED7F805DF}"/>
              </a:ext>
            </a:extLst>
          </p:cNvPr>
          <p:cNvSpPr>
            <a:spLocks xmlns:a="http://schemas.openxmlformats.org/drawingml/2006/main" noGrp="1"/>
          </p:cNvSpPr>
          <p:nvPr/>
        </p:nvSpPr>
        <p:spPr>
          <a:xfrm xmlns:a="http://schemas.openxmlformats.org/drawingml/2006/main">
            <a:off x="666750" y="4381500"/>
            <a:ext cx="1028700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9525">
            <a:solidFill>
              <a:srgbClr val="D9E2E5"/>
            </a:solidFill>
            <a:prstDash val="solid"/>
          </a:ln>
        </p:spPr>
      </p:sp>
      <p:sp>
        <p:nvSpPr>
          <p:cNvPr id="24" name="">
            <a:extLst xmlns:a="http://schemas.openxmlformats.org/drawingml/2006/main">
              <a:ext uri="{FF2B5EF4-FFF2-40B4-BE49-F238E27FC236}">
                <a16:creationId xmlns:a16="http://schemas.microsoft.com/office/drawing/2014/main" id="{AA2BFC08-E0D3-4EBA-8005-0DC2EBB77D90}"/>
              </a:ext>
            </a:extLst>
          </p:cNvPr>
          <p:cNvSpPr>
            <a:spLocks xmlns:a="http://schemas.openxmlformats.org/drawingml/2006/main" noGrp="1"/>
          </p:cNvSpPr>
          <p:nvPr/>
        </p:nvSpPr>
        <p:spPr>
          <a:xfrm xmlns:a="http://schemas.openxmlformats.org/drawingml/2006/main">
            <a:off x="666750" y="4381500"/>
            <a:ext cx="57150" cy="1238250"/>
          </a:xfrm>
          <a:prstGeom xmlns:a="http://schemas.openxmlformats.org/drawingml/2006/main" prst="rect">
            <a:avLst/>
          </a:prstGeom>
          <a:solidFill xmlns:a="http://schemas.openxmlformats.org/drawingml/2006/main">
            <a:srgbClr val="C1943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572D196-88AB-4B20-B3A3-E436CDAAF83A}"/>
              </a:ext>
            </a:extLst>
          </p:cNvPr>
          <p:cNvSpPr>
            <a:spLocks xmlns:a="http://schemas.openxmlformats.org/drawingml/2006/main" noGrp="1"/>
          </p:cNvSpPr>
          <p:nvPr/>
        </p:nvSpPr>
        <p:spPr>
          <a:xfrm xmlns:a="http://schemas.openxmlformats.org/drawingml/2006/main">
            <a:off x="876300" y="4552950"/>
            <a:ext cx="9867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173344"/>
                </a:solidFill>
              </a:defRPr>
            </a:defPPr>
            <a:lvl1pPr>
              <a:defRPr sz="1425" b="1">
                <a:solidFill>
                  <a:srgbClr val="173344"/>
                </a:solidFill>
              </a:defRPr>
            </a:lvl1pPr>
            <a:lvl2pPr>
              <a:defRPr sz="1425" b="1">
                <a:solidFill>
                  <a:srgbClr val="173344"/>
                </a:solidFill>
              </a:defRPr>
            </a:lvl2pPr>
            <a:lvl3pPr>
              <a:defRPr sz="1425" b="1">
                <a:solidFill>
                  <a:srgbClr val="173344"/>
                </a:solidFill>
              </a:defRPr>
            </a:lvl3pPr>
            <a:lvl4pPr>
              <a:defRPr sz="1425" b="1">
                <a:solidFill>
                  <a:srgbClr val="173344"/>
                </a:solidFill>
              </a:defRPr>
            </a:lvl4pPr>
            <a:lvl5pPr>
              <a:defRPr sz="1425" b="1">
                <a:solidFill>
                  <a:srgbClr val="173344"/>
                </a:solidFill>
              </a:defRPr>
            </a:lvl5pPr>
            <a:lvl6pPr>
              <a:defRPr sz="1425" b="1">
                <a:solidFill>
                  <a:srgbClr val="173344"/>
                </a:solidFill>
              </a:defRPr>
            </a:lvl6pPr>
            <a:lvl7pPr>
              <a:defRPr sz="1425" b="1">
                <a:solidFill>
                  <a:srgbClr val="173344"/>
                </a:solidFill>
              </a:defRPr>
            </a:lvl7pPr>
            <a:lvl8pPr>
              <a:defRPr sz="1425" b="1">
                <a:solidFill>
                  <a:srgbClr val="173344"/>
                </a:solidFill>
              </a:defRPr>
            </a:lvl8pPr>
            <a:lvl9pPr>
              <a:defRPr sz="1425" b="1">
                <a:solidFill>
                  <a:srgbClr val="173344"/>
                </a:solidFill>
              </a:defRPr>
            </a:lvl9pPr>
          </a:lstStyle>
          <a:p xmlns:a="http://schemas.openxmlformats.org/drawingml/2006/main">
            <a:pPr>
              <a:defRPr sz="1425" b="1">
                <a:solidFill>
                  <a:srgbClr val="173344"/>
                </a:solidFill>
              </a:defRPr>
            </a:pPr>
            <a:r>
              <a:rPr sz="1425" b="1">
                <a:solidFill>
                  <a:srgbClr val="173344"/>
                </a:solidFill>
              </a:rPr>
              <a:t>S0 is an anchor, not an outcome claim</a:t>
            </a:r>
          </a:p>
        </p:txBody>
      </p:sp>
      <p:sp>
        <p:nvSpPr>
          <p:cNvPr id="26" name="">
            <a:extLst xmlns:a="http://schemas.openxmlformats.org/drawingml/2006/main">
              <a:ext uri="{FF2B5EF4-FFF2-40B4-BE49-F238E27FC236}">
                <a16:creationId xmlns:a16="http://schemas.microsoft.com/office/drawing/2014/main" id="{53E99182-EB8E-43C6-9C1B-59A306954895}"/>
              </a:ext>
            </a:extLst>
          </p:cNvPr>
          <p:cNvSpPr>
            <a:spLocks xmlns:a="http://schemas.openxmlformats.org/drawingml/2006/main" noGrp="1"/>
          </p:cNvSpPr>
          <p:nvPr/>
        </p:nvSpPr>
        <p:spPr>
          <a:xfrm xmlns:a="http://schemas.openxmlformats.org/drawingml/2006/main">
            <a:off x="876300" y="4972050"/>
            <a:ext cx="9867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96D78"/>
                </a:solidFill>
              </a:defRPr>
            </a:defPPr>
            <a:lvl1pPr>
              <a:defRPr sz="1200" b="0">
                <a:solidFill>
                  <a:srgbClr val="596D78"/>
                </a:solidFill>
              </a:defRPr>
            </a:lvl1pPr>
            <a:lvl2pPr>
              <a:defRPr sz="1200" b="0">
                <a:solidFill>
                  <a:srgbClr val="596D78"/>
                </a:solidFill>
              </a:defRPr>
            </a:lvl2pPr>
            <a:lvl3pPr>
              <a:defRPr sz="1200" b="0">
                <a:solidFill>
                  <a:srgbClr val="596D78"/>
                </a:solidFill>
              </a:defRPr>
            </a:lvl3pPr>
            <a:lvl4pPr>
              <a:defRPr sz="1200" b="0">
                <a:solidFill>
                  <a:srgbClr val="596D78"/>
                </a:solidFill>
              </a:defRPr>
            </a:lvl4pPr>
            <a:lvl5pPr>
              <a:defRPr sz="1200" b="0">
                <a:solidFill>
                  <a:srgbClr val="596D78"/>
                </a:solidFill>
              </a:defRPr>
            </a:lvl5pPr>
            <a:lvl6pPr>
              <a:defRPr sz="1200" b="0">
                <a:solidFill>
                  <a:srgbClr val="596D78"/>
                </a:solidFill>
              </a:defRPr>
            </a:lvl6pPr>
            <a:lvl7pPr>
              <a:defRPr sz="1200" b="0">
                <a:solidFill>
                  <a:srgbClr val="596D78"/>
                </a:solidFill>
              </a:defRPr>
            </a:lvl7pPr>
            <a:lvl8pPr>
              <a:defRPr sz="1200" b="0">
                <a:solidFill>
                  <a:srgbClr val="596D78"/>
                </a:solidFill>
              </a:defRPr>
            </a:lvl8pPr>
            <a:lvl9pPr>
              <a:defRPr sz="1200" b="0">
                <a:solidFill>
                  <a:srgbClr val="596D78"/>
                </a:solidFill>
              </a:defRPr>
            </a:lvl9pPr>
          </a:lstStyle>
          <a:p xmlns:a="http://schemas.openxmlformats.org/drawingml/2006/main">
            <a:pPr>
              <a:defRPr sz="1200" b="0">
                <a:solidFill>
                  <a:srgbClr val="596D78"/>
                </a:solidFill>
              </a:defRPr>
            </a:pPr>
            <a:r>
              <a:rPr sz="1200" b="0">
                <a:solidFill>
                  <a:srgbClr val="596D78"/>
                </a:solidFill>
              </a:rPr>
              <a:t>S0 is a constructed no-policy-change baseline, not an observed future, a target, or a recommendation. Difference charts set S0 to zero by construction.</a:t>
            </a:r>
          </a:p>
        </p:txBody>
      </p:sp>
    </p:spTree>
    <p:extLst>
      <p:ext uri="{BB962C8B-B14F-4D97-AF65-F5344CB8AC3E}">
        <p14:creationId xmlns:p14="http://schemas.microsoft.com/office/powerpoint/2010/main" val="495244900"/>
      </p:ext>
    </p:extLst>
  </p:cSld>
</p:sld>
</file>

<file path=ppt/slides/slide4.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58427CC-0CD7-4EA1-91FA-9AD541D20423}"/>
              </a:ext>
            </a:extLst>
          </p:cNvPr>
          <p:cNvSpPr>
            <a:spLocks xmlns:a="http://schemas.openxmlformats.org/drawingml/2006/main" noGrp="1"/>
          </p:cNvSpPr>
          <p:nvPr/>
        </p:nvSpPr>
        <p:spPr>
          <a:xfrm xmlns:a="http://schemas.openxmlformats.org/drawingml/2006/main">
            <a:off x="647700" y="3238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168184"/>
                </a:solidFill>
              </a:defRPr>
            </a:defPPr>
            <a:lvl1pPr>
              <a:defRPr sz="975" b="1">
                <a:solidFill>
                  <a:srgbClr val="168184"/>
                </a:solidFill>
              </a:defRPr>
            </a:lvl1pPr>
            <a:lvl2pPr>
              <a:defRPr sz="975" b="1">
                <a:solidFill>
                  <a:srgbClr val="168184"/>
                </a:solidFill>
              </a:defRPr>
            </a:lvl2pPr>
            <a:lvl3pPr>
              <a:defRPr sz="975" b="1">
                <a:solidFill>
                  <a:srgbClr val="168184"/>
                </a:solidFill>
              </a:defRPr>
            </a:lvl3pPr>
            <a:lvl4pPr>
              <a:defRPr sz="975" b="1">
                <a:solidFill>
                  <a:srgbClr val="168184"/>
                </a:solidFill>
              </a:defRPr>
            </a:lvl4pPr>
            <a:lvl5pPr>
              <a:defRPr sz="975" b="1">
                <a:solidFill>
                  <a:srgbClr val="168184"/>
                </a:solidFill>
              </a:defRPr>
            </a:lvl5pPr>
            <a:lvl6pPr>
              <a:defRPr sz="975" b="1">
                <a:solidFill>
                  <a:srgbClr val="168184"/>
                </a:solidFill>
              </a:defRPr>
            </a:lvl6pPr>
            <a:lvl7pPr>
              <a:defRPr sz="975" b="1">
                <a:solidFill>
                  <a:srgbClr val="168184"/>
                </a:solidFill>
              </a:defRPr>
            </a:lvl7pPr>
            <a:lvl8pPr>
              <a:defRPr sz="975" b="1">
                <a:solidFill>
                  <a:srgbClr val="168184"/>
                </a:solidFill>
              </a:defRPr>
            </a:lvl8pPr>
            <a:lvl9pPr>
              <a:defRPr sz="975" b="1">
                <a:solidFill>
                  <a:srgbClr val="168184"/>
                </a:solidFill>
              </a:defRPr>
            </a:lvl9pPr>
          </a:lstStyle>
          <a:p xmlns:a="http://schemas.openxmlformats.org/drawingml/2006/main">
            <a:pPr>
              <a:defRPr sz="975" b="1">
                <a:solidFill>
                  <a:srgbClr val="168184"/>
                </a:solidFill>
              </a:defRPr>
            </a:pPr>
            <a:r>
              <a:rPr sz="975" b="1">
                <a:solidFill>
                  <a:srgbClr val="168184"/>
                </a:solidFill>
              </a:rPr>
              <a:t>BRAZIL SCENARIO RESULTS</a:t>
            </a:r>
          </a:p>
        </p:txBody>
      </p:sp>
      <p:sp>
        <p:nvSpPr>
          <p:cNvPr id="2" name="">
            <a:extLst xmlns:a="http://schemas.openxmlformats.org/drawingml/2006/main">
              <a:ext uri="{FF2B5EF4-FFF2-40B4-BE49-F238E27FC236}">
                <a16:creationId xmlns:a16="http://schemas.microsoft.com/office/drawing/2014/main" id="{9261D340-6D26-4A85-8AA5-302C500FB6E8}"/>
              </a:ext>
            </a:extLst>
          </p:cNvPr>
          <p:cNvSpPr>
            <a:spLocks xmlns:a="http://schemas.openxmlformats.org/drawingml/2006/main" noGrp="1"/>
          </p:cNvSpPr>
          <p:nvPr/>
        </p:nvSpPr>
        <p:spPr>
          <a:xfrm xmlns:a="http://schemas.openxmlformats.org/drawingml/2006/main">
            <a:off x="647700" y="6286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173344"/>
                </a:solidFill>
              </a:defRPr>
            </a:defPPr>
            <a:lvl1pPr>
              <a:defRPr sz="2550" b="1">
                <a:solidFill>
                  <a:srgbClr val="173344"/>
                </a:solidFill>
              </a:defRPr>
            </a:lvl1pPr>
            <a:lvl2pPr>
              <a:defRPr sz="2550" b="1">
                <a:solidFill>
                  <a:srgbClr val="173344"/>
                </a:solidFill>
              </a:defRPr>
            </a:lvl2pPr>
            <a:lvl3pPr>
              <a:defRPr sz="2550" b="1">
                <a:solidFill>
                  <a:srgbClr val="173344"/>
                </a:solidFill>
              </a:defRPr>
            </a:lvl3pPr>
            <a:lvl4pPr>
              <a:defRPr sz="2550" b="1">
                <a:solidFill>
                  <a:srgbClr val="173344"/>
                </a:solidFill>
              </a:defRPr>
            </a:lvl4pPr>
            <a:lvl5pPr>
              <a:defRPr sz="2550" b="1">
                <a:solidFill>
                  <a:srgbClr val="173344"/>
                </a:solidFill>
              </a:defRPr>
            </a:lvl5pPr>
            <a:lvl6pPr>
              <a:defRPr sz="2550" b="1">
                <a:solidFill>
                  <a:srgbClr val="173344"/>
                </a:solidFill>
              </a:defRPr>
            </a:lvl6pPr>
            <a:lvl7pPr>
              <a:defRPr sz="2550" b="1">
                <a:solidFill>
                  <a:srgbClr val="173344"/>
                </a:solidFill>
              </a:defRPr>
            </a:lvl7pPr>
            <a:lvl8pPr>
              <a:defRPr sz="2550" b="1">
                <a:solidFill>
                  <a:srgbClr val="173344"/>
                </a:solidFill>
              </a:defRPr>
            </a:lvl8pPr>
            <a:lvl9pPr>
              <a:defRPr sz="2550" b="1">
                <a:solidFill>
                  <a:srgbClr val="173344"/>
                </a:solidFill>
              </a:defRPr>
            </a:lvl9pPr>
          </a:lstStyle>
          <a:p xmlns:a="http://schemas.openxmlformats.org/drawingml/2006/main">
            <a:pPr>
              <a:defRPr sz="2550" b="1">
                <a:solidFill>
                  <a:srgbClr val="173344"/>
                </a:solidFill>
              </a:defRPr>
            </a:pPr>
            <a:r>
              <a:rPr sz="2550" b="1">
                <a:solidFill>
                  <a:srgbClr val="173344"/>
                </a:solidFill>
              </a:rPr>
              <a:t>The scenarios change spending relative to S0</a:t>
            </a:r>
          </a:p>
        </p:txBody>
      </p:sp>
      <p:sp>
        <p:nvSpPr>
          <p:cNvPr id="3" name="">
            <a:extLst xmlns:a="http://schemas.openxmlformats.org/drawingml/2006/main">
              <a:ext uri="{FF2B5EF4-FFF2-40B4-BE49-F238E27FC236}">
                <a16:creationId xmlns:a16="http://schemas.microsoft.com/office/drawing/2014/main" id="{56D0DD90-8782-4525-8CA2-D5A3CB999209}"/>
              </a:ext>
            </a:extLst>
          </p:cNvPr>
          <p:cNvSpPr>
            <a:spLocks xmlns:a="http://schemas.openxmlformats.org/drawingml/2006/main" noGrp="1"/>
          </p:cNvSpPr>
          <p:nvPr/>
        </p:nvSpPr>
        <p:spPr>
          <a:xfrm xmlns:a="http://schemas.openxmlformats.org/drawingml/2006/main">
            <a:off x="647700" y="6477000"/>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0">
                <a:solidFill>
                  <a:srgbClr val="596D78"/>
                </a:solidFill>
              </a:defRPr>
            </a:defPPr>
            <a:lvl1pPr>
              <a:defRPr sz="900" b="0">
                <a:solidFill>
                  <a:srgbClr val="596D78"/>
                </a:solidFill>
              </a:defRPr>
            </a:lvl1pPr>
            <a:lvl2pPr>
              <a:defRPr sz="900" b="0">
                <a:solidFill>
                  <a:srgbClr val="596D78"/>
                </a:solidFill>
              </a:defRPr>
            </a:lvl2pPr>
            <a:lvl3pPr>
              <a:defRPr sz="900" b="0">
                <a:solidFill>
                  <a:srgbClr val="596D78"/>
                </a:solidFill>
              </a:defRPr>
            </a:lvl3pPr>
            <a:lvl4pPr>
              <a:defRPr sz="900" b="0">
                <a:solidFill>
                  <a:srgbClr val="596D78"/>
                </a:solidFill>
              </a:defRPr>
            </a:lvl4pPr>
            <a:lvl5pPr>
              <a:defRPr sz="900" b="0">
                <a:solidFill>
                  <a:srgbClr val="596D78"/>
                </a:solidFill>
              </a:defRPr>
            </a:lvl5pPr>
            <a:lvl6pPr>
              <a:defRPr sz="900" b="0">
                <a:solidFill>
                  <a:srgbClr val="596D78"/>
                </a:solidFill>
              </a:defRPr>
            </a:lvl6pPr>
            <a:lvl7pPr>
              <a:defRPr sz="900" b="0">
                <a:solidFill>
                  <a:srgbClr val="596D78"/>
                </a:solidFill>
              </a:defRPr>
            </a:lvl7pPr>
            <a:lvl8pPr>
              <a:defRPr sz="900" b="0">
                <a:solidFill>
                  <a:srgbClr val="596D78"/>
                </a:solidFill>
              </a:defRPr>
            </a:lvl8pPr>
            <a:lvl9pPr>
              <a:defRPr sz="900" b="0">
                <a:solidFill>
                  <a:srgbClr val="596D78"/>
                </a:solidFill>
              </a:defRPr>
            </a:lvl9pPr>
          </a:lstStyle>
          <a:p xmlns:a="http://schemas.openxmlformats.org/drawingml/2006/main">
            <a:pPr>
              <a:defRPr sz="900" b="0">
                <a:solidFill>
                  <a:srgbClr val="596D78"/>
                </a:solidFill>
              </a:defRPr>
            </a:pPr>
            <a:r>
              <a:rPr sz="900" b="0">
                <a:solidFill>
                  <a:srgbClr val="596D78"/>
                </a:solidFill>
              </a:rPr>
              <a:t>Internal review · D2 validation gate FAIL · 21 Oct 2026</a:t>
            </a:r>
          </a:p>
        </p:txBody>
      </p:sp>
      <p:sp>
        <p:nvSpPr>
          <p:cNvPr id="4" name="">
            <a:extLst xmlns:a="http://schemas.openxmlformats.org/drawingml/2006/main">
              <a:ext uri="{FF2B5EF4-FFF2-40B4-BE49-F238E27FC236}">
                <a16:creationId xmlns:a16="http://schemas.microsoft.com/office/drawing/2014/main" id="{4BBAF077-806E-410F-910E-46386223B07C}"/>
              </a:ext>
            </a:extLst>
          </p:cNvPr>
          <p:cNvSpPr>
            <a:spLocks xmlns:a="http://schemas.openxmlformats.org/drawingml/2006/main" noGrp="1"/>
          </p:cNvSpPr>
          <p:nvPr/>
        </p:nvSpPr>
        <p:spPr>
          <a:xfrm xmlns:a="http://schemas.openxmlformats.org/drawingml/2006/main">
            <a:off x="714375" y="138112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68184"/>
                </a:solidFill>
              </a:defRPr>
            </a:defPPr>
            <a:lvl1pPr>
              <a:defRPr sz="1350" b="1">
                <a:solidFill>
                  <a:srgbClr val="168184"/>
                </a:solidFill>
              </a:defRPr>
            </a:lvl1pPr>
            <a:lvl2pPr>
              <a:defRPr sz="1350" b="1">
                <a:solidFill>
                  <a:srgbClr val="168184"/>
                </a:solidFill>
              </a:defRPr>
            </a:lvl2pPr>
            <a:lvl3pPr>
              <a:defRPr sz="1350" b="1">
                <a:solidFill>
                  <a:srgbClr val="168184"/>
                </a:solidFill>
              </a:defRPr>
            </a:lvl3pPr>
            <a:lvl4pPr>
              <a:defRPr sz="1350" b="1">
                <a:solidFill>
                  <a:srgbClr val="168184"/>
                </a:solidFill>
              </a:defRPr>
            </a:lvl4pPr>
            <a:lvl5pPr>
              <a:defRPr sz="1350" b="1">
                <a:solidFill>
                  <a:srgbClr val="168184"/>
                </a:solidFill>
              </a:defRPr>
            </a:lvl5pPr>
            <a:lvl6pPr>
              <a:defRPr sz="1350" b="1">
                <a:solidFill>
                  <a:srgbClr val="168184"/>
                </a:solidFill>
              </a:defRPr>
            </a:lvl6pPr>
            <a:lvl7pPr>
              <a:defRPr sz="1350" b="1">
                <a:solidFill>
                  <a:srgbClr val="168184"/>
                </a:solidFill>
              </a:defRPr>
            </a:lvl7pPr>
            <a:lvl8pPr>
              <a:defRPr sz="1350" b="1">
                <a:solidFill>
                  <a:srgbClr val="168184"/>
                </a:solidFill>
              </a:defRPr>
            </a:lvl8pPr>
            <a:lvl9pPr>
              <a:defRPr sz="1350" b="1">
                <a:solidFill>
                  <a:srgbClr val="168184"/>
                </a:solidFill>
              </a:defRPr>
            </a:lvl9pPr>
          </a:lstStyle>
          <a:p xmlns:a="http://schemas.openxmlformats.org/drawingml/2006/main">
            <a:pPr>
              <a:defRPr sz="1350" b="1">
                <a:solidFill>
                  <a:srgbClr val="168184"/>
                </a:solidFill>
              </a:defRPr>
            </a:pPr>
            <a:r>
              <a:rPr sz="1350" b="1">
                <a:solidFill>
                  <a:srgbClr val="168184"/>
                </a:solidFill>
              </a:rPr>
              <a:t>S1</a:t>
            </a:r>
          </a:p>
        </p:txBody>
      </p:sp>
      <p:sp>
        <p:nvSpPr>
          <p:cNvPr id="5" name="">
            <a:extLst xmlns:a="http://schemas.openxmlformats.org/drawingml/2006/main">
              <a:ext uri="{FF2B5EF4-FFF2-40B4-BE49-F238E27FC236}">
                <a16:creationId xmlns:a16="http://schemas.microsoft.com/office/drawing/2014/main" id="{86FBD360-1A36-4963-8F7A-2C71DAF4C610}"/>
              </a:ext>
            </a:extLst>
          </p:cNvPr>
          <p:cNvSpPr>
            <a:spLocks xmlns:a="http://schemas.openxmlformats.org/drawingml/2006/main" noGrp="1"/>
          </p:cNvSpPr>
          <p:nvPr/>
        </p:nvSpPr>
        <p:spPr>
          <a:xfrm xmlns:a="http://schemas.openxmlformats.org/drawingml/2006/main">
            <a:off x="2857500" y="1381125"/>
            <a:ext cx="809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96D78"/>
                </a:solidFill>
              </a:defRPr>
            </a:defPPr>
            <a:lvl1pPr>
              <a:defRPr sz="1200" b="0">
                <a:solidFill>
                  <a:srgbClr val="596D78"/>
                </a:solidFill>
              </a:defRPr>
            </a:lvl1pPr>
            <a:lvl2pPr>
              <a:defRPr sz="1200" b="0">
                <a:solidFill>
                  <a:srgbClr val="596D78"/>
                </a:solidFill>
              </a:defRPr>
            </a:lvl2pPr>
            <a:lvl3pPr>
              <a:defRPr sz="1200" b="0">
                <a:solidFill>
                  <a:srgbClr val="596D78"/>
                </a:solidFill>
              </a:defRPr>
            </a:lvl3pPr>
            <a:lvl4pPr>
              <a:defRPr sz="1200" b="0">
                <a:solidFill>
                  <a:srgbClr val="596D78"/>
                </a:solidFill>
              </a:defRPr>
            </a:lvl4pPr>
            <a:lvl5pPr>
              <a:defRPr sz="1200" b="0">
                <a:solidFill>
                  <a:srgbClr val="596D78"/>
                </a:solidFill>
              </a:defRPr>
            </a:lvl5pPr>
            <a:lvl6pPr>
              <a:defRPr sz="1200" b="0">
                <a:solidFill>
                  <a:srgbClr val="596D78"/>
                </a:solidFill>
              </a:defRPr>
            </a:lvl6pPr>
            <a:lvl7pPr>
              <a:defRPr sz="1200" b="0">
                <a:solidFill>
                  <a:srgbClr val="596D78"/>
                </a:solidFill>
              </a:defRPr>
            </a:lvl7pPr>
            <a:lvl8pPr>
              <a:defRPr sz="1200" b="0">
                <a:solidFill>
                  <a:srgbClr val="596D78"/>
                </a:solidFill>
              </a:defRPr>
            </a:lvl8pPr>
            <a:lvl9pPr>
              <a:defRPr sz="1200" b="0">
                <a:solidFill>
                  <a:srgbClr val="596D78"/>
                </a:solidFill>
              </a:defRPr>
            </a:lvl9pPr>
          </a:lstStyle>
          <a:p xmlns:a="http://schemas.openxmlformats.org/drawingml/2006/main">
            <a:pPr>
              <a:defRPr sz="1200" b="0">
                <a:solidFill>
                  <a:srgbClr val="596D78"/>
                </a:solidFill>
              </a:defRPr>
            </a:pPr>
            <a:r>
              <a:rPr sz="1200" b="0">
                <a:solidFill>
                  <a:srgbClr val="596D78"/>
                </a:solidFill>
              </a:rPr>
              <a:t>Keep spending/GDP at today’s share; ageing drift must be offset</a:t>
            </a:r>
          </a:p>
        </p:txBody>
      </p:sp>
      <p:sp>
        <p:nvSpPr>
          <p:cNvPr id="6" name="">
            <a:extLst xmlns:a="http://schemas.openxmlformats.org/drawingml/2006/main">
              <a:ext uri="{FF2B5EF4-FFF2-40B4-BE49-F238E27FC236}">
                <a16:creationId xmlns:a16="http://schemas.microsoft.com/office/drawing/2014/main" id="{8D303319-1BD7-4FEC-B8F6-96F68AE0F253}"/>
              </a:ext>
            </a:extLst>
          </p:cNvPr>
          <p:cNvSpPr>
            <a:spLocks xmlns:a="http://schemas.openxmlformats.org/drawingml/2006/main" noGrp="1"/>
          </p:cNvSpPr>
          <p:nvPr/>
        </p:nvSpPr>
        <p:spPr>
          <a:xfrm xmlns:a="http://schemas.openxmlformats.org/drawingml/2006/main">
            <a:off x="714375" y="1905000"/>
            <a:ext cx="10477500" cy="0"/>
          </a:xfrm>
          <a:prstGeom xmlns:a="http://schemas.openxmlformats.org/drawingml/2006/main" prst="line">
            <a:avLst/>
          </a:prstGeom>
          <a:ln xmlns:a="http://schemas.openxmlformats.org/drawingml/2006/main" w="9525">
            <a:solidFill>
              <a:srgbClr val="D9E2E5"/>
            </a:solidFill>
            <a:prstDash val="solid"/>
          </a:ln>
        </p:spPr>
      </p:sp>
      <p:sp>
        <p:nvSpPr>
          <p:cNvPr id="7" name="">
            <a:extLst xmlns:a="http://schemas.openxmlformats.org/drawingml/2006/main">
              <a:ext uri="{FF2B5EF4-FFF2-40B4-BE49-F238E27FC236}">
                <a16:creationId xmlns:a16="http://schemas.microsoft.com/office/drawing/2014/main" id="{9217ADA1-16AD-4EE8-BFA3-5020DD6E130D}"/>
              </a:ext>
            </a:extLst>
          </p:cNvPr>
          <p:cNvSpPr>
            <a:spLocks xmlns:a="http://schemas.openxmlformats.org/drawingml/2006/main" noGrp="1"/>
          </p:cNvSpPr>
          <p:nvPr/>
        </p:nvSpPr>
        <p:spPr>
          <a:xfrm xmlns:a="http://schemas.openxmlformats.org/drawingml/2006/main">
            <a:off x="714375" y="212407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68184"/>
                </a:solidFill>
              </a:defRPr>
            </a:defPPr>
            <a:lvl1pPr>
              <a:defRPr sz="1350" b="1">
                <a:solidFill>
                  <a:srgbClr val="168184"/>
                </a:solidFill>
              </a:defRPr>
            </a:lvl1pPr>
            <a:lvl2pPr>
              <a:defRPr sz="1350" b="1">
                <a:solidFill>
                  <a:srgbClr val="168184"/>
                </a:solidFill>
              </a:defRPr>
            </a:lvl2pPr>
            <a:lvl3pPr>
              <a:defRPr sz="1350" b="1">
                <a:solidFill>
                  <a:srgbClr val="168184"/>
                </a:solidFill>
              </a:defRPr>
            </a:lvl3pPr>
            <a:lvl4pPr>
              <a:defRPr sz="1350" b="1">
                <a:solidFill>
                  <a:srgbClr val="168184"/>
                </a:solidFill>
              </a:defRPr>
            </a:lvl4pPr>
            <a:lvl5pPr>
              <a:defRPr sz="1350" b="1">
                <a:solidFill>
                  <a:srgbClr val="168184"/>
                </a:solidFill>
              </a:defRPr>
            </a:lvl5pPr>
            <a:lvl6pPr>
              <a:defRPr sz="1350" b="1">
                <a:solidFill>
                  <a:srgbClr val="168184"/>
                </a:solidFill>
              </a:defRPr>
            </a:lvl6pPr>
            <a:lvl7pPr>
              <a:defRPr sz="1350" b="1">
                <a:solidFill>
                  <a:srgbClr val="168184"/>
                </a:solidFill>
              </a:defRPr>
            </a:lvl7pPr>
            <a:lvl8pPr>
              <a:defRPr sz="1350" b="1">
                <a:solidFill>
                  <a:srgbClr val="168184"/>
                </a:solidFill>
              </a:defRPr>
            </a:lvl8pPr>
            <a:lvl9pPr>
              <a:defRPr sz="1350" b="1">
                <a:solidFill>
                  <a:srgbClr val="168184"/>
                </a:solidFill>
              </a:defRPr>
            </a:lvl9pPr>
          </a:lstStyle>
          <a:p xmlns:a="http://schemas.openxmlformats.org/drawingml/2006/main">
            <a:pPr>
              <a:defRPr sz="1350" b="1">
                <a:solidFill>
                  <a:srgbClr val="168184"/>
                </a:solidFill>
              </a:defRPr>
            </a:pPr>
            <a:r>
              <a:rPr sz="1350" b="1">
                <a:solidFill>
                  <a:srgbClr val="168184"/>
                </a:solidFill>
              </a:rPr>
              <a:t>R_mod</a:t>
            </a:r>
          </a:p>
        </p:txBody>
      </p:sp>
      <p:sp>
        <p:nvSpPr>
          <p:cNvPr id="8" name="">
            <a:extLst xmlns:a="http://schemas.openxmlformats.org/drawingml/2006/main">
              <a:ext uri="{FF2B5EF4-FFF2-40B4-BE49-F238E27FC236}">
                <a16:creationId xmlns:a16="http://schemas.microsoft.com/office/drawing/2014/main" id="{8AC2052C-9697-4198-A089-AA12BBF1181B}"/>
              </a:ext>
            </a:extLst>
          </p:cNvPr>
          <p:cNvSpPr>
            <a:spLocks xmlns:a="http://schemas.openxmlformats.org/drawingml/2006/main" noGrp="1"/>
          </p:cNvSpPr>
          <p:nvPr/>
        </p:nvSpPr>
        <p:spPr>
          <a:xfrm xmlns:a="http://schemas.openxmlformats.org/drawingml/2006/main">
            <a:off x="2857500" y="2124075"/>
            <a:ext cx="809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96D78"/>
                </a:solidFill>
              </a:defRPr>
            </a:defPPr>
            <a:lvl1pPr>
              <a:defRPr sz="1200" b="0">
                <a:solidFill>
                  <a:srgbClr val="596D78"/>
                </a:solidFill>
              </a:defRPr>
            </a:lvl1pPr>
            <a:lvl2pPr>
              <a:defRPr sz="1200" b="0">
                <a:solidFill>
                  <a:srgbClr val="596D78"/>
                </a:solidFill>
              </a:defRPr>
            </a:lvl2pPr>
            <a:lvl3pPr>
              <a:defRPr sz="1200" b="0">
                <a:solidFill>
                  <a:srgbClr val="596D78"/>
                </a:solidFill>
              </a:defRPr>
            </a:lvl3pPr>
            <a:lvl4pPr>
              <a:defRPr sz="1200" b="0">
                <a:solidFill>
                  <a:srgbClr val="596D78"/>
                </a:solidFill>
              </a:defRPr>
            </a:lvl4pPr>
            <a:lvl5pPr>
              <a:defRPr sz="1200" b="0">
                <a:solidFill>
                  <a:srgbClr val="596D78"/>
                </a:solidFill>
              </a:defRPr>
            </a:lvl5pPr>
            <a:lvl6pPr>
              <a:defRPr sz="1200" b="0">
                <a:solidFill>
                  <a:srgbClr val="596D78"/>
                </a:solidFill>
              </a:defRPr>
            </a:lvl6pPr>
            <a:lvl7pPr>
              <a:defRPr sz="1200" b="0">
                <a:solidFill>
                  <a:srgbClr val="596D78"/>
                </a:solidFill>
              </a:defRPr>
            </a:lvl7pPr>
            <a:lvl8pPr>
              <a:defRPr sz="1200" b="0">
                <a:solidFill>
                  <a:srgbClr val="596D78"/>
                </a:solidFill>
              </a:defRPr>
            </a:lvl8pPr>
            <a:lvl9pPr>
              <a:defRPr sz="1200" b="0">
                <a:solidFill>
                  <a:srgbClr val="596D78"/>
                </a:solidFill>
              </a:defRPr>
            </a:lvl9pPr>
          </a:lstStyle>
          <a:p xmlns:a="http://schemas.openxmlformats.org/drawingml/2006/main">
            <a:pPr>
              <a:defRPr sz="1200" b="0">
                <a:solidFill>
                  <a:srgbClr val="596D78"/>
                </a:solidFill>
              </a:defRPr>
            </a:pPr>
            <a:r>
              <a:rPr sz="1200" b="0">
                <a:solidFill>
                  <a:srgbClr val="596D78"/>
                </a:solidFill>
              </a:rPr>
              <a:t>Reduce 1 / 2 / 3 / 4 pp of GDP below S0 at 5 / 10 / 15 / 20y</a:t>
            </a:r>
          </a:p>
        </p:txBody>
      </p:sp>
      <p:sp>
        <p:nvSpPr>
          <p:cNvPr id="9" name="">
            <a:extLst xmlns:a="http://schemas.openxmlformats.org/drawingml/2006/main">
              <a:ext uri="{FF2B5EF4-FFF2-40B4-BE49-F238E27FC236}">
                <a16:creationId xmlns:a16="http://schemas.microsoft.com/office/drawing/2014/main" id="{7A2B1791-2123-4ACA-84D0-84DC328DB1F9}"/>
              </a:ext>
            </a:extLst>
          </p:cNvPr>
          <p:cNvSpPr>
            <a:spLocks xmlns:a="http://schemas.openxmlformats.org/drawingml/2006/main" noGrp="1"/>
          </p:cNvSpPr>
          <p:nvPr/>
        </p:nvSpPr>
        <p:spPr>
          <a:xfrm xmlns:a="http://schemas.openxmlformats.org/drawingml/2006/main">
            <a:off x="714375" y="2647950"/>
            <a:ext cx="10477500" cy="0"/>
          </a:xfrm>
          <a:prstGeom xmlns:a="http://schemas.openxmlformats.org/drawingml/2006/main" prst="line">
            <a:avLst/>
          </a:prstGeom>
          <a:ln xmlns:a="http://schemas.openxmlformats.org/drawingml/2006/main" w="9525">
            <a:solidFill>
              <a:srgbClr val="D9E2E5"/>
            </a:solidFill>
            <a:prstDash val="solid"/>
          </a:ln>
        </p:spPr>
      </p:sp>
      <p:sp>
        <p:nvSpPr>
          <p:cNvPr id="10" name="">
            <a:extLst xmlns:a="http://schemas.openxmlformats.org/drawingml/2006/main">
              <a:ext uri="{FF2B5EF4-FFF2-40B4-BE49-F238E27FC236}">
                <a16:creationId xmlns:a16="http://schemas.microsoft.com/office/drawing/2014/main" id="{14365059-D9A2-4050-ABDA-75FF0ECC59AB}"/>
              </a:ext>
            </a:extLst>
          </p:cNvPr>
          <p:cNvSpPr>
            <a:spLocks xmlns:a="http://schemas.openxmlformats.org/drawingml/2006/main" noGrp="1"/>
          </p:cNvSpPr>
          <p:nvPr/>
        </p:nvSpPr>
        <p:spPr>
          <a:xfrm xmlns:a="http://schemas.openxmlformats.org/drawingml/2006/main">
            <a:off x="714375" y="286702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68184"/>
                </a:solidFill>
              </a:defRPr>
            </a:defPPr>
            <a:lvl1pPr>
              <a:defRPr sz="1350" b="1">
                <a:solidFill>
                  <a:srgbClr val="168184"/>
                </a:solidFill>
              </a:defRPr>
            </a:lvl1pPr>
            <a:lvl2pPr>
              <a:defRPr sz="1350" b="1">
                <a:solidFill>
                  <a:srgbClr val="168184"/>
                </a:solidFill>
              </a:defRPr>
            </a:lvl2pPr>
            <a:lvl3pPr>
              <a:defRPr sz="1350" b="1">
                <a:solidFill>
                  <a:srgbClr val="168184"/>
                </a:solidFill>
              </a:defRPr>
            </a:lvl3pPr>
            <a:lvl4pPr>
              <a:defRPr sz="1350" b="1">
                <a:solidFill>
                  <a:srgbClr val="168184"/>
                </a:solidFill>
              </a:defRPr>
            </a:lvl4pPr>
            <a:lvl5pPr>
              <a:defRPr sz="1350" b="1">
                <a:solidFill>
                  <a:srgbClr val="168184"/>
                </a:solidFill>
              </a:defRPr>
            </a:lvl5pPr>
            <a:lvl6pPr>
              <a:defRPr sz="1350" b="1">
                <a:solidFill>
                  <a:srgbClr val="168184"/>
                </a:solidFill>
              </a:defRPr>
            </a:lvl6pPr>
            <a:lvl7pPr>
              <a:defRPr sz="1350" b="1">
                <a:solidFill>
                  <a:srgbClr val="168184"/>
                </a:solidFill>
              </a:defRPr>
            </a:lvl7pPr>
            <a:lvl8pPr>
              <a:defRPr sz="1350" b="1">
                <a:solidFill>
                  <a:srgbClr val="168184"/>
                </a:solidFill>
              </a:defRPr>
            </a:lvl8pPr>
            <a:lvl9pPr>
              <a:defRPr sz="1350" b="1">
                <a:solidFill>
                  <a:srgbClr val="168184"/>
                </a:solidFill>
              </a:defRPr>
            </a:lvl9pPr>
          </a:lstStyle>
          <a:p xmlns:a="http://schemas.openxmlformats.org/drawingml/2006/main">
            <a:pPr>
              <a:defRPr sz="1350" b="1">
                <a:solidFill>
                  <a:srgbClr val="168184"/>
                </a:solidFill>
              </a:defRPr>
            </a:pPr>
            <a:r>
              <a:rPr sz="1350" b="1">
                <a:solidFill>
                  <a:srgbClr val="168184"/>
                </a:solidFill>
              </a:rPr>
              <a:t>R_amb</a:t>
            </a:r>
          </a:p>
        </p:txBody>
      </p:sp>
      <p:sp>
        <p:nvSpPr>
          <p:cNvPr id="11" name="">
            <a:extLst xmlns:a="http://schemas.openxmlformats.org/drawingml/2006/main">
              <a:ext uri="{FF2B5EF4-FFF2-40B4-BE49-F238E27FC236}">
                <a16:creationId xmlns:a16="http://schemas.microsoft.com/office/drawing/2014/main" id="{60664205-2800-4A01-8B69-2903B3203D2D}"/>
              </a:ext>
            </a:extLst>
          </p:cNvPr>
          <p:cNvSpPr>
            <a:spLocks xmlns:a="http://schemas.openxmlformats.org/drawingml/2006/main" noGrp="1"/>
          </p:cNvSpPr>
          <p:nvPr/>
        </p:nvSpPr>
        <p:spPr>
          <a:xfrm xmlns:a="http://schemas.openxmlformats.org/drawingml/2006/main">
            <a:off x="2857500" y="2867025"/>
            <a:ext cx="809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96D78"/>
                </a:solidFill>
              </a:defRPr>
            </a:defPPr>
            <a:lvl1pPr>
              <a:defRPr sz="1200" b="0">
                <a:solidFill>
                  <a:srgbClr val="596D78"/>
                </a:solidFill>
              </a:defRPr>
            </a:lvl1pPr>
            <a:lvl2pPr>
              <a:defRPr sz="1200" b="0">
                <a:solidFill>
                  <a:srgbClr val="596D78"/>
                </a:solidFill>
              </a:defRPr>
            </a:lvl2pPr>
            <a:lvl3pPr>
              <a:defRPr sz="1200" b="0">
                <a:solidFill>
                  <a:srgbClr val="596D78"/>
                </a:solidFill>
              </a:defRPr>
            </a:lvl3pPr>
            <a:lvl4pPr>
              <a:defRPr sz="1200" b="0">
                <a:solidFill>
                  <a:srgbClr val="596D78"/>
                </a:solidFill>
              </a:defRPr>
            </a:lvl4pPr>
            <a:lvl5pPr>
              <a:defRPr sz="1200" b="0">
                <a:solidFill>
                  <a:srgbClr val="596D78"/>
                </a:solidFill>
              </a:defRPr>
            </a:lvl5pPr>
            <a:lvl6pPr>
              <a:defRPr sz="1200" b="0">
                <a:solidFill>
                  <a:srgbClr val="596D78"/>
                </a:solidFill>
              </a:defRPr>
            </a:lvl6pPr>
            <a:lvl7pPr>
              <a:defRPr sz="1200" b="0">
                <a:solidFill>
                  <a:srgbClr val="596D78"/>
                </a:solidFill>
              </a:defRPr>
            </a:lvl7pPr>
            <a:lvl8pPr>
              <a:defRPr sz="1200" b="0">
                <a:solidFill>
                  <a:srgbClr val="596D78"/>
                </a:solidFill>
              </a:defRPr>
            </a:lvl8pPr>
            <a:lvl9pPr>
              <a:defRPr sz="1200" b="0">
                <a:solidFill>
                  <a:srgbClr val="596D78"/>
                </a:solidFill>
              </a:defRPr>
            </a:lvl9pPr>
          </a:lstStyle>
          <a:p xmlns:a="http://schemas.openxmlformats.org/drawingml/2006/main">
            <a:pPr>
              <a:defRPr sz="1200" b="0">
                <a:solidFill>
                  <a:srgbClr val="596D78"/>
                </a:solidFill>
              </a:defRPr>
            </a:pPr>
            <a:r>
              <a:rPr sz="1200" b="0">
                <a:solidFill>
                  <a:srgbClr val="596D78"/>
                </a:solidFill>
              </a:rPr>
              <a:t>Reduce 2 / 4 / 6 / 7 pp below S0; 20y path capped by conservative precedent</a:t>
            </a:r>
          </a:p>
        </p:txBody>
      </p:sp>
      <p:sp>
        <p:nvSpPr>
          <p:cNvPr id="12" name="">
            <a:extLst xmlns:a="http://schemas.openxmlformats.org/drawingml/2006/main">
              <a:ext uri="{FF2B5EF4-FFF2-40B4-BE49-F238E27FC236}">
                <a16:creationId xmlns:a16="http://schemas.microsoft.com/office/drawing/2014/main" id="{7D0B3680-EEA0-4165-B145-211C07320D27}"/>
              </a:ext>
            </a:extLst>
          </p:cNvPr>
          <p:cNvSpPr>
            <a:spLocks xmlns:a="http://schemas.openxmlformats.org/drawingml/2006/main" noGrp="1"/>
          </p:cNvSpPr>
          <p:nvPr/>
        </p:nvSpPr>
        <p:spPr>
          <a:xfrm xmlns:a="http://schemas.openxmlformats.org/drawingml/2006/main">
            <a:off x="714375" y="3390900"/>
            <a:ext cx="10477500" cy="0"/>
          </a:xfrm>
          <a:prstGeom xmlns:a="http://schemas.openxmlformats.org/drawingml/2006/main" prst="line">
            <a:avLst/>
          </a:prstGeom>
          <a:ln xmlns:a="http://schemas.openxmlformats.org/drawingml/2006/main" w="9525">
            <a:solidFill>
              <a:srgbClr val="D9E2E5"/>
            </a:solidFill>
            <a:prstDash val="solid"/>
          </a:ln>
        </p:spPr>
      </p:sp>
      <p:sp>
        <p:nvSpPr>
          <p:cNvPr id="13" name="">
            <a:extLst xmlns:a="http://schemas.openxmlformats.org/drawingml/2006/main">
              <a:ext uri="{FF2B5EF4-FFF2-40B4-BE49-F238E27FC236}">
                <a16:creationId xmlns:a16="http://schemas.microsoft.com/office/drawing/2014/main" id="{6E39D05B-FC12-4563-86B5-1D5C03253EE4}"/>
              </a:ext>
            </a:extLst>
          </p:cNvPr>
          <p:cNvSpPr>
            <a:spLocks xmlns:a="http://schemas.openxmlformats.org/drawingml/2006/main" noGrp="1"/>
          </p:cNvSpPr>
          <p:nvPr/>
        </p:nvSpPr>
        <p:spPr>
          <a:xfrm xmlns:a="http://schemas.openxmlformats.org/drawingml/2006/main">
            <a:off x="714375" y="360997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68184"/>
                </a:solidFill>
              </a:defRPr>
            </a:defPPr>
            <a:lvl1pPr>
              <a:defRPr sz="1350" b="1">
                <a:solidFill>
                  <a:srgbClr val="168184"/>
                </a:solidFill>
              </a:defRPr>
            </a:lvl1pPr>
            <a:lvl2pPr>
              <a:defRPr sz="1350" b="1">
                <a:solidFill>
                  <a:srgbClr val="168184"/>
                </a:solidFill>
              </a:defRPr>
            </a:lvl2pPr>
            <a:lvl3pPr>
              <a:defRPr sz="1350" b="1">
                <a:solidFill>
                  <a:srgbClr val="168184"/>
                </a:solidFill>
              </a:defRPr>
            </a:lvl3pPr>
            <a:lvl4pPr>
              <a:defRPr sz="1350" b="1">
                <a:solidFill>
                  <a:srgbClr val="168184"/>
                </a:solidFill>
              </a:defRPr>
            </a:lvl4pPr>
            <a:lvl5pPr>
              <a:defRPr sz="1350" b="1">
                <a:solidFill>
                  <a:srgbClr val="168184"/>
                </a:solidFill>
              </a:defRPr>
            </a:lvl5pPr>
            <a:lvl6pPr>
              <a:defRPr sz="1350" b="1">
                <a:solidFill>
                  <a:srgbClr val="168184"/>
                </a:solidFill>
              </a:defRPr>
            </a:lvl6pPr>
            <a:lvl7pPr>
              <a:defRPr sz="1350" b="1">
                <a:solidFill>
                  <a:srgbClr val="168184"/>
                </a:solidFill>
              </a:defRPr>
            </a:lvl7pPr>
            <a:lvl8pPr>
              <a:defRPr sz="1350" b="1">
                <a:solidFill>
                  <a:srgbClr val="168184"/>
                </a:solidFill>
              </a:defRPr>
            </a:lvl8pPr>
            <a:lvl9pPr>
              <a:defRPr sz="1350" b="1">
                <a:solidFill>
                  <a:srgbClr val="168184"/>
                </a:solidFill>
              </a:defRPr>
            </a:lvl9pPr>
          </a:lstStyle>
          <a:p xmlns:a="http://schemas.openxmlformats.org/drawingml/2006/main">
            <a:pPr>
              <a:defRPr sz="1350" b="1">
                <a:solidFill>
                  <a:srgbClr val="168184"/>
                </a:solidFill>
              </a:defRPr>
            </a:pPr>
            <a:r>
              <a:rPr sz="1350" b="1">
                <a:solidFill>
                  <a:srgbClr val="168184"/>
                </a:solidFill>
              </a:rPr>
              <a:t>R_max</a:t>
            </a:r>
          </a:p>
        </p:txBody>
      </p:sp>
      <p:sp>
        <p:nvSpPr>
          <p:cNvPr id="14" name="">
            <a:extLst xmlns:a="http://schemas.openxmlformats.org/drawingml/2006/main">
              <a:ext uri="{FF2B5EF4-FFF2-40B4-BE49-F238E27FC236}">
                <a16:creationId xmlns:a16="http://schemas.microsoft.com/office/drawing/2014/main" id="{7BDF6A7F-5C59-4CD6-9E3A-3EF146F0A340}"/>
              </a:ext>
            </a:extLst>
          </p:cNvPr>
          <p:cNvSpPr>
            <a:spLocks xmlns:a="http://schemas.openxmlformats.org/drawingml/2006/main" noGrp="1"/>
          </p:cNvSpPr>
          <p:nvPr/>
        </p:nvSpPr>
        <p:spPr>
          <a:xfrm xmlns:a="http://schemas.openxmlformats.org/drawingml/2006/main">
            <a:off x="2857500" y="3609975"/>
            <a:ext cx="809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96D78"/>
                </a:solidFill>
              </a:defRPr>
            </a:defPPr>
            <a:lvl1pPr>
              <a:defRPr sz="1200" b="0">
                <a:solidFill>
                  <a:srgbClr val="596D78"/>
                </a:solidFill>
              </a:defRPr>
            </a:lvl1pPr>
            <a:lvl2pPr>
              <a:defRPr sz="1200" b="0">
                <a:solidFill>
                  <a:srgbClr val="596D78"/>
                </a:solidFill>
              </a:defRPr>
            </a:lvl2pPr>
            <a:lvl3pPr>
              <a:defRPr sz="1200" b="0">
                <a:solidFill>
                  <a:srgbClr val="596D78"/>
                </a:solidFill>
              </a:defRPr>
            </a:lvl3pPr>
            <a:lvl4pPr>
              <a:defRPr sz="1200" b="0">
                <a:solidFill>
                  <a:srgbClr val="596D78"/>
                </a:solidFill>
              </a:defRPr>
            </a:lvl4pPr>
            <a:lvl5pPr>
              <a:defRPr sz="1200" b="0">
                <a:solidFill>
                  <a:srgbClr val="596D78"/>
                </a:solidFill>
              </a:defRPr>
            </a:lvl5pPr>
            <a:lvl6pPr>
              <a:defRPr sz="1200" b="0">
                <a:solidFill>
                  <a:srgbClr val="596D78"/>
                </a:solidFill>
              </a:defRPr>
            </a:lvl6pPr>
            <a:lvl7pPr>
              <a:defRPr sz="1200" b="0">
                <a:solidFill>
                  <a:srgbClr val="596D78"/>
                </a:solidFill>
              </a:defRPr>
            </a:lvl7pPr>
            <a:lvl8pPr>
              <a:defRPr sz="1200" b="0">
                <a:solidFill>
                  <a:srgbClr val="596D78"/>
                </a:solidFill>
              </a:defRPr>
            </a:lvl8pPr>
            <a:lvl9pPr>
              <a:defRPr sz="1200" b="0">
                <a:solidFill>
                  <a:srgbClr val="596D78"/>
                </a:solidFill>
              </a:defRPr>
            </a:lvl9pPr>
          </a:lstStyle>
          <a:p xmlns:a="http://schemas.openxmlformats.org/drawingml/2006/main">
            <a:pPr>
              <a:defRPr sz="1200" b="0">
                <a:solidFill>
                  <a:srgbClr val="596D78"/>
                </a:solidFill>
              </a:defRPr>
            </a:pPr>
            <a:r>
              <a:rPr sz="1200" b="0">
                <a:solidFill>
                  <a:srgbClr val="596D78"/>
                </a:solidFill>
              </a:rPr>
              <a:t>Stress reduction near central observed-episode cap; not a recommendation</a:t>
            </a:r>
          </a:p>
        </p:txBody>
      </p:sp>
      <p:sp>
        <p:nvSpPr>
          <p:cNvPr id="15" name="">
            <a:extLst xmlns:a="http://schemas.openxmlformats.org/drawingml/2006/main">
              <a:ext uri="{FF2B5EF4-FFF2-40B4-BE49-F238E27FC236}">
                <a16:creationId xmlns:a16="http://schemas.microsoft.com/office/drawing/2014/main" id="{B51C66FD-6593-4BAE-9ECC-3EEBE869909B}"/>
              </a:ext>
            </a:extLst>
          </p:cNvPr>
          <p:cNvSpPr>
            <a:spLocks xmlns:a="http://schemas.openxmlformats.org/drawingml/2006/main" noGrp="1"/>
          </p:cNvSpPr>
          <p:nvPr/>
        </p:nvSpPr>
        <p:spPr>
          <a:xfrm xmlns:a="http://schemas.openxmlformats.org/drawingml/2006/main">
            <a:off x="714375" y="4133850"/>
            <a:ext cx="10477500" cy="0"/>
          </a:xfrm>
          <a:prstGeom xmlns:a="http://schemas.openxmlformats.org/drawingml/2006/main" prst="line">
            <a:avLst/>
          </a:prstGeom>
          <a:ln xmlns:a="http://schemas.openxmlformats.org/drawingml/2006/main" w="9525">
            <a:solidFill>
              <a:srgbClr val="D9E2E5"/>
            </a:solidFill>
            <a:prstDash val="solid"/>
          </a:ln>
        </p:spPr>
      </p:sp>
      <p:sp>
        <p:nvSpPr>
          <p:cNvPr id="16" name="">
            <a:extLst xmlns:a="http://schemas.openxmlformats.org/drawingml/2006/main">
              <a:ext uri="{FF2B5EF4-FFF2-40B4-BE49-F238E27FC236}">
                <a16:creationId xmlns:a16="http://schemas.microsoft.com/office/drawing/2014/main" id="{3259E980-6A96-41F2-B912-AEC9BC4F3CB1}"/>
              </a:ext>
            </a:extLst>
          </p:cNvPr>
          <p:cNvSpPr>
            <a:spLocks xmlns:a="http://schemas.openxmlformats.org/drawingml/2006/main" noGrp="1"/>
          </p:cNvSpPr>
          <p:nvPr/>
        </p:nvSpPr>
        <p:spPr>
          <a:xfrm xmlns:a="http://schemas.openxmlformats.org/drawingml/2006/main">
            <a:off x="714375" y="435292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68184"/>
                </a:solidFill>
              </a:defRPr>
            </a:defPPr>
            <a:lvl1pPr>
              <a:defRPr sz="1350" b="1">
                <a:solidFill>
                  <a:srgbClr val="168184"/>
                </a:solidFill>
              </a:defRPr>
            </a:lvl1pPr>
            <a:lvl2pPr>
              <a:defRPr sz="1350" b="1">
                <a:solidFill>
                  <a:srgbClr val="168184"/>
                </a:solidFill>
              </a:defRPr>
            </a:lvl2pPr>
            <a:lvl3pPr>
              <a:defRPr sz="1350" b="1">
                <a:solidFill>
                  <a:srgbClr val="168184"/>
                </a:solidFill>
              </a:defRPr>
            </a:lvl3pPr>
            <a:lvl4pPr>
              <a:defRPr sz="1350" b="1">
                <a:solidFill>
                  <a:srgbClr val="168184"/>
                </a:solidFill>
              </a:defRPr>
            </a:lvl4pPr>
            <a:lvl5pPr>
              <a:defRPr sz="1350" b="1">
                <a:solidFill>
                  <a:srgbClr val="168184"/>
                </a:solidFill>
              </a:defRPr>
            </a:lvl5pPr>
            <a:lvl6pPr>
              <a:defRPr sz="1350" b="1">
                <a:solidFill>
                  <a:srgbClr val="168184"/>
                </a:solidFill>
              </a:defRPr>
            </a:lvl6pPr>
            <a:lvl7pPr>
              <a:defRPr sz="1350" b="1">
                <a:solidFill>
                  <a:srgbClr val="168184"/>
                </a:solidFill>
              </a:defRPr>
            </a:lvl7pPr>
            <a:lvl8pPr>
              <a:defRPr sz="1350" b="1">
                <a:solidFill>
                  <a:srgbClr val="168184"/>
                </a:solidFill>
              </a:defRPr>
            </a:lvl8pPr>
            <a:lvl9pPr>
              <a:defRPr sz="1350" b="1">
                <a:solidFill>
                  <a:srgbClr val="168184"/>
                </a:solidFill>
              </a:defRPr>
            </a:lvl9pPr>
          </a:lstStyle>
          <a:p xmlns:a="http://schemas.openxmlformats.org/drawingml/2006/main">
            <a:pPr>
              <a:defRPr sz="1350" b="1">
                <a:solidFill>
                  <a:srgbClr val="168184"/>
                </a:solidFill>
              </a:defRPr>
            </a:pPr>
            <a:r>
              <a:rPr sz="1350" b="1">
                <a:solidFill>
                  <a:srgbClr val="168184"/>
                </a:solidFill>
              </a:rPr>
              <a:t>E_mod, E_amb</a:t>
            </a:r>
          </a:p>
        </p:txBody>
      </p:sp>
      <p:sp>
        <p:nvSpPr>
          <p:cNvPr id="17" name="">
            <a:extLst xmlns:a="http://schemas.openxmlformats.org/drawingml/2006/main">
              <a:ext uri="{FF2B5EF4-FFF2-40B4-BE49-F238E27FC236}">
                <a16:creationId xmlns:a16="http://schemas.microsoft.com/office/drawing/2014/main" id="{96E90B7F-5213-48AC-8128-052D381C1DF2}"/>
              </a:ext>
            </a:extLst>
          </p:cNvPr>
          <p:cNvSpPr>
            <a:spLocks xmlns:a="http://schemas.openxmlformats.org/drawingml/2006/main" noGrp="1"/>
          </p:cNvSpPr>
          <p:nvPr/>
        </p:nvSpPr>
        <p:spPr>
          <a:xfrm xmlns:a="http://schemas.openxmlformats.org/drawingml/2006/main">
            <a:off x="2857500" y="4352925"/>
            <a:ext cx="809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96D78"/>
                </a:solidFill>
              </a:defRPr>
            </a:defPPr>
            <a:lvl1pPr>
              <a:defRPr sz="1200" b="0">
                <a:solidFill>
                  <a:srgbClr val="596D78"/>
                </a:solidFill>
              </a:defRPr>
            </a:lvl1pPr>
            <a:lvl2pPr>
              <a:defRPr sz="1200" b="0">
                <a:solidFill>
                  <a:srgbClr val="596D78"/>
                </a:solidFill>
              </a:defRPr>
            </a:lvl2pPr>
            <a:lvl3pPr>
              <a:defRPr sz="1200" b="0">
                <a:solidFill>
                  <a:srgbClr val="596D78"/>
                </a:solidFill>
              </a:defRPr>
            </a:lvl3pPr>
            <a:lvl4pPr>
              <a:defRPr sz="1200" b="0">
                <a:solidFill>
                  <a:srgbClr val="596D78"/>
                </a:solidFill>
              </a:defRPr>
            </a:lvl4pPr>
            <a:lvl5pPr>
              <a:defRPr sz="1200" b="0">
                <a:solidFill>
                  <a:srgbClr val="596D78"/>
                </a:solidFill>
              </a:defRPr>
            </a:lvl5pPr>
            <a:lvl6pPr>
              <a:defRPr sz="1200" b="0">
                <a:solidFill>
                  <a:srgbClr val="596D78"/>
                </a:solidFill>
              </a:defRPr>
            </a:lvl6pPr>
            <a:lvl7pPr>
              <a:defRPr sz="1200" b="0">
                <a:solidFill>
                  <a:srgbClr val="596D78"/>
                </a:solidFill>
              </a:defRPr>
            </a:lvl7pPr>
            <a:lvl8pPr>
              <a:defRPr sz="1200" b="0">
                <a:solidFill>
                  <a:srgbClr val="596D78"/>
                </a:solidFill>
              </a:defRPr>
            </a:lvl8pPr>
            <a:lvl9pPr>
              <a:defRPr sz="1200" b="0">
                <a:solidFill>
                  <a:srgbClr val="596D78"/>
                </a:solidFill>
              </a:defRPr>
            </a:lvl9pPr>
          </a:lstStyle>
          <a:p xmlns:a="http://schemas.openxmlformats.org/drawingml/2006/main">
            <a:pPr>
              <a:defRPr sz="1200" b="0">
                <a:solidFill>
                  <a:srgbClr val="596D78"/>
                </a:solidFill>
              </a:defRPr>
            </a:pPr>
            <a:r>
              <a:rPr sz="1200" b="0">
                <a:solidFill>
                  <a:srgbClr val="596D78"/>
                </a:solidFill>
              </a:rPr>
              <a:t>Expand above S0; debt-financed</a:t>
            </a:r>
          </a:p>
        </p:txBody>
      </p:sp>
      <p:sp>
        <p:nvSpPr>
          <p:cNvPr id="18" name="">
            <a:extLst xmlns:a="http://schemas.openxmlformats.org/drawingml/2006/main">
              <a:ext uri="{FF2B5EF4-FFF2-40B4-BE49-F238E27FC236}">
                <a16:creationId xmlns:a16="http://schemas.microsoft.com/office/drawing/2014/main" id="{BA4CF42D-52F8-43F6-98F9-75A8FF2ABAA1}"/>
              </a:ext>
            </a:extLst>
          </p:cNvPr>
          <p:cNvSpPr>
            <a:spLocks xmlns:a="http://schemas.openxmlformats.org/drawingml/2006/main" noGrp="1"/>
          </p:cNvSpPr>
          <p:nvPr/>
        </p:nvSpPr>
        <p:spPr>
          <a:xfrm xmlns:a="http://schemas.openxmlformats.org/drawingml/2006/main">
            <a:off x="714375" y="4876800"/>
            <a:ext cx="10477500" cy="0"/>
          </a:xfrm>
          <a:prstGeom xmlns:a="http://schemas.openxmlformats.org/drawingml/2006/main" prst="line">
            <a:avLst/>
          </a:prstGeom>
          <a:ln xmlns:a="http://schemas.openxmlformats.org/drawingml/2006/main" w="9525">
            <a:solidFill>
              <a:srgbClr val="D9E2E5"/>
            </a:solidFill>
            <a:prstDash val="solid"/>
          </a:ln>
        </p:spPr>
      </p:sp>
      <p:sp>
        <p:nvSpPr>
          <p:cNvPr id="19" name="">
            <a:extLst xmlns:a="http://schemas.openxmlformats.org/drawingml/2006/main">
              <a:ext uri="{FF2B5EF4-FFF2-40B4-BE49-F238E27FC236}">
                <a16:creationId xmlns:a16="http://schemas.microsoft.com/office/drawing/2014/main" id="{CC219F71-E26F-491C-8546-D83AAB42ABDE}"/>
              </a:ext>
            </a:extLst>
          </p:cNvPr>
          <p:cNvSpPr>
            <a:spLocks xmlns:a="http://schemas.openxmlformats.org/drawingml/2006/main" noGrp="1"/>
          </p:cNvSpPr>
          <p:nvPr/>
        </p:nvSpPr>
        <p:spPr>
          <a:xfrm xmlns:a="http://schemas.openxmlformats.org/drawingml/2006/main">
            <a:off x="714375" y="509587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68184"/>
                </a:solidFill>
              </a:defRPr>
            </a:defPPr>
            <a:lvl1pPr>
              <a:defRPr sz="1350" b="1">
                <a:solidFill>
                  <a:srgbClr val="168184"/>
                </a:solidFill>
              </a:defRPr>
            </a:lvl1pPr>
            <a:lvl2pPr>
              <a:defRPr sz="1350" b="1">
                <a:solidFill>
                  <a:srgbClr val="168184"/>
                </a:solidFill>
              </a:defRPr>
            </a:lvl2pPr>
            <a:lvl3pPr>
              <a:defRPr sz="1350" b="1">
                <a:solidFill>
                  <a:srgbClr val="168184"/>
                </a:solidFill>
              </a:defRPr>
            </a:lvl3pPr>
            <a:lvl4pPr>
              <a:defRPr sz="1350" b="1">
                <a:solidFill>
                  <a:srgbClr val="168184"/>
                </a:solidFill>
              </a:defRPr>
            </a:lvl4pPr>
            <a:lvl5pPr>
              <a:defRPr sz="1350" b="1">
                <a:solidFill>
                  <a:srgbClr val="168184"/>
                </a:solidFill>
              </a:defRPr>
            </a:lvl5pPr>
            <a:lvl6pPr>
              <a:defRPr sz="1350" b="1">
                <a:solidFill>
                  <a:srgbClr val="168184"/>
                </a:solidFill>
              </a:defRPr>
            </a:lvl6pPr>
            <a:lvl7pPr>
              <a:defRPr sz="1350" b="1">
                <a:solidFill>
                  <a:srgbClr val="168184"/>
                </a:solidFill>
              </a:defRPr>
            </a:lvl7pPr>
            <a:lvl8pPr>
              <a:defRPr sz="1350" b="1">
                <a:solidFill>
                  <a:srgbClr val="168184"/>
                </a:solidFill>
              </a:defRPr>
            </a:lvl8pPr>
            <a:lvl9pPr>
              <a:defRPr sz="1350" b="1">
                <a:solidFill>
                  <a:srgbClr val="168184"/>
                </a:solidFill>
              </a:defRPr>
            </a:lvl9pPr>
          </a:lstStyle>
          <a:p xmlns:a="http://schemas.openxmlformats.org/drawingml/2006/main">
            <a:pPr>
              <a:defRPr sz="1350" b="1">
                <a:solidFill>
                  <a:srgbClr val="168184"/>
                </a:solidFill>
              </a:defRPr>
            </a:pPr>
            <a:r>
              <a:rPr sz="1350" b="1">
                <a:solidFill>
                  <a:srgbClr val="168184"/>
                </a:solidFill>
              </a:rPr>
              <a:t>E_mod_tax, E_amb_tax</a:t>
            </a:r>
          </a:p>
        </p:txBody>
      </p:sp>
      <p:sp>
        <p:nvSpPr>
          <p:cNvPr id="20" name="">
            <a:extLst xmlns:a="http://schemas.openxmlformats.org/drawingml/2006/main">
              <a:ext uri="{FF2B5EF4-FFF2-40B4-BE49-F238E27FC236}">
                <a16:creationId xmlns:a16="http://schemas.microsoft.com/office/drawing/2014/main" id="{8FE2AC88-1CCD-4545-8C94-A5A76DB22D66}"/>
              </a:ext>
            </a:extLst>
          </p:cNvPr>
          <p:cNvSpPr>
            <a:spLocks xmlns:a="http://schemas.openxmlformats.org/drawingml/2006/main" noGrp="1"/>
          </p:cNvSpPr>
          <p:nvPr/>
        </p:nvSpPr>
        <p:spPr>
          <a:xfrm xmlns:a="http://schemas.openxmlformats.org/drawingml/2006/main">
            <a:off x="2857500" y="5095875"/>
            <a:ext cx="809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96D78"/>
                </a:solidFill>
              </a:defRPr>
            </a:defPPr>
            <a:lvl1pPr>
              <a:defRPr sz="1200" b="0">
                <a:solidFill>
                  <a:srgbClr val="596D78"/>
                </a:solidFill>
              </a:defRPr>
            </a:lvl1pPr>
            <a:lvl2pPr>
              <a:defRPr sz="1200" b="0">
                <a:solidFill>
                  <a:srgbClr val="596D78"/>
                </a:solidFill>
              </a:defRPr>
            </a:lvl2pPr>
            <a:lvl3pPr>
              <a:defRPr sz="1200" b="0">
                <a:solidFill>
                  <a:srgbClr val="596D78"/>
                </a:solidFill>
              </a:defRPr>
            </a:lvl3pPr>
            <a:lvl4pPr>
              <a:defRPr sz="1200" b="0">
                <a:solidFill>
                  <a:srgbClr val="596D78"/>
                </a:solidFill>
              </a:defRPr>
            </a:lvl4pPr>
            <a:lvl5pPr>
              <a:defRPr sz="1200" b="0">
                <a:solidFill>
                  <a:srgbClr val="596D78"/>
                </a:solidFill>
              </a:defRPr>
            </a:lvl5pPr>
            <a:lvl6pPr>
              <a:defRPr sz="1200" b="0">
                <a:solidFill>
                  <a:srgbClr val="596D78"/>
                </a:solidFill>
              </a:defRPr>
            </a:lvl6pPr>
            <a:lvl7pPr>
              <a:defRPr sz="1200" b="0">
                <a:solidFill>
                  <a:srgbClr val="596D78"/>
                </a:solidFill>
              </a:defRPr>
            </a:lvl7pPr>
            <a:lvl8pPr>
              <a:defRPr sz="1200" b="0">
                <a:solidFill>
                  <a:srgbClr val="596D78"/>
                </a:solidFill>
              </a:defRPr>
            </a:lvl8pPr>
            <a:lvl9pPr>
              <a:defRPr sz="1200" b="0">
                <a:solidFill>
                  <a:srgbClr val="596D78"/>
                </a:solidFill>
              </a:defRPr>
            </a:lvl9pPr>
          </a:lstStyle>
          <a:p xmlns:a="http://schemas.openxmlformats.org/drawingml/2006/main">
            <a:pPr>
              <a:defRPr sz="1200" b="0">
                <a:solidFill>
                  <a:srgbClr val="596D78"/>
                </a:solidFill>
              </a:defRPr>
            </a:pPr>
            <a:r>
              <a:rPr sz="1200" b="0">
                <a:solidFill>
                  <a:srgbClr val="596D78"/>
                </a:solidFill>
              </a:rPr>
              <a:t>Same expansion idea, with equal revenue increase vs S0</a:t>
            </a:r>
          </a:p>
        </p:txBody>
      </p:sp>
      <p:sp>
        <p:nvSpPr>
          <p:cNvPr id="21" name="">
            <a:extLst xmlns:a="http://schemas.openxmlformats.org/drawingml/2006/main">
              <a:ext uri="{FF2B5EF4-FFF2-40B4-BE49-F238E27FC236}">
                <a16:creationId xmlns:a16="http://schemas.microsoft.com/office/drawing/2014/main" id="{8F108B4B-1AE7-417F-BB1C-DA923E35CDE9}"/>
              </a:ext>
            </a:extLst>
          </p:cNvPr>
          <p:cNvSpPr>
            <a:spLocks xmlns:a="http://schemas.openxmlformats.org/drawingml/2006/main" noGrp="1"/>
          </p:cNvSpPr>
          <p:nvPr/>
        </p:nvSpPr>
        <p:spPr>
          <a:xfrm xmlns:a="http://schemas.openxmlformats.org/drawingml/2006/main">
            <a:off x="714375" y="5619750"/>
            <a:ext cx="10477500" cy="0"/>
          </a:xfrm>
          <a:prstGeom xmlns:a="http://schemas.openxmlformats.org/drawingml/2006/main" prst="line">
            <a:avLst/>
          </a:prstGeom>
          <a:ln xmlns:a="http://schemas.openxmlformats.org/drawingml/2006/main" w="9525">
            <a:solidFill>
              <a:srgbClr val="D9E2E5"/>
            </a:solidFill>
            <a:prstDash val="solid"/>
          </a:ln>
        </p:spPr>
      </p:sp>
    </p:spTree>
    <p:extLst>
      <p:ext uri="{BB962C8B-B14F-4D97-AF65-F5344CB8AC3E}">
        <p14:creationId xmlns:p14="http://schemas.microsoft.com/office/powerpoint/2010/main" val="187942151"/>
      </p:ext>
    </p:extLst>
  </p:cSld>
</p:sld>
</file>

<file path=ppt/slides/slide5.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D32675A-62AD-4353-ADF1-14899942A295}"/>
              </a:ext>
            </a:extLst>
          </p:cNvPr>
          <p:cNvSpPr>
            <a:spLocks xmlns:a="http://schemas.openxmlformats.org/drawingml/2006/main" noGrp="1"/>
          </p:cNvSpPr>
          <p:nvPr/>
        </p:nvSpPr>
        <p:spPr>
          <a:xfrm xmlns:a="http://schemas.openxmlformats.org/drawingml/2006/main">
            <a:off x="647700" y="3238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168184"/>
                </a:solidFill>
              </a:defRPr>
            </a:defPPr>
            <a:lvl1pPr>
              <a:defRPr sz="975" b="1">
                <a:solidFill>
                  <a:srgbClr val="168184"/>
                </a:solidFill>
              </a:defRPr>
            </a:lvl1pPr>
            <a:lvl2pPr>
              <a:defRPr sz="975" b="1">
                <a:solidFill>
                  <a:srgbClr val="168184"/>
                </a:solidFill>
              </a:defRPr>
            </a:lvl2pPr>
            <a:lvl3pPr>
              <a:defRPr sz="975" b="1">
                <a:solidFill>
                  <a:srgbClr val="168184"/>
                </a:solidFill>
              </a:defRPr>
            </a:lvl3pPr>
            <a:lvl4pPr>
              <a:defRPr sz="975" b="1">
                <a:solidFill>
                  <a:srgbClr val="168184"/>
                </a:solidFill>
              </a:defRPr>
            </a:lvl4pPr>
            <a:lvl5pPr>
              <a:defRPr sz="975" b="1">
                <a:solidFill>
                  <a:srgbClr val="168184"/>
                </a:solidFill>
              </a:defRPr>
            </a:lvl5pPr>
            <a:lvl6pPr>
              <a:defRPr sz="975" b="1">
                <a:solidFill>
                  <a:srgbClr val="168184"/>
                </a:solidFill>
              </a:defRPr>
            </a:lvl6pPr>
            <a:lvl7pPr>
              <a:defRPr sz="975" b="1">
                <a:solidFill>
                  <a:srgbClr val="168184"/>
                </a:solidFill>
              </a:defRPr>
            </a:lvl7pPr>
            <a:lvl8pPr>
              <a:defRPr sz="975" b="1">
                <a:solidFill>
                  <a:srgbClr val="168184"/>
                </a:solidFill>
              </a:defRPr>
            </a:lvl8pPr>
            <a:lvl9pPr>
              <a:defRPr sz="975" b="1">
                <a:solidFill>
                  <a:srgbClr val="168184"/>
                </a:solidFill>
              </a:defRPr>
            </a:lvl9pPr>
          </a:lstStyle>
          <a:p xmlns:a="http://schemas.openxmlformats.org/drawingml/2006/main">
            <a:pPr>
              <a:defRPr sz="975" b="1">
                <a:solidFill>
                  <a:srgbClr val="168184"/>
                </a:solidFill>
              </a:defRPr>
            </a:pPr>
            <a:r>
              <a:rPr sz="975" b="1">
                <a:solidFill>
                  <a:srgbClr val="168184"/>
                </a:solidFill>
              </a:rPr>
              <a:t>BRAZIL SCENARIO RESULTS</a:t>
            </a:r>
          </a:p>
        </p:txBody>
      </p:sp>
      <p:sp>
        <p:nvSpPr>
          <p:cNvPr id="2" name="">
            <a:extLst xmlns:a="http://schemas.openxmlformats.org/drawingml/2006/main">
              <a:ext uri="{FF2B5EF4-FFF2-40B4-BE49-F238E27FC236}">
                <a16:creationId xmlns:a16="http://schemas.microsoft.com/office/drawing/2014/main" id="{25A2480C-0B66-4965-A77E-85BF971C2628}"/>
              </a:ext>
            </a:extLst>
          </p:cNvPr>
          <p:cNvSpPr>
            <a:spLocks xmlns:a="http://schemas.openxmlformats.org/drawingml/2006/main" noGrp="1"/>
          </p:cNvSpPr>
          <p:nvPr/>
        </p:nvSpPr>
        <p:spPr>
          <a:xfrm xmlns:a="http://schemas.openxmlformats.org/drawingml/2006/main">
            <a:off x="647700" y="6286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173344"/>
                </a:solidFill>
              </a:defRPr>
            </a:defPPr>
            <a:lvl1pPr>
              <a:defRPr sz="2550" b="1">
                <a:solidFill>
                  <a:srgbClr val="173344"/>
                </a:solidFill>
              </a:defRPr>
            </a:lvl1pPr>
            <a:lvl2pPr>
              <a:defRPr sz="2550" b="1">
                <a:solidFill>
                  <a:srgbClr val="173344"/>
                </a:solidFill>
              </a:defRPr>
            </a:lvl2pPr>
            <a:lvl3pPr>
              <a:defRPr sz="2550" b="1">
                <a:solidFill>
                  <a:srgbClr val="173344"/>
                </a:solidFill>
              </a:defRPr>
            </a:lvl3pPr>
            <a:lvl4pPr>
              <a:defRPr sz="2550" b="1">
                <a:solidFill>
                  <a:srgbClr val="173344"/>
                </a:solidFill>
              </a:defRPr>
            </a:lvl4pPr>
            <a:lvl5pPr>
              <a:defRPr sz="2550" b="1">
                <a:solidFill>
                  <a:srgbClr val="173344"/>
                </a:solidFill>
              </a:defRPr>
            </a:lvl5pPr>
            <a:lvl6pPr>
              <a:defRPr sz="2550" b="1">
                <a:solidFill>
                  <a:srgbClr val="173344"/>
                </a:solidFill>
              </a:defRPr>
            </a:lvl6pPr>
            <a:lvl7pPr>
              <a:defRPr sz="2550" b="1">
                <a:solidFill>
                  <a:srgbClr val="173344"/>
                </a:solidFill>
              </a:defRPr>
            </a:lvl7pPr>
            <a:lvl8pPr>
              <a:defRPr sz="2550" b="1">
                <a:solidFill>
                  <a:srgbClr val="173344"/>
                </a:solidFill>
              </a:defRPr>
            </a:lvl8pPr>
            <a:lvl9pPr>
              <a:defRPr sz="2550" b="1">
                <a:solidFill>
                  <a:srgbClr val="173344"/>
                </a:solidFill>
              </a:defRPr>
            </a:lvl9pPr>
          </a:lstStyle>
          <a:p xmlns:a="http://schemas.openxmlformats.org/drawingml/2006/main">
            <a:pPr>
              <a:defRPr sz="2550" b="1">
                <a:solidFill>
                  <a:srgbClr val="173344"/>
                </a:solidFill>
              </a:defRPr>
            </a:pPr>
            <a:r>
              <a:rPr sz="2550" b="1">
                <a:solidFill>
                  <a:srgbClr val="173344"/>
                </a:solidFill>
              </a:rPr>
              <a:t>Gini: your intuition matches the modeled result</a:t>
            </a:r>
          </a:p>
        </p:txBody>
      </p:sp>
      <p:sp>
        <p:nvSpPr>
          <p:cNvPr id="3" name="">
            <a:extLst xmlns:a="http://schemas.openxmlformats.org/drawingml/2006/main">
              <a:ext uri="{FF2B5EF4-FFF2-40B4-BE49-F238E27FC236}">
                <a16:creationId xmlns:a16="http://schemas.microsoft.com/office/drawing/2014/main" id="{B1D4915E-7857-4879-8E9C-7F40867EC631}"/>
              </a:ext>
            </a:extLst>
          </p:cNvPr>
          <p:cNvSpPr>
            <a:spLocks xmlns:a="http://schemas.openxmlformats.org/drawingml/2006/main" noGrp="1"/>
          </p:cNvSpPr>
          <p:nvPr/>
        </p:nvSpPr>
        <p:spPr>
          <a:xfrm xmlns:a="http://schemas.openxmlformats.org/drawingml/2006/main">
            <a:off x="647700" y="6477000"/>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0">
                <a:solidFill>
                  <a:srgbClr val="596D78"/>
                </a:solidFill>
              </a:defRPr>
            </a:defPPr>
            <a:lvl1pPr>
              <a:defRPr sz="900" b="0">
                <a:solidFill>
                  <a:srgbClr val="596D78"/>
                </a:solidFill>
              </a:defRPr>
            </a:lvl1pPr>
            <a:lvl2pPr>
              <a:defRPr sz="900" b="0">
                <a:solidFill>
                  <a:srgbClr val="596D78"/>
                </a:solidFill>
              </a:defRPr>
            </a:lvl2pPr>
            <a:lvl3pPr>
              <a:defRPr sz="900" b="0">
                <a:solidFill>
                  <a:srgbClr val="596D78"/>
                </a:solidFill>
              </a:defRPr>
            </a:lvl3pPr>
            <a:lvl4pPr>
              <a:defRPr sz="900" b="0">
                <a:solidFill>
                  <a:srgbClr val="596D78"/>
                </a:solidFill>
              </a:defRPr>
            </a:lvl4pPr>
            <a:lvl5pPr>
              <a:defRPr sz="900" b="0">
                <a:solidFill>
                  <a:srgbClr val="596D78"/>
                </a:solidFill>
              </a:defRPr>
            </a:lvl5pPr>
            <a:lvl6pPr>
              <a:defRPr sz="900" b="0">
                <a:solidFill>
                  <a:srgbClr val="596D78"/>
                </a:solidFill>
              </a:defRPr>
            </a:lvl6pPr>
            <a:lvl7pPr>
              <a:defRPr sz="900" b="0">
                <a:solidFill>
                  <a:srgbClr val="596D78"/>
                </a:solidFill>
              </a:defRPr>
            </a:lvl7pPr>
            <a:lvl8pPr>
              <a:defRPr sz="900" b="0">
                <a:solidFill>
                  <a:srgbClr val="596D78"/>
                </a:solidFill>
              </a:defRPr>
            </a:lvl8pPr>
            <a:lvl9pPr>
              <a:defRPr sz="900" b="0">
                <a:solidFill>
                  <a:srgbClr val="596D78"/>
                </a:solidFill>
              </a:defRPr>
            </a:lvl9pPr>
          </a:lstStyle>
          <a:p xmlns:a="http://schemas.openxmlformats.org/drawingml/2006/main">
            <a:pPr>
              <a:defRPr sz="900" b="0">
                <a:solidFill>
                  <a:srgbClr val="596D78"/>
                </a:solidFill>
              </a:defRPr>
            </a:pPr>
            <a:r>
              <a:rPr sz="900" b="0">
                <a:solidFill>
                  <a:srgbClr val="596D78"/>
                </a:solidFill>
              </a:rPr>
              <a:t>Internal review · D2 validation gate FAIL · 21 Oct 2026</a:t>
            </a:r>
          </a:p>
        </p:txBody>
      </p:sp>
      <p:sp>
        <p:nvSpPr>
          <p:cNvPr id="4" name="">
            <a:extLst xmlns:a="http://schemas.openxmlformats.org/drawingml/2006/main">
              <a:ext uri="{FF2B5EF4-FFF2-40B4-BE49-F238E27FC236}">
                <a16:creationId xmlns:a16="http://schemas.microsoft.com/office/drawing/2014/main" id="{34C477A3-280C-4D87-BDC5-2A8879233DD0}"/>
              </a:ext>
            </a:extLst>
          </p:cNvPr>
          <p:cNvSpPr>
            <a:spLocks xmlns:a="http://schemas.openxmlformats.org/drawingml/2006/main" noGrp="1"/>
          </p:cNvSpPr>
          <p:nvPr/>
        </p:nvSpPr>
        <p:spPr>
          <a:xfrm xmlns:a="http://schemas.openxmlformats.org/drawingml/2006/main">
            <a:off x="704850" y="1381125"/>
            <a:ext cx="1033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1C303B"/>
                </a:solidFill>
              </a:defRPr>
            </a:defPPr>
            <a:lvl1pPr>
              <a:defRPr sz="1650" b="1">
                <a:solidFill>
                  <a:srgbClr val="1C303B"/>
                </a:solidFill>
              </a:defRPr>
            </a:lvl1pPr>
            <a:lvl2pPr>
              <a:defRPr sz="1650" b="1">
                <a:solidFill>
                  <a:srgbClr val="1C303B"/>
                </a:solidFill>
              </a:defRPr>
            </a:lvl2pPr>
            <a:lvl3pPr>
              <a:defRPr sz="1650" b="1">
                <a:solidFill>
                  <a:srgbClr val="1C303B"/>
                </a:solidFill>
              </a:defRPr>
            </a:lvl3pPr>
            <a:lvl4pPr>
              <a:defRPr sz="1650" b="1">
                <a:solidFill>
                  <a:srgbClr val="1C303B"/>
                </a:solidFill>
              </a:defRPr>
            </a:lvl4pPr>
            <a:lvl5pPr>
              <a:defRPr sz="1650" b="1">
                <a:solidFill>
                  <a:srgbClr val="1C303B"/>
                </a:solidFill>
              </a:defRPr>
            </a:lvl5pPr>
            <a:lvl6pPr>
              <a:defRPr sz="1650" b="1">
                <a:solidFill>
                  <a:srgbClr val="1C303B"/>
                </a:solidFill>
              </a:defRPr>
            </a:lvl6pPr>
            <a:lvl7pPr>
              <a:defRPr sz="1650" b="1">
                <a:solidFill>
                  <a:srgbClr val="1C303B"/>
                </a:solidFill>
              </a:defRPr>
            </a:lvl7pPr>
            <a:lvl8pPr>
              <a:defRPr sz="1650" b="1">
                <a:solidFill>
                  <a:srgbClr val="1C303B"/>
                </a:solidFill>
              </a:defRPr>
            </a:lvl8pPr>
            <a:lvl9pPr>
              <a:defRPr sz="1650" b="1">
                <a:solidFill>
                  <a:srgbClr val="1C303B"/>
                </a:solidFill>
              </a:defRPr>
            </a:lvl9pPr>
          </a:lstStyle>
          <a:p xmlns:a="http://schemas.openxmlformats.org/drawingml/2006/main">
            <a:pPr>
              <a:defRPr sz="1650" b="1">
                <a:solidFill>
                  <a:srgbClr val="1C303B"/>
                </a:solidFill>
              </a:defRPr>
            </a:pPr>
            <a:r>
              <a:rPr sz="1650" b="1">
                <a:solidFill>
                  <a:srgbClr val="1C303B"/>
                </a:solidFill>
              </a:rPr>
              <a:t>Higher Gini = more unequal income distribution. Positive vs S0 is adverse.</a:t>
            </a:r>
          </a:p>
        </p:txBody>
      </p:sp>
      <p:sp>
        <p:nvSpPr>
          <p:cNvPr id="5" name="">
            <a:extLst xmlns:a="http://schemas.openxmlformats.org/drawingml/2006/main">
              <a:ext uri="{FF2B5EF4-FFF2-40B4-BE49-F238E27FC236}">
                <a16:creationId xmlns:a16="http://schemas.microsoft.com/office/drawing/2014/main" id="{6B0FA7D4-1CF4-48E7-A7FE-5F02AC66F777}"/>
              </a:ext>
            </a:extLst>
          </p:cNvPr>
          <p:cNvSpPr>
            <a:spLocks xmlns:a="http://schemas.openxmlformats.org/drawingml/2006/main" noGrp="1"/>
          </p:cNvSpPr>
          <p:nvPr/>
        </p:nvSpPr>
        <p:spPr>
          <a:xfrm xmlns:a="http://schemas.openxmlformats.org/drawingml/2006/main">
            <a:off x="2970174" y="2238375"/>
            <a:ext cx="0" cy="1905000"/>
          </a:xfrm>
          <a:prstGeom xmlns:a="http://schemas.openxmlformats.org/drawingml/2006/main" prst="line">
            <a:avLst/>
          </a:prstGeom>
          <a:ln xmlns:a="http://schemas.openxmlformats.org/drawingml/2006/main" w="14288">
            <a:solidFill>
              <a:srgbClr val="596D78"/>
            </a:solidFill>
            <a:prstDash val="solid"/>
          </a:ln>
        </p:spPr>
      </p:sp>
      <p:sp>
        <p:nvSpPr>
          <p:cNvPr id="6" name="">
            <a:extLst xmlns:a="http://schemas.openxmlformats.org/drawingml/2006/main">
              <a:ext uri="{FF2B5EF4-FFF2-40B4-BE49-F238E27FC236}">
                <a16:creationId xmlns:a16="http://schemas.microsoft.com/office/drawing/2014/main" id="{A7590280-3C6C-4CF7-8DF8-5EEE3D944342}"/>
              </a:ext>
            </a:extLst>
          </p:cNvPr>
          <p:cNvSpPr>
            <a:spLocks xmlns:a="http://schemas.openxmlformats.org/drawingml/2006/main" noGrp="1"/>
          </p:cNvSpPr>
          <p:nvPr/>
        </p:nvSpPr>
        <p:spPr>
          <a:xfrm xmlns:a="http://schemas.openxmlformats.org/drawingml/2006/main">
            <a:off x="3008274" y="2057400"/>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0">
                <a:solidFill>
                  <a:srgbClr val="596D78"/>
                </a:solidFill>
              </a:defRPr>
            </a:defPPr>
            <a:lvl1pPr>
              <a:defRPr sz="900" b="0">
                <a:solidFill>
                  <a:srgbClr val="596D78"/>
                </a:solidFill>
              </a:defRPr>
            </a:lvl1pPr>
            <a:lvl2pPr>
              <a:defRPr sz="900" b="0">
                <a:solidFill>
                  <a:srgbClr val="596D78"/>
                </a:solidFill>
              </a:defRPr>
            </a:lvl2pPr>
            <a:lvl3pPr>
              <a:defRPr sz="900" b="0">
                <a:solidFill>
                  <a:srgbClr val="596D78"/>
                </a:solidFill>
              </a:defRPr>
            </a:lvl3pPr>
            <a:lvl4pPr>
              <a:defRPr sz="900" b="0">
                <a:solidFill>
                  <a:srgbClr val="596D78"/>
                </a:solidFill>
              </a:defRPr>
            </a:lvl4pPr>
            <a:lvl5pPr>
              <a:defRPr sz="900" b="0">
                <a:solidFill>
                  <a:srgbClr val="596D78"/>
                </a:solidFill>
              </a:defRPr>
            </a:lvl5pPr>
            <a:lvl6pPr>
              <a:defRPr sz="900" b="0">
                <a:solidFill>
                  <a:srgbClr val="596D78"/>
                </a:solidFill>
              </a:defRPr>
            </a:lvl6pPr>
            <a:lvl7pPr>
              <a:defRPr sz="900" b="0">
                <a:solidFill>
                  <a:srgbClr val="596D78"/>
                </a:solidFill>
              </a:defRPr>
            </a:lvl7pPr>
            <a:lvl8pPr>
              <a:defRPr sz="900" b="0">
                <a:solidFill>
                  <a:srgbClr val="596D78"/>
                </a:solidFill>
              </a:defRPr>
            </a:lvl8pPr>
            <a:lvl9pPr>
              <a:defRPr sz="900" b="0">
                <a:solidFill>
                  <a:srgbClr val="596D78"/>
                </a:solidFill>
              </a:defRPr>
            </a:lvl9pPr>
          </a:lstStyle>
          <a:p xmlns:a="http://schemas.openxmlformats.org/drawingml/2006/main">
            <a:pPr>
              <a:defRPr sz="900" b="0">
                <a:solidFill>
                  <a:srgbClr val="596D78"/>
                </a:solidFill>
              </a:defRPr>
            </a:pPr>
            <a:r>
              <a:rPr sz="900" b="0">
                <a:solidFill>
                  <a:srgbClr val="596D78"/>
                </a:solidFill>
              </a:rPr>
              <a:t>0 = S0</a:t>
            </a:r>
          </a:p>
        </p:txBody>
      </p:sp>
      <p:sp>
        <p:nvSpPr>
          <p:cNvPr id="7" name="">
            <a:extLst xmlns:a="http://schemas.openxmlformats.org/drawingml/2006/main">
              <a:ext uri="{FF2B5EF4-FFF2-40B4-BE49-F238E27FC236}">
                <a16:creationId xmlns:a16="http://schemas.microsoft.com/office/drawing/2014/main" id="{D86809B7-9FBE-4700-AC92-32C169E28A27}"/>
              </a:ext>
            </a:extLst>
          </p:cNvPr>
          <p:cNvSpPr>
            <a:spLocks xmlns:a="http://schemas.openxmlformats.org/drawingml/2006/main" noGrp="1"/>
          </p:cNvSpPr>
          <p:nvPr/>
        </p:nvSpPr>
        <p:spPr>
          <a:xfrm xmlns:a="http://schemas.openxmlformats.org/drawingml/2006/main">
            <a:off x="857250" y="2555875"/>
            <a:ext cx="1066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1C303B"/>
                </a:solidFill>
              </a:defRPr>
            </a:defPPr>
            <a:lvl1pPr>
              <a:defRPr sz="1125" b="1">
                <a:solidFill>
                  <a:srgbClr val="1C303B"/>
                </a:solidFill>
              </a:defRPr>
            </a:lvl1pPr>
            <a:lvl2pPr>
              <a:defRPr sz="1125" b="1">
                <a:solidFill>
                  <a:srgbClr val="1C303B"/>
                </a:solidFill>
              </a:defRPr>
            </a:lvl2pPr>
            <a:lvl3pPr>
              <a:defRPr sz="1125" b="1">
                <a:solidFill>
                  <a:srgbClr val="1C303B"/>
                </a:solidFill>
              </a:defRPr>
            </a:lvl3pPr>
            <a:lvl4pPr>
              <a:defRPr sz="1125" b="1">
                <a:solidFill>
                  <a:srgbClr val="1C303B"/>
                </a:solidFill>
              </a:defRPr>
            </a:lvl4pPr>
            <a:lvl5pPr>
              <a:defRPr sz="1125" b="1">
                <a:solidFill>
                  <a:srgbClr val="1C303B"/>
                </a:solidFill>
              </a:defRPr>
            </a:lvl5pPr>
            <a:lvl6pPr>
              <a:defRPr sz="1125" b="1">
                <a:solidFill>
                  <a:srgbClr val="1C303B"/>
                </a:solidFill>
              </a:defRPr>
            </a:lvl6pPr>
            <a:lvl7pPr>
              <a:defRPr sz="1125" b="1">
                <a:solidFill>
                  <a:srgbClr val="1C303B"/>
                </a:solidFill>
              </a:defRPr>
            </a:lvl7pPr>
            <a:lvl8pPr>
              <a:defRPr sz="1125" b="1">
                <a:solidFill>
                  <a:srgbClr val="1C303B"/>
                </a:solidFill>
              </a:defRPr>
            </a:lvl8pPr>
            <a:lvl9pPr>
              <a:defRPr sz="1125" b="1">
                <a:solidFill>
                  <a:srgbClr val="1C303B"/>
                </a:solidFill>
              </a:defRPr>
            </a:lvl9pPr>
          </a:lstStyle>
          <a:p xmlns:a="http://schemas.openxmlformats.org/drawingml/2006/main">
            <a:pPr>
              <a:defRPr sz="1125" b="1">
                <a:solidFill>
                  <a:srgbClr val="1C303B"/>
                </a:solidFill>
              </a:defRPr>
            </a:pPr>
            <a:r>
              <a:rPr sz="1125" b="1">
                <a:solidFill>
                  <a:srgbClr val="1C303B"/>
                </a:solidFill>
              </a:rPr>
              <a:t>R_mod</a:t>
            </a:r>
          </a:p>
        </p:txBody>
      </p:sp>
      <p:sp>
        <p:nvSpPr>
          <p:cNvPr id="8" name="">
            <a:extLst xmlns:a="http://schemas.openxmlformats.org/drawingml/2006/main">
              <a:ext uri="{FF2B5EF4-FFF2-40B4-BE49-F238E27FC236}">
                <a16:creationId xmlns:a16="http://schemas.microsoft.com/office/drawing/2014/main" id="{8FA373BA-0DD5-45FF-B4E6-91B03386EDD2}"/>
              </a:ext>
            </a:extLst>
          </p:cNvPr>
          <p:cNvSpPr>
            <a:spLocks xmlns:a="http://schemas.openxmlformats.org/drawingml/2006/main" noGrp="1"/>
          </p:cNvSpPr>
          <p:nvPr/>
        </p:nvSpPr>
        <p:spPr>
          <a:xfrm xmlns:a="http://schemas.openxmlformats.org/drawingml/2006/main">
            <a:off x="3051647" y="2651125"/>
            <a:ext cx="2058178" cy="0"/>
          </a:xfrm>
          <a:prstGeom xmlns:a="http://schemas.openxmlformats.org/drawingml/2006/main" prst="line">
            <a:avLst/>
          </a:prstGeom>
          <a:ln xmlns:a="http://schemas.openxmlformats.org/drawingml/2006/main" w="38100">
            <a:solidFill>
              <a:srgbClr val="BD5B4F"/>
            </a:solidFill>
            <a:prstDash val="solid"/>
          </a:ln>
        </p:spPr>
      </p:sp>
      <p:sp>
        <p:nvSpPr>
          <p:cNvPr id="9" name="">
            <a:extLst xmlns:a="http://schemas.openxmlformats.org/drawingml/2006/main">
              <a:ext uri="{FF2B5EF4-FFF2-40B4-BE49-F238E27FC236}">
                <a16:creationId xmlns:a16="http://schemas.microsoft.com/office/drawing/2014/main" id="{312E0FCD-0FDA-4DAE-9F12-53F419E38012}"/>
              </a:ext>
            </a:extLst>
          </p:cNvPr>
          <p:cNvSpPr>
            <a:spLocks xmlns:a="http://schemas.openxmlformats.org/drawingml/2006/main" noGrp="1"/>
          </p:cNvSpPr>
          <p:nvPr/>
        </p:nvSpPr>
        <p:spPr>
          <a:xfrm xmlns:a="http://schemas.openxmlformats.org/drawingml/2006/main">
            <a:off x="3285475" y="2593975"/>
            <a:ext cx="114300" cy="114300"/>
          </a:xfrm>
          <a:prstGeom xmlns:a="http://schemas.openxmlformats.org/drawingml/2006/main" prst="ellipse">
            <a:avLst/>
          </a:prstGeom>
          <a:solidFill xmlns:a="http://schemas.openxmlformats.org/drawingml/2006/main">
            <a:srgbClr val="BD5B4F"/>
          </a:solidFill>
          <a:ln xmlns:a="http://schemas.openxmlformats.org/drawingml/2006/main" w="9525">
            <a:solidFill>
              <a:srgbClr val="BD5B4F"/>
            </a:solidFill>
            <a:prstDash val="solid"/>
          </a:ln>
        </p:spPr>
      </p:sp>
      <p:sp>
        <p:nvSpPr>
          <p:cNvPr id="10" name="">
            <a:extLst xmlns:a="http://schemas.openxmlformats.org/drawingml/2006/main">
              <a:ext uri="{FF2B5EF4-FFF2-40B4-BE49-F238E27FC236}">
                <a16:creationId xmlns:a16="http://schemas.microsoft.com/office/drawing/2014/main" id="{B44B119C-0F39-4586-A4CE-B25188CCA5E8}"/>
              </a:ext>
            </a:extLst>
          </p:cNvPr>
          <p:cNvSpPr>
            <a:spLocks xmlns:a="http://schemas.openxmlformats.org/drawingml/2006/main" noGrp="1"/>
          </p:cNvSpPr>
          <p:nvPr/>
        </p:nvSpPr>
        <p:spPr>
          <a:xfrm xmlns:a="http://schemas.openxmlformats.org/drawingml/2006/main">
            <a:off x="10067925" y="2555875"/>
            <a:ext cx="819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BD5B4F"/>
                </a:solidFill>
              </a:defRPr>
            </a:defPPr>
            <a:lvl1pPr>
              <a:defRPr sz="1050" b="1">
                <a:solidFill>
                  <a:srgbClr val="BD5B4F"/>
                </a:solidFill>
              </a:defRPr>
            </a:lvl1pPr>
            <a:lvl2pPr>
              <a:defRPr sz="1050" b="1">
                <a:solidFill>
                  <a:srgbClr val="BD5B4F"/>
                </a:solidFill>
              </a:defRPr>
            </a:lvl2pPr>
            <a:lvl3pPr>
              <a:defRPr sz="1050" b="1">
                <a:solidFill>
                  <a:srgbClr val="BD5B4F"/>
                </a:solidFill>
              </a:defRPr>
            </a:lvl3pPr>
            <a:lvl4pPr>
              <a:defRPr sz="1050" b="1">
                <a:solidFill>
                  <a:srgbClr val="BD5B4F"/>
                </a:solidFill>
              </a:defRPr>
            </a:lvl4pPr>
            <a:lvl5pPr>
              <a:defRPr sz="1050" b="1">
                <a:solidFill>
                  <a:srgbClr val="BD5B4F"/>
                </a:solidFill>
              </a:defRPr>
            </a:lvl5pPr>
            <a:lvl6pPr>
              <a:defRPr sz="1050" b="1">
                <a:solidFill>
                  <a:srgbClr val="BD5B4F"/>
                </a:solidFill>
              </a:defRPr>
            </a:lvl6pPr>
            <a:lvl7pPr>
              <a:defRPr sz="1050" b="1">
                <a:solidFill>
                  <a:srgbClr val="BD5B4F"/>
                </a:solidFill>
              </a:defRPr>
            </a:lvl7pPr>
            <a:lvl8pPr>
              <a:defRPr sz="1050" b="1">
                <a:solidFill>
                  <a:srgbClr val="BD5B4F"/>
                </a:solidFill>
              </a:defRPr>
            </a:lvl8pPr>
            <a:lvl9pPr>
              <a:defRPr sz="1050" b="1">
                <a:solidFill>
                  <a:srgbClr val="BD5B4F"/>
                </a:solidFill>
              </a:defRPr>
            </a:lvl9pPr>
          </a:lstStyle>
          <a:p xmlns:a="http://schemas.openxmlformats.org/drawingml/2006/main">
            <a:pPr>
              <a:defRPr sz="1050" b="1">
                <a:solidFill>
                  <a:srgbClr val="BD5B4F"/>
                </a:solidFill>
              </a:defRPr>
            </a:pPr>
            <a:r>
              <a:rPr sz="1050" b="1">
                <a:solidFill>
                  <a:srgbClr val="BD5B4F"/>
                </a:solidFill>
              </a:rPr>
              <a:t>+0.19</a:t>
            </a:r>
          </a:p>
        </p:txBody>
      </p:sp>
      <p:sp>
        <p:nvSpPr>
          <p:cNvPr id="11" name="">
            <a:extLst xmlns:a="http://schemas.openxmlformats.org/drawingml/2006/main">
              <a:ext uri="{FF2B5EF4-FFF2-40B4-BE49-F238E27FC236}">
                <a16:creationId xmlns:a16="http://schemas.microsoft.com/office/drawing/2014/main" id="{8FE2DA4A-EE21-4BEA-9735-24B6FFBB06DF}"/>
              </a:ext>
            </a:extLst>
          </p:cNvPr>
          <p:cNvSpPr>
            <a:spLocks xmlns:a="http://schemas.openxmlformats.org/drawingml/2006/main" noGrp="1"/>
          </p:cNvSpPr>
          <p:nvPr/>
        </p:nvSpPr>
        <p:spPr>
          <a:xfrm xmlns:a="http://schemas.openxmlformats.org/drawingml/2006/main">
            <a:off x="857250" y="3152775"/>
            <a:ext cx="1066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1C303B"/>
                </a:solidFill>
              </a:defRPr>
            </a:defPPr>
            <a:lvl1pPr>
              <a:defRPr sz="1125" b="1">
                <a:solidFill>
                  <a:srgbClr val="1C303B"/>
                </a:solidFill>
              </a:defRPr>
            </a:lvl1pPr>
            <a:lvl2pPr>
              <a:defRPr sz="1125" b="1">
                <a:solidFill>
                  <a:srgbClr val="1C303B"/>
                </a:solidFill>
              </a:defRPr>
            </a:lvl2pPr>
            <a:lvl3pPr>
              <a:defRPr sz="1125" b="1">
                <a:solidFill>
                  <a:srgbClr val="1C303B"/>
                </a:solidFill>
              </a:defRPr>
            </a:lvl3pPr>
            <a:lvl4pPr>
              <a:defRPr sz="1125" b="1">
                <a:solidFill>
                  <a:srgbClr val="1C303B"/>
                </a:solidFill>
              </a:defRPr>
            </a:lvl4pPr>
            <a:lvl5pPr>
              <a:defRPr sz="1125" b="1">
                <a:solidFill>
                  <a:srgbClr val="1C303B"/>
                </a:solidFill>
              </a:defRPr>
            </a:lvl5pPr>
            <a:lvl6pPr>
              <a:defRPr sz="1125" b="1">
                <a:solidFill>
                  <a:srgbClr val="1C303B"/>
                </a:solidFill>
              </a:defRPr>
            </a:lvl6pPr>
            <a:lvl7pPr>
              <a:defRPr sz="1125" b="1">
                <a:solidFill>
                  <a:srgbClr val="1C303B"/>
                </a:solidFill>
              </a:defRPr>
            </a:lvl7pPr>
            <a:lvl8pPr>
              <a:defRPr sz="1125" b="1">
                <a:solidFill>
                  <a:srgbClr val="1C303B"/>
                </a:solidFill>
              </a:defRPr>
            </a:lvl8pPr>
            <a:lvl9pPr>
              <a:defRPr sz="1125" b="1">
                <a:solidFill>
                  <a:srgbClr val="1C303B"/>
                </a:solidFill>
              </a:defRPr>
            </a:lvl9pPr>
          </a:lstStyle>
          <a:p xmlns:a="http://schemas.openxmlformats.org/drawingml/2006/main">
            <a:pPr>
              <a:defRPr sz="1125" b="1">
                <a:solidFill>
                  <a:srgbClr val="1C303B"/>
                </a:solidFill>
              </a:defRPr>
            </a:pPr>
            <a:r>
              <a:rPr sz="1125" b="1">
                <a:solidFill>
                  <a:srgbClr val="1C303B"/>
                </a:solidFill>
              </a:rPr>
              <a:t>R_amb</a:t>
            </a:r>
          </a:p>
        </p:txBody>
      </p:sp>
      <p:sp>
        <p:nvSpPr>
          <p:cNvPr id="12" name="">
            <a:extLst xmlns:a="http://schemas.openxmlformats.org/drawingml/2006/main">
              <a:ext uri="{FF2B5EF4-FFF2-40B4-BE49-F238E27FC236}">
                <a16:creationId xmlns:a16="http://schemas.microsoft.com/office/drawing/2014/main" id="{50035C2D-B759-43EB-90AF-2FF753585420}"/>
              </a:ext>
            </a:extLst>
          </p:cNvPr>
          <p:cNvSpPr>
            <a:spLocks xmlns:a="http://schemas.openxmlformats.org/drawingml/2006/main" noGrp="1"/>
          </p:cNvSpPr>
          <p:nvPr/>
        </p:nvSpPr>
        <p:spPr>
          <a:xfrm xmlns:a="http://schemas.openxmlformats.org/drawingml/2006/main">
            <a:off x="3418279" y="3248025"/>
            <a:ext cx="4217229" cy="0"/>
          </a:xfrm>
          <a:prstGeom xmlns:a="http://schemas.openxmlformats.org/drawingml/2006/main" prst="line">
            <a:avLst/>
          </a:prstGeom>
          <a:ln xmlns:a="http://schemas.openxmlformats.org/drawingml/2006/main" w="38100">
            <a:solidFill>
              <a:srgbClr val="BD5B4F"/>
            </a:solidFill>
            <a:prstDash val="solid"/>
          </a:ln>
        </p:spPr>
      </p:sp>
      <p:sp>
        <p:nvSpPr>
          <p:cNvPr id="13" name="">
            <a:extLst xmlns:a="http://schemas.openxmlformats.org/drawingml/2006/main">
              <a:ext uri="{FF2B5EF4-FFF2-40B4-BE49-F238E27FC236}">
                <a16:creationId xmlns:a16="http://schemas.microsoft.com/office/drawing/2014/main" id="{4FAEA8F1-2A1F-4A1C-8330-A95195149DBC}"/>
              </a:ext>
            </a:extLst>
          </p:cNvPr>
          <p:cNvSpPr>
            <a:spLocks xmlns:a="http://schemas.openxmlformats.org/drawingml/2006/main" noGrp="1"/>
          </p:cNvSpPr>
          <p:nvPr/>
        </p:nvSpPr>
        <p:spPr>
          <a:xfrm xmlns:a="http://schemas.openxmlformats.org/drawingml/2006/main">
            <a:off x="3877128" y="3190875"/>
            <a:ext cx="114300" cy="114300"/>
          </a:xfrm>
          <a:prstGeom xmlns:a="http://schemas.openxmlformats.org/drawingml/2006/main" prst="ellipse">
            <a:avLst/>
          </a:prstGeom>
          <a:solidFill xmlns:a="http://schemas.openxmlformats.org/drawingml/2006/main">
            <a:srgbClr val="BD5B4F"/>
          </a:solidFill>
          <a:ln xmlns:a="http://schemas.openxmlformats.org/drawingml/2006/main" w="9525">
            <a:solidFill>
              <a:srgbClr val="BD5B4F"/>
            </a:solidFill>
            <a:prstDash val="solid"/>
          </a:ln>
        </p:spPr>
      </p:sp>
      <p:sp>
        <p:nvSpPr>
          <p:cNvPr id="14" name="">
            <a:extLst xmlns:a="http://schemas.openxmlformats.org/drawingml/2006/main">
              <a:ext uri="{FF2B5EF4-FFF2-40B4-BE49-F238E27FC236}">
                <a16:creationId xmlns:a16="http://schemas.microsoft.com/office/drawing/2014/main" id="{D046A38D-D00B-41AF-9E1D-C1CD4385B215}"/>
              </a:ext>
            </a:extLst>
          </p:cNvPr>
          <p:cNvSpPr>
            <a:spLocks xmlns:a="http://schemas.openxmlformats.org/drawingml/2006/main" noGrp="1"/>
          </p:cNvSpPr>
          <p:nvPr/>
        </p:nvSpPr>
        <p:spPr>
          <a:xfrm xmlns:a="http://schemas.openxmlformats.org/drawingml/2006/main">
            <a:off x="10067925" y="3152775"/>
            <a:ext cx="819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BD5B4F"/>
                </a:solidFill>
              </a:defRPr>
            </a:defPPr>
            <a:lvl1pPr>
              <a:defRPr sz="1050" b="1">
                <a:solidFill>
                  <a:srgbClr val="BD5B4F"/>
                </a:solidFill>
              </a:defRPr>
            </a:lvl1pPr>
            <a:lvl2pPr>
              <a:defRPr sz="1050" b="1">
                <a:solidFill>
                  <a:srgbClr val="BD5B4F"/>
                </a:solidFill>
              </a:defRPr>
            </a:lvl2pPr>
            <a:lvl3pPr>
              <a:defRPr sz="1050" b="1">
                <a:solidFill>
                  <a:srgbClr val="BD5B4F"/>
                </a:solidFill>
              </a:defRPr>
            </a:lvl3pPr>
            <a:lvl4pPr>
              <a:defRPr sz="1050" b="1">
                <a:solidFill>
                  <a:srgbClr val="BD5B4F"/>
                </a:solidFill>
              </a:defRPr>
            </a:lvl4pPr>
            <a:lvl5pPr>
              <a:defRPr sz="1050" b="1">
                <a:solidFill>
                  <a:srgbClr val="BD5B4F"/>
                </a:solidFill>
              </a:defRPr>
            </a:lvl5pPr>
            <a:lvl6pPr>
              <a:defRPr sz="1050" b="1">
                <a:solidFill>
                  <a:srgbClr val="BD5B4F"/>
                </a:solidFill>
              </a:defRPr>
            </a:lvl6pPr>
            <a:lvl7pPr>
              <a:defRPr sz="1050" b="1">
                <a:solidFill>
                  <a:srgbClr val="BD5B4F"/>
                </a:solidFill>
              </a:defRPr>
            </a:lvl7pPr>
            <a:lvl8pPr>
              <a:defRPr sz="1050" b="1">
                <a:solidFill>
                  <a:srgbClr val="BD5B4F"/>
                </a:solidFill>
              </a:defRPr>
            </a:lvl8pPr>
            <a:lvl9pPr>
              <a:defRPr sz="1050" b="1">
                <a:solidFill>
                  <a:srgbClr val="BD5B4F"/>
                </a:solidFill>
              </a:defRPr>
            </a:lvl9pPr>
          </a:lstStyle>
          <a:p xmlns:a="http://schemas.openxmlformats.org/drawingml/2006/main">
            <a:pPr>
              <a:defRPr sz="1050" b="1">
                <a:solidFill>
                  <a:srgbClr val="BD5B4F"/>
                </a:solidFill>
              </a:defRPr>
            </a:pPr>
            <a:r>
              <a:rPr sz="1050" b="1">
                <a:solidFill>
                  <a:srgbClr val="BD5B4F"/>
                </a:solidFill>
              </a:rPr>
              <a:t>+0.50</a:t>
            </a:r>
          </a:p>
        </p:txBody>
      </p:sp>
      <p:sp>
        <p:nvSpPr>
          <p:cNvPr id="15" name="">
            <a:extLst xmlns:a="http://schemas.openxmlformats.org/drawingml/2006/main">
              <a:ext uri="{FF2B5EF4-FFF2-40B4-BE49-F238E27FC236}">
                <a16:creationId xmlns:a16="http://schemas.microsoft.com/office/drawing/2014/main" id="{7DF3BB86-F0FF-4EA1-AA49-B2B8C2FCCA6C}"/>
              </a:ext>
            </a:extLst>
          </p:cNvPr>
          <p:cNvSpPr>
            <a:spLocks xmlns:a="http://schemas.openxmlformats.org/drawingml/2006/main" noGrp="1"/>
          </p:cNvSpPr>
          <p:nvPr/>
        </p:nvSpPr>
        <p:spPr>
          <a:xfrm xmlns:a="http://schemas.openxmlformats.org/drawingml/2006/main">
            <a:off x="857250" y="3749675"/>
            <a:ext cx="1066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1C303B"/>
                </a:solidFill>
              </a:defRPr>
            </a:defPPr>
            <a:lvl1pPr>
              <a:defRPr sz="1125" b="1">
                <a:solidFill>
                  <a:srgbClr val="1C303B"/>
                </a:solidFill>
              </a:defRPr>
            </a:lvl1pPr>
            <a:lvl2pPr>
              <a:defRPr sz="1125" b="1">
                <a:solidFill>
                  <a:srgbClr val="1C303B"/>
                </a:solidFill>
              </a:defRPr>
            </a:lvl2pPr>
            <a:lvl3pPr>
              <a:defRPr sz="1125" b="1">
                <a:solidFill>
                  <a:srgbClr val="1C303B"/>
                </a:solidFill>
              </a:defRPr>
            </a:lvl3pPr>
            <a:lvl4pPr>
              <a:defRPr sz="1125" b="1">
                <a:solidFill>
                  <a:srgbClr val="1C303B"/>
                </a:solidFill>
              </a:defRPr>
            </a:lvl4pPr>
            <a:lvl5pPr>
              <a:defRPr sz="1125" b="1">
                <a:solidFill>
                  <a:srgbClr val="1C303B"/>
                </a:solidFill>
              </a:defRPr>
            </a:lvl5pPr>
            <a:lvl6pPr>
              <a:defRPr sz="1125" b="1">
                <a:solidFill>
                  <a:srgbClr val="1C303B"/>
                </a:solidFill>
              </a:defRPr>
            </a:lvl6pPr>
            <a:lvl7pPr>
              <a:defRPr sz="1125" b="1">
                <a:solidFill>
                  <a:srgbClr val="1C303B"/>
                </a:solidFill>
              </a:defRPr>
            </a:lvl7pPr>
            <a:lvl8pPr>
              <a:defRPr sz="1125" b="1">
                <a:solidFill>
                  <a:srgbClr val="1C303B"/>
                </a:solidFill>
              </a:defRPr>
            </a:lvl8pPr>
            <a:lvl9pPr>
              <a:defRPr sz="1125" b="1">
                <a:solidFill>
                  <a:srgbClr val="1C303B"/>
                </a:solidFill>
              </a:defRPr>
            </a:lvl9pPr>
          </a:lstStyle>
          <a:p xmlns:a="http://schemas.openxmlformats.org/drawingml/2006/main">
            <a:pPr>
              <a:defRPr sz="1125" b="1">
                <a:solidFill>
                  <a:srgbClr val="1C303B"/>
                </a:solidFill>
              </a:defRPr>
            </a:pPr>
            <a:r>
              <a:rPr sz="1125" b="1">
                <a:solidFill>
                  <a:srgbClr val="1C303B"/>
                </a:solidFill>
              </a:rPr>
              <a:t>R_max</a:t>
            </a:r>
          </a:p>
        </p:txBody>
      </p:sp>
      <p:sp>
        <p:nvSpPr>
          <p:cNvPr id="16" name="">
            <a:extLst xmlns:a="http://schemas.openxmlformats.org/drawingml/2006/main">
              <a:ext uri="{FF2B5EF4-FFF2-40B4-BE49-F238E27FC236}">
                <a16:creationId xmlns:a16="http://schemas.microsoft.com/office/drawing/2014/main" id="{127D36ED-3116-4892-B5F3-424FD649E6E1}"/>
              </a:ext>
            </a:extLst>
          </p:cNvPr>
          <p:cNvSpPr>
            <a:spLocks xmlns:a="http://schemas.openxmlformats.org/drawingml/2006/main" noGrp="1"/>
          </p:cNvSpPr>
          <p:nvPr/>
        </p:nvSpPr>
        <p:spPr>
          <a:xfrm xmlns:a="http://schemas.openxmlformats.org/drawingml/2006/main">
            <a:off x="3755812" y="3844925"/>
            <a:ext cx="5557663" cy="0"/>
          </a:xfrm>
          <a:prstGeom xmlns:a="http://schemas.openxmlformats.org/drawingml/2006/main" prst="line">
            <a:avLst/>
          </a:prstGeom>
          <a:ln xmlns:a="http://schemas.openxmlformats.org/drawingml/2006/main" w="38100">
            <a:solidFill>
              <a:srgbClr val="BD5B4F"/>
            </a:solidFill>
            <a:prstDash val="solid"/>
          </a:ln>
        </p:spPr>
      </p:sp>
      <p:sp>
        <p:nvSpPr>
          <p:cNvPr id="17" name="">
            <a:extLst xmlns:a="http://schemas.openxmlformats.org/drawingml/2006/main">
              <a:ext uri="{FF2B5EF4-FFF2-40B4-BE49-F238E27FC236}">
                <a16:creationId xmlns:a16="http://schemas.microsoft.com/office/drawing/2014/main" id="{3A4537CB-D399-4B57-A14C-C06E94DD0DC0}"/>
              </a:ext>
            </a:extLst>
          </p:cNvPr>
          <p:cNvSpPr>
            <a:spLocks xmlns:a="http://schemas.openxmlformats.org/drawingml/2006/main" noGrp="1"/>
          </p:cNvSpPr>
          <p:nvPr/>
        </p:nvSpPr>
        <p:spPr>
          <a:xfrm xmlns:a="http://schemas.openxmlformats.org/drawingml/2006/main">
            <a:off x="4323293" y="3787775"/>
            <a:ext cx="114300" cy="114300"/>
          </a:xfrm>
          <a:prstGeom xmlns:a="http://schemas.openxmlformats.org/drawingml/2006/main" prst="ellipse">
            <a:avLst/>
          </a:prstGeom>
          <a:solidFill xmlns:a="http://schemas.openxmlformats.org/drawingml/2006/main">
            <a:srgbClr val="BD5B4F"/>
          </a:solidFill>
          <a:ln xmlns:a="http://schemas.openxmlformats.org/drawingml/2006/main" w="9525">
            <a:solidFill>
              <a:srgbClr val="BD5B4F"/>
            </a:solidFill>
            <a:prstDash val="solid"/>
          </a:ln>
        </p:spPr>
      </p:sp>
      <p:sp>
        <p:nvSpPr>
          <p:cNvPr id="18" name="">
            <a:extLst xmlns:a="http://schemas.openxmlformats.org/drawingml/2006/main">
              <a:ext uri="{FF2B5EF4-FFF2-40B4-BE49-F238E27FC236}">
                <a16:creationId xmlns:a16="http://schemas.microsoft.com/office/drawing/2014/main" id="{A477AB38-47BD-41AF-B0C1-48C2AD3DD50F}"/>
              </a:ext>
            </a:extLst>
          </p:cNvPr>
          <p:cNvSpPr>
            <a:spLocks xmlns:a="http://schemas.openxmlformats.org/drawingml/2006/main" noGrp="1"/>
          </p:cNvSpPr>
          <p:nvPr/>
        </p:nvSpPr>
        <p:spPr>
          <a:xfrm xmlns:a="http://schemas.openxmlformats.org/drawingml/2006/main">
            <a:off x="10067925" y="3749675"/>
            <a:ext cx="819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BD5B4F"/>
                </a:solidFill>
              </a:defRPr>
            </a:defPPr>
            <a:lvl1pPr>
              <a:defRPr sz="1050" b="1">
                <a:solidFill>
                  <a:srgbClr val="BD5B4F"/>
                </a:solidFill>
              </a:defRPr>
            </a:lvl1pPr>
            <a:lvl2pPr>
              <a:defRPr sz="1050" b="1">
                <a:solidFill>
                  <a:srgbClr val="BD5B4F"/>
                </a:solidFill>
              </a:defRPr>
            </a:lvl2pPr>
            <a:lvl3pPr>
              <a:defRPr sz="1050" b="1">
                <a:solidFill>
                  <a:srgbClr val="BD5B4F"/>
                </a:solidFill>
              </a:defRPr>
            </a:lvl3pPr>
            <a:lvl4pPr>
              <a:defRPr sz="1050" b="1">
                <a:solidFill>
                  <a:srgbClr val="BD5B4F"/>
                </a:solidFill>
              </a:defRPr>
            </a:lvl4pPr>
            <a:lvl5pPr>
              <a:defRPr sz="1050" b="1">
                <a:solidFill>
                  <a:srgbClr val="BD5B4F"/>
                </a:solidFill>
              </a:defRPr>
            </a:lvl5pPr>
            <a:lvl6pPr>
              <a:defRPr sz="1050" b="1">
                <a:solidFill>
                  <a:srgbClr val="BD5B4F"/>
                </a:solidFill>
              </a:defRPr>
            </a:lvl6pPr>
            <a:lvl7pPr>
              <a:defRPr sz="1050" b="1">
                <a:solidFill>
                  <a:srgbClr val="BD5B4F"/>
                </a:solidFill>
              </a:defRPr>
            </a:lvl7pPr>
            <a:lvl8pPr>
              <a:defRPr sz="1050" b="1">
                <a:solidFill>
                  <a:srgbClr val="BD5B4F"/>
                </a:solidFill>
              </a:defRPr>
            </a:lvl8pPr>
            <a:lvl9pPr>
              <a:defRPr sz="1050" b="1">
                <a:solidFill>
                  <a:srgbClr val="BD5B4F"/>
                </a:solidFill>
              </a:defRPr>
            </a:lvl9pPr>
          </a:lstStyle>
          <a:p xmlns:a="http://schemas.openxmlformats.org/drawingml/2006/main">
            <a:pPr>
              <a:defRPr sz="1050" b="1">
                <a:solidFill>
                  <a:srgbClr val="BD5B4F"/>
                </a:solidFill>
              </a:defRPr>
            </a:pPr>
            <a:r>
              <a:rPr sz="1050" b="1">
                <a:solidFill>
                  <a:srgbClr val="BD5B4F"/>
                </a:solidFill>
              </a:rPr>
              <a:t>+0.73</a:t>
            </a:r>
          </a:p>
        </p:txBody>
      </p:sp>
      <p:sp>
        <p:nvSpPr>
          <p:cNvPr id="19" name="">
            <a:extLst xmlns:a="http://schemas.openxmlformats.org/drawingml/2006/main">
              <a:ext uri="{FF2B5EF4-FFF2-40B4-BE49-F238E27FC236}">
                <a16:creationId xmlns:a16="http://schemas.microsoft.com/office/drawing/2014/main" id="{C30349A3-F810-4446-A0D9-A99F3535CA9B}"/>
              </a:ext>
            </a:extLst>
          </p:cNvPr>
          <p:cNvSpPr>
            <a:spLocks xmlns:a="http://schemas.openxmlformats.org/drawingml/2006/main" noGrp="1"/>
          </p:cNvSpPr>
          <p:nvPr/>
        </p:nvSpPr>
        <p:spPr>
          <a:xfrm xmlns:a="http://schemas.openxmlformats.org/drawingml/2006/main">
            <a:off x="2000250" y="4276725"/>
            <a:ext cx="7953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96D78"/>
                </a:solidFill>
              </a:defRPr>
            </a:defPPr>
            <a:lvl1pPr>
              <a:defRPr sz="975" b="0">
                <a:solidFill>
                  <a:srgbClr val="596D78"/>
                </a:solidFill>
              </a:defRPr>
            </a:lvl1pPr>
            <a:lvl2pPr>
              <a:defRPr sz="975" b="0">
                <a:solidFill>
                  <a:srgbClr val="596D78"/>
                </a:solidFill>
              </a:defRPr>
            </a:lvl2pPr>
            <a:lvl3pPr>
              <a:defRPr sz="975" b="0">
                <a:solidFill>
                  <a:srgbClr val="596D78"/>
                </a:solidFill>
              </a:defRPr>
            </a:lvl3pPr>
            <a:lvl4pPr>
              <a:defRPr sz="975" b="0">
                <a:solidFill>
                  <a:srgbClr val="596D78"/>
                </a:solidFill>
              </a:defRPr>
            </a:lvl4pPr>
            <a:lvl5pPr>
              <a:defRPr sz="975" b="0">
                <a:solidFill>
                  <a:srgbClr val="596D78"/>
                </a:solidFill>
              </a:defRPr>
            </a:lvl5pPr>
            <a:lvl6pPr>
              <a:defRPr sz="975" b="0">
                <a:solidFill>
                  <a:srgbClr val="596D78"/>
                </a:solidFill>
              </a:defRPr>
            </a:lvl6pPr>
            <a:lvl7pPr>
              <a:defRPr sz="975" b="0">
                <a:solidFill>
                  <a:srgbClr val="596D78"/>
                </a:solidFill>
              </a:defRPr>
            </a:lvl7pPr>
            <a:lvl8pPr>
              <a:defRPr sz="975" b="0">
                <a:solidFill>
                  <a:srgbClr val="596D78"/>
                </a:solidFill>
              </a:defRPr>
            </a:lvl8pPr>
            <a:lvl9pPr>
              <a:defRPr sz="975" b="0">
                <a:solidFill>
                  <a:srgbClr val="596D78"/>
                </a:solidFill>
              </a:defRPr>
            </a:lvl9pPr>
          </a:lstStyle>
          <a:p xmlns:a="http://schemas.openxmlformats.org/drawingml/2006/main">
            <a:pPr>
              <a:defRPr sz="975" b="0">
                <a:solidFill>
                  <a:srgbClr val="596D78"/>
                </a:solidFill>
              </a:defRPr>
            </a:pPr>
            <a:r>
              <a:rPr sz="975" b="0">
                <a:solidFill>
                  <a:srgbClr val="596D78"/>
                </a:solidFill>
              </a:rPr>
              <a:t>Change in Gini points (0–100 scale), 2045 · persistent · default package</a:t>
            </a:r>
          </a:p>
        </p:txBody>
      </p:sp>
      <p:sp>
        <p:nvSpPr>
          <p:cNvPr id="20" name="">
            <a:extLst xmlns:a="http://schemas.openxmlformats.org/drawingml/2006/main">
              <a:ext uri="{FF2B5EF4-FFF2-40B4-BE49-F238E27FC236}">
                <a16:creationId xmlns:a16="http://schemas.microsoft.com/office/drawing/2014/main" id="{E99A6B9B-C2E5-48CC-B8BF-C0147F4C879C}"/>
              </a:ext>
            </a:extLst>
          </p:cNvPr>
          <p:cNvSpPr>
            <a:spLocks xmlns:a="http://schemas.openxmlformats.org/drawingml/2006/main" noGrp="1"/>
          </p:cNvSpPr>
          <p:nvPr/>
        </p:nvSpPr>
        <p:spPr>
          <a:xfrm xmlns:a="http://schemas.openxmlformats.org/drawingml/2006/main">
            <a:off x="714375" y="4953000"/>
            <a:ext cx="10287000"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E2E5"/>
            </a:solidFill>
            <a:prstDash val="solid"/>
          </a:ln>
        </p:spPr>
      </p:sp>
      <p:sp>
        <p:nvSpPr>
          <p:cNvPr id="21" name="">
            <a:extLst xmlns:a="http://schemas.openxmlformats.org/drawingml/2006/main">
              <a:ext uri="{FF2B5EF4-FFF2-40B4-BE49-F238E27FC236}">
                <a16:creationId xmlns:a16="http://schemas.microsoft.com/office/drawing/2014/main" id="{87B3D136-242A-4E75-A060-4BFF9A6082ED}"/>
              </a:ext>
            </a:extLst>
          </p:cNvPr>
          <p:cNvSpPr>
            <a:spLocks xmlns:a="http://schemas.openxmlformats.org/drawingml/2006/main" noGrp="1"/>
          </p:cNvSpPr>
          <p:nvPr/>
        </p:nvSpPr>
        <p:spPr>
          <a:xfrm xmlns:a="http://schemas.openxmlformats.org/drawingml/2006/main">
            <a:off x="714375" y="4953000"/>
            <a:ext cx="57150" cy="1000125"/>
          </a:xfrm>
          <a:prstGeom xmlns:a="http://schemas.openxmlformats.org/drawingml/2006/main" prst="rect">
            <a:avLst/>
          </a:prstGeom>
          <a:solidFill xmlns:a="http://schemas.openxmlformats.org/drawingml/2006/main">
            <a:srgbClr val="BD5B4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A3CD528-75A2-4CB3-B3EA-8AFD976CF84B}"/>
              </a:ext>
            </a:extLst>
          </p:cNvPr>
          <p:cNvSpPr>
            <a:spLocks xmlns:a="http://schemas.openxmlformats.org/drawingml/2006/main" noGrp="1"/>
          </p:cNvSpPr>
          <p:nvPr/>
        </p:nvSpPr>
        <p:spPr>
          <a:xfrm xmlns:a="http://schemas.openxmlformats.org/drawingml/2006/main">
            <a:off x="923925" y="5124450"/>
            <a:ext cx="9867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173344"/>
                </a:solidFill>
              </a:defRPr>
            </a:defPPr>
            <a:lvl1pPr>
              <a:defRPr sz="1425" b="1">
                <a:solidFill>
                  <a:srgbClr val="173344"/>
                </a:solidFill>
              </a:defRPr>
            </a:lvl1pPr>
            <a:lvl2pPr>
              <a:defRPr sz="1425" b="1">
                <a:solidFill>
                  <a:srgbClr val="173344"/>
                </a:solidFill>
              </a:defRPr>
            </a:lvl2pPr>
            <a:lvl3pPr>
              <a:defRPr sz="1425" b="1">
                <a:solidFill>
                  <a:srgbClr val="173344"/>
                </a:solidFill>
              </a:defRPr>
            </a:lvl3pPr>
            <a:lvl4pPr>
              <a:defRPr sz="1425" b="1">
                <a:solidFill>
                  <a:srgbClr val="173344"/>
                </a:solidFill>
              </a:defRPr>
            </a:lvl4pPr>
            <a:lvl5pPr>
              <a:defRPr sz="1425" b="1">
                <a:solidFill>
                  <a:srgbClr val="173344"/>
                </a:solidFill>
              </a:defRPr>
            </a:lvl5pPr>
            <a:lvl6pPr>
              <a:defRPr sz="1425" b="1">
                <a:solidFill>
                  <a:srgbClr val="173344"/>
                </a:solidFill>
              </a:defRPr>
            </a:lvl6pPr>
            <a:lvl7pPr>
              <a:defRPr sz="1425" b="1">
                <a:solidFill>
                  <a:srgbClr val="173344"/>
                </a:solidFill>
              </a:defRPr>
            </a:lvl7pPr>
            <a:lvl8pPr>
              <a:defRPr sz="1425" b="1">
                <a:solidFill>
                  <a:srgbClr val="173344"/>
                </a:solidFill>
              </a:defRPr>
            </a:lvl8pPr>
            <a:lvl9pPr>
              <a:defRPr sz="1425" b="1">
                <a:solidFill>
                  <a:srgbClr val="173344"/>
                </a:solidFill>
              </a:defRPr>
            </a:lvl9pPr>
          </a:lstStyle>
          <a:p xmlns:a="http://schemas.openxmlformats.org/drawingml/2006/main">
            <a:pPr>
              <a:defRPr sz="1425" b="1">
                <a:solidFill>
                  <a:srgbClr val="173344"/>
                </a:solidFill>
              </a:defRPr>
            </a:pPr>
            <a:r>
              <a:rPr sz="1425" b="1">
                <a:solidFill>
                  <a:srgbClr val="173344"/>
                </a:solidFill>
              </a:rPr>
              <a:t>How to interpret +0.50</a:t>
            </a:r>
          </a:p>
        </p:txBody>
      </p:sp>
      <p:sp>
        <p:nvSpPr>
          <p:cNvPr id="23" name="">
            <a:extLst xmlns:a="http://schemas.openxmlformats.org/drawingml/2006/main">
              <a:ext uri="{FF2B5EF4-FFF2-40B4-BE49-F238E27FC236}">
                <a16:creationId xmlns:a16="http://schemas.microsoft.com/office/drawing/2014/main" id="{031B3D63-37F3-43A5-8E7C-8841F35C6904}"/>
              </a:ext>
            </a:extLst>
          </p:cNvPr>
          <p:cNvSpPr>
            <a:spLocks xmlns:a="http://schemas.openxmlformats.org/drawingml/2006/main" noGrp="1"/>
          </p:cNvSpPr>
          <p:nvPr/>
        </p:nvSpPr>
        <p:spPr>
          <a:xfrm xmlns:a="http://schemas.openxmlformats.org/drawingml/2006/main">
            <a:off x="923925" y="5543550"/>
            <a:ext cx="9867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96D78"/>
                </a:solidFill>
              </a:defRPr>
            </a:defPPr>
            <a:lvl1pPr>
              <a:defRPr sz="1200" b="0">
                <a:solidFill>
                  <a:srgbClr val="596D78"/>
                </a:solidFill>
              </a:defRPr>
            </a:lvl1pPr>
            <a:lvl2pPr>
              <a:defRPr sz="1200" b="0">
                <a:solidFill>
                  <a:srgbClr val="596D78"/>
                </a:solidFill>
              </a:defRPr>
            </a:lvl2pPr>
            <a:lvl3pPr>
              <a:defRPr sz="1200" b="0">
                <a:solidFill>
                  <a:srgbClr val="596D78"/>
                </a:solidFill>
              </a:defRPr>
            </a:lvl3pPr>
            <a:lvl4pPr>
              <a:defRPr sz="1200" b="0">
                <a:solidFill>
                  <a:srgbClr val="596D78"/>
                </a:solidFill>
              </a:defRPr>
            </a:lvl4pPr>
            <a:lvl5pPr>
              <a:defRPr sz="1200" b="0">
                <a:solidFill>
                  <a:srgbClr val="596D78"/>
                </a:solidFill>
              </a:defRPr>
            </a:lvl5pPr>
            <a:lvl6pPr>
              <a:defRPr sz="1200" b="0">
                <a:solidFill>
                  <a:srgbClr val="596D78"/>
                </a:solidFill>
              </a:defRPr>
            </a:lvl6pPr>
            <a:lvl7pPr>
              <a:defRPr sz="1200" b="0">
                <a:solidFill>
                  <a:srgbClr val="596D78"/>
                </a:solidFill>
              </a:defRPr>
            </a:lvl7pPr>
            <a:lvl8pPr>
              <a:defRPr sz="1200" b="0">
                <a:solidFill>
                  <a:srgbClr val="596D78"/>
                </a:solidFill>
              </a:defRPr>
            </a:lvl8pPr>
            <a:lvl9pPr>
              <a:defRPr sz="1200" b="0">
                <a:solidFill>
                  <a:srgbClr val="596D78"/>
                </a:solidFill>
              </a:defRPr>
            </a:lvl9pPr>
          </a:lstStyle>
          <a:p xmlns:a="http://schemas.openxmlformats.org/drawingml/2006/main">
            <a:pPr>
              <a:defRPr sz="1200" b="0">
                <a:solidFill>
                  <a:srgbClr val="596D78"/>
                </a:solidFill>
              </a:defRPr>
            </a:pPr>
            <a:r>
              <a:rPr sz="1200" b="0">
                <a:solidFill>
                  <a:srgbClr val="596D78"/>
                </a:solidFill>
              </a:rPr>
              <a:t>It means half a Gini point higher than the S0 result. It does not mean a 50% increase, nor does it give the absolute Gini level. The p10–p90 range is wide: parameter uncertainty is substantial.</a:t>
            </a:r>
          </a:p>
        </p:txBody>
      </p:sp>
    </p:spTree>
    <p:extLst>
      <p:ext uri="{BB962C8B-B14F-4D97-AF65-F5344CB8AC3E}">
        <p14:creationId xmlns:p14="http://schemas.microsoft.com/office/powerpoint/2010/main" val="1559131539"/>
      </p:ext>
    </p:extLst>
  </p:cSld>
</p:sld>
</file>

<file path=ppt/slides/slide6.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92C88BD-9637-4C7D-9806-2550157B62E4}"/>
              </a:ext>
            </a:extLst>
          </p:cNvPr>
          <p:cNvSpPr>
            <a:spLocks xmlns:a="http://schemas.openxmlformats.org/drawingml/2006/main" noGrp="1"/>
          </p:cNvSpPr>
          <p:nvPr/>
        </p:nvSpPr>
        <p:spPr>
          <a:xfrm xmlns:a="http://schemas.openxmlformats.org/drawingml/2006/main">
            <a:off x="647700" y="3238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168184"/>
                </a:solidFill>
              </a:defRPr>
            </a:defPPr>
            <a:lvl1pPr>
              <a:defRPr sz="975" b="1">
                <a:solidFill>
                  <a:srgbClr val="168184"/>
                </a:solidFill>
              </a:defRPr>
            </a:lvl1pPr>
            <a:lvl2pPr>
              <a:defRPr sz="975" b="1">
                <a:solidFill>
                  <a:srgbClr val="168184"/>
                </a:solidFill>
              </a:defRPr>
            </a:lvl2pPr>
            <a:lvl3pPr>
              <a:defRPr sz="975" b="1">
                <a:solidFill>
                  <a:srgbClr val="168184"/>
                </a:solidFill>
              </a:defRPr>
            </a:lvl3pPr>
            <a:lvl4pPr>
              <a:defRPr sz="975" b="1">
                <a:solidFill>
                  <a:srgbClr val="168184"/>
                </a:solidFill>
              </a:defRPr>
            </a:lvl4pPr>
            <a:lvl5pPr>
              <a:defRPr sz="975" b="1">
                <a:solidFill>
                  <a:srgbClr val="168184"/>
                </a:solidFill>
              </a:defRPr>
            </a:lvl5pPr>
            <a:lvl6pPr>
              <a:defRPr sz="975" b="1">
                <a:solidFill>
                  <a:srgbClr val="168184"/>
                </a:solidFill>
              </a:defRPr>
            </a:lvl6pPr>
            <a:lvl7pPr>
              <a:defRPr sz="975" b="1">
                <a:solidFill>
                  <a:srgbClr val="168184"/>
                </a:solidFill>
              </a:defRPr>
            </a:lvl7pPr>
            <a:lvl8pPr>
              <a:defRPr sz="975" b="1">
                <a:solidFill>
                  <a:srgbClr val="168184"/>
                </a:solidFill>
              </a:defRPr>
            </a:lvl8pPr>
            <a:lvl9pPr>
              <a:defRPr sz="975" b="1">
                <a:solidFill>
                  <a:srgbClr val="168184"/>
                </a:solidFill>
              </a:defRPr>
            </a:lvl9pPr>
          </a:lstStyle>
          <a:p xmlns:a="http://schemas.openxmlformats.org/drawingml/2006/main">
            <a:pPr>
              <a:defRPr sz="975" b="1">
                <a:solidFill>
                  <a:srgbClr val="168184"/>
                </a:solidFill>
              </a:defRPr>
            </a:pPr>
            <a:r>
              <a:rPr sz="975" b="1">
                <a:solidFill>
                  <a:srgbClr val="168184"/>
                </a:solidFill>
              </a:rPr>
              <a:t>BRAZIL SCENARIO RESULTS</a:t>
            </a:r>
          </a:p>
        </p:txBody>
      </p:sp>
      <p:sp>
        <p:nvSpPr>
          <p:cNvPr id="2" name="">
            <a:extLst xmlns:a="http://schemas.openxmlformats.org/drawingml/2006/main">
              <a:ext uri="{FF2B5EF4-FFF2-40B4-BE49-F238E27FC236}">
                <a16:creationId xmlns:a16="http://schemas.microsoft.com/office/drawing/2014/main" id="{0A1368C3-85C5-4C1A-9D88-0EEBE5F8B6FD}"/>
              </a:ext>
            </a:extLst>
          </p:cNvPr>
          <p:cNvSpPr>
            <a:spLocks xmlns:a="http://schemas.openxmlformats.org/drawingml/2006/main" noGrp="1"/>
          </p:cNvSpPr>
          <p:nvPr/>
        </p:nvSpPr>
        <p:spPr>
          <a:xfrm xmlns:a="http://schemas.openxmlformats.org/drawingml/2006/main">
            <a:off x="647700" y="6286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173344"/>
                </a:solidFill>
              </a:defRPr>
            </a:defPPr>
            <a:lvl1pPr>
              <a:defRPr sz="2550" b="1">
                <a:solidFill>
                  <a:srgbClr val="173344"/>
                </a:solidFill>
              </a:defRPr>
            </a:lvl1pPr>
            <a:lvl2pPr>
              <a:defRPr sz="2550" b="1">
                <a:solidFill>
                  <a:srgbClr val="173344"/>
                </a:solidFill>
              </a:defRPr>
            </a:lvl2pPr>
            <a:lvl3pPr>
              <a:defRPr sz="2550" b="1">
                <a:solidFill>
                  <a:srgbClr val="173344"/>
                </a:solidFill>
              </a:defRPr>
            </a:lvl3pPr>
            <a:lvl4pPr>
              <a:defRPr sz="2550" b="1">
                <a:solidFill>
                  <a:srgbClr val="173344"/>
                </a:solidFill>
              </a:defRPr>
            </a:lvl4pPr>
            <a:lvl5pPr>
              <a:defRPr sz="2550" b="1">
                <a:solidFill>
                  <a:srgbClr val="173344"/>
                </a:solidFill>
              </a:defRPr>
            </a:lvl5pPr>
            <a:lvl6pPr>
              <a:defRPr sz="2550" b="1">
                <a:solidFill>
                  <a:srgbClr val="173344"/>
                </a:solidFill>
              </a:defRPr>
            </a:lvl6pPr>
            <a:lvl7pPr>
              <a:defRPr sz="2550" b="1">
                <a:solidFill>
                  <a:srgbClr val="173344"/>
                </a:solidFill>
              </a:defRPr>
            </a:lvl7pPr>
            <a:lvl8pPr>
              <a:defRPr sz="2550" b="1">
                <a:solidFill>
                  <a:srgbClr val="173344"/>
                </a:solidFill>
              </a:defRPr>
            </a:lvl8pPr>
            <a:lvl9pPr>
              <a:defRPr sz="2550" b="1">
                <a:solidFill>
                  <a:srgbClr val="173344"/>
                </a:solidFill>
              </a:defRPr>
            </a:lvl9pPr>
          </a:lstStyle>
          <a:p xmlns:a="http://schemas.openxmlformats.org/drawingml/2006/main">
            <a:pPr>
              <a:defRPr sz="2550" b="1">
                <a:solidFill>
                  <a:srgbClr val="173344"/>
                </a:solidFill>
              </a:defRPr>
            </a:pPr>
            <a:r>
              <a:rPr sz="2550" b="1">
                <a:solidFill>
                  <a:srgbClr val="173344"/>
                </a:solidFill>
              </a:rPr>
              <a:t>Why might a reduction raise inequality?</a:t>
            </a:r>
          </a:p>
        </p:txBody>
      </p:sp>
      <p:sp>
        <p:nvSpPr>
          <p:cNvPr id="3" name="">
            <a:extLst xmlns:a="http://schemas.openxmlformats.org/drawingml/2006/main">
              <a:ext uri="{FF2B5EF4-FFF2-40B4-BE49-F238E27FC236}">
                <a16:creationId xmlns:a16="http://schemas.microsoft.com/office/drawing/2014/main" id="{E02D0BC5-85C4-4203-825D-2798C06A32FD}"/>
              </a:ext>
            </a:extLst>
          </p:cNvPr>
          <p:cNvSpPr>
            <a:spLocks xmlns:a="http://schemas.openxmlformats.org/drawingml/2006/main" noGrp="1"/>
          </p:cNvSpPr>
          <p:nvPr/>
        </p:nvSpPr>
        <p:spPr>
          <a:xfrm xmlns:a="http://schemas.openxmlformats.org/drawingml/2006/main">
            <a:off x="647700" y="6477000"/>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0">
                <a:solidFill>
                  <a:srgbClr val="596D78"/>
                </a:solidFill>
              </a:defRPr>
            </a:defPPr>
            <a:lvl1pPr>
              <a:defRPr sz="900" b="0">
                <a:solidFill>
                  <a:srgbClr val="596D78"/>
                </a:solidFill>
              </a:defRPr>
            </a:lvl1pPr>
            <a:lvl2pPr>
              <a:defRPr sz="900" b="0">
                <a:solidFill>
                  <a:srgbClr val="596D78"/>
                </a:solidFill>
              </a:defRPr>
            </a:lvl2pPr>
            <a:lvl3pPr>
              <a:defRPr sz="900" b="0">
                <a:solidFill>
                  <a:srgbClr val="596D78"/>
                </a:solidFill>
              </a:defRPr>
            </a:lvl3pPr>
            <a:lvl4pPr>
              <a:defRPr sz="900" b="0">
                <a:solidFill>
                  <a:srgbClr val="596D78"/>
                </a:solidFill>
              </a:defRPr>
            </a:lvl4pPr>
            <a:lvl5pPr>
              <a:defRPr sz="900" b="0">
                <a:solidFill>
                  <a:srgbClr val="596D78"/>
                </a:solidFill>
              </a:defRPr>
            </a:lvl5pPr>
            <a:lvl6pPr>
              <a:defRPr sz="900" b="0">
                <a:solidFill>
                  <a:srgbClr val="596D78"/>
                </a:solidFill>
              </a:defRPr>
            </a:lvl6pPr>
            <a:lvl7pPr>
              <a:defRPr sz="900" b="0">
                <a:solidFill>
                  <a:srgbClr val="596D78"/>
                </a:solidFill>
              </a:defRPr>
            </a:lvl7pPr>
            <a:lvl8pPr>
              <a:defRPr sz="900" b="0">
                <a:solidFill>
                  <a:srgbClr val="596D78"/>
                </a:solidFill>
              </a:defRPr>
            </a:lvl8pPr>
            <a:lvl9pPr>
              <a:defRPr sz="900" b="0">
                <a:solidFill>
                  <a:srgbClr val="596D78"/>
                </a:solidFill>
              </a:defRPr>
            </a:lvl9pPr>
          </a:lstStyle>
          <a:p xmlns:a="http://schemas.openxmlformats.org/drawingml/2006/main">
            <a:pPr>
              <a:defRPr sz="900" b="0">
                <a:solidFill>
                  <a:srgbClr val="596D78"/>
                </a:solidFill>
              </a:defRPr>
            </a:pPr>
            <a:r>
              <a:rPr sz="900" b="0">
                <a:solidFill>
                  <a:srgbClr val="596D78"/>
                </a:solidFill>
              </a:rPr>
              <a:t>Internal review · D2 validation gate FAIL · 21 Oct 2026</a:t>
            </a:r>
          </a:p>
        </p:txBody>
      </p:sp>
      <p:sp>
        <p:nvSpPr>
          <p:cNvPr id="4" name="">
            <a:extLst xmlns:a="http://schemas.openxmlformats.org/drawingml/2006/main">
              <a:ext uri="{FF2B5EF4-FFF2-40B4-BE49-F238E27FC236}">
                <a16:creationId xmlns:a16="http://schemas.microsoft.com/office/drawing/2014/main" id="{E85B887B-05BF-4388-BCBB-B568371A7EA5}"/>
              </a:ext>
            </a:extLst>
          </p:cNvPr>
          <p:cNvSpPr>
            <a:spLocks xmlns:a="http://schemas.openxmlformats.org/drawingml/2006/main" noGrp="1"/>
          </p:cNvSpPr>
          <p:nvPr/>
        </p:nvSpPr>
        <p:spPr>
          <a:xfrm xmlns:a="http://schemas.openxmlformats.org/drawingml/2006/main">
            <a:off x="666750" y="1524000"/>
            <a:ext cx="4953000" cy="180975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9525">
            <a:solidFill>
              <a:srgbClr val="D9E2E5"/>
            </a:solidFill>
            <a:prstDash val="solid"/>
          </a:ln>
        </p:spPr>
      </p:sp>
      <p:sp>
        <p:nvSpPr>
          <p:cNvPr id="5" name="">
            <a:extLst xmlns:a="http://schemas.openxmlformats.org/drawingml/2006/main">
              <a:ext uri="{FF2B5EF4-FFF2-40B4-BE49-F238E27FC236}">
                <a16:creationId xmlns:a16="http://schemas.microsoft.com/office/drawing/2014/main" id="{52327706-81F4-4033-BD50-C06911D90677}"/>
              </a:ext>
            </a:extLst>
          </p:cNvPr>
          <p:cNvSpPr>
            <a:spLocks xmlns:a="http://schemas.openxmlformats.org/drawingml/2006/main" noGrp="1"/>
          </p:cNvSpPr>
          <p:nvPr/>
        </p:nvSpPr>
        <p:spPr>
          <a:xfrm xmlns:a="http://schemas.openxmlformats.org/drawingml/2006/main">
            <a:off x="666750" y="1524000"/>
            <a:ext cx="57150" cy="1809750"/>
          </a:xfrm>
          <a:prstGeom xmlns:a="http://schemas.openxmlformats.org/drawingml/2006/main" prst="rect">
            <a:avLst/>
          </a:prstGeom>
          <a:solidFill xmlns:a="http://schemas.openxmlformats.org/drawingml/2006/main">
            <a:srgbClr val="C1943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0034D4D-54C6-4B2B-89BD-A11940B17BC8}"/>
              </a:ext>
            </a:extLst>
          </p:cNvPr>
          <p:cNvSpPr>
            <a:spLocks xmlns:a="http://schemas.openxmlformats.org/drawingml/2006/main" noGrp="1"/>
          </p:cNvSpPr>
          <p:nvPr/>
        </p:nvSpPr>
        <p:spPr>
          <a:xfrm xmlns:a="http://schemas.openxmlformats.org/drawingml/2006/main">
            <a:off x="876300" y="169545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173344"/>
                </a:solidFill>
              </a:defRPr>
            </a:defPPr>
            <a:lvl1pPr>
              <a:defRPr sz="1425" b="1">
                <a:solidFill>
                  <a:srgbClr val="173344"/>
                </a:solidFill>
              </a:defRPr>
            </a:lvl1pPr>
            <a:lvl2pPr>
              <a:defRPr sz="1425" b="1">
                <a:solidFill>
                  <a:srgbClr val="173344"/>
                </a:solidFill>
              </a:defRPr>
            </a:lvl2pPr>
            <a:lvl3pPr>
              <a:defRPr sz="1425" b="1">
                <a:solidFill>
                  <a:srgbClr val="173344"/>
                </a:solidFill>
              </a:defRPr>
            </a:lvl3pPr>
            <a:lvl4pPr>
              <a:defRPr sz="1425" b="1">
                <a:solidFill>
                  <a:srgbClr val="173344"/>
                </a:solidFill>
              </a:defRPr>
            </a:lvl4pPr>
            <a:lvl5pPr>
              <a:defRPr sz="1425" b="1">
                <a:solidFill>
                  <a:srgbClr val="173344"/>
                </a:solidFill>
              </a:defRPr>
            </a:lvl5pPr>
            <a:lvl6pPr>
              <a:defRPr sz="1425" b="1">
                <a:solidFill>
                  <a:srgbClr val="173344"/>
                </a:solidFill>
              </a:defRPr>
            </a:lvl6pPr>
            <a:lvl7pPr>
              <a:defRPr sz="1425" b="1">
                <a:solidFill>
                  <a:srgbClr val="173344"/>
                </a:solidFill>
              </a:defRPr>
            </a:lvl7pPr>
            <a:lvl8pPr>
              <a:defRPr sz="1425" b="1">
                <a:solidFill>
                  <a:srgbClr val="173344"/>
                </a:solidFill>
              </a:defRPr>
            </a:lvl8pPr>
            <a:lvl9pPr>
              <a:defRPr sz="1425" b="1">
                <a:solidFill>
                  <a:srgbClr val="173344"/>
                </a:solidFill>
              </a:defRPr>
            </a:lvl9pPr>
          </a:lstStyle>
          <a:p xmlns:a="http://schemas.openxmlformats.org/drawingml/2006/main">
            <a:pPr>
              <a:defRPr sz="1425" b="1">
                <a:solidFill>
                  <a:srgbClr val="173344"/>
                </a:solidFill>
              </a:defRPr>
            </a:pPr>
            <a:r>
              <a:rPr sz="1425" b="1">
                <a:solidFill>
                  <a:srgbClr val="173344"/>
                </a:solidFill>
              </a:rPr>
              <a:t>The package matters</a:t>
            </a:r>
          </a:p>
        </p:txBody>
      </p:sp>
      <p:sp>
        <p:nvSpPr>
          <p:cNvPr id="7" name="">
            <a:extLst xmlns:a="http://schemas.openxmlformats.org/drawingml/2006/main">
              <a:ext uri="{FF2B5EF4-FFF2-40B4-BE49-F238E27FC236}">
                <a16:creationId xmlns:a16="http://schemas.microsoft.com/office/drawing/2014/main" id="{72197085-6D2A-4D32-AC82-6DD41AAE15CF}"/>
              </a:ext>
            </a:extLst>
          </p:cNvPr>
          <p:cNvSpPr>
            <a:spLocks xmlns:a="http://schemas.openxmlformats.org/drawingml/2006/main" noGrp="1"/>
          </p:cNvSpPr>
          <p:nvPr/>
        </p:nvSpPr>
        <p:spPr>
          <a:xfrm xmlns:a="http://schemas.openxmlformats.org/drawingml/2006/main">
            <a:off x="876300" y="2114550"/>
            <a:ext cx="45339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96D78"/>
                </a:solidFill>
              </a:defRPr>
            </a:defPPr>
            <a:lvl1pPr>
              <a:defRPr sz="1200" b="0">
                <a:solidFill>
                  <a:srgbClr val="596D78"/>
                </a:solidFill>
              </a:defRPr>
            </a:lvl1pPr>
            <a:lvl2pPr>
              <a:defRPr sz="1200" b="0">
                <a:solidFill>
                  <a:srgbClr val="596D78"/>
                </a:solidFill>
              </a:defRPr>
            </a:lvl2pPr>
            <a:lvl3pPr>
              <a:defRPr sz="1200" b="0">
                <a:solidFill>
                  <a:srgbClr val="596D78"/>
                </a:solidFill>
              </a:defRPr>
            </a:lvl3pPr>
            <a:lvl4pPr>
              <a:defRPr sz="1200" b="0">
                <a:solidFill>
                  <a:srgbClr val="596D78"/>
                </a:solidFill>
              </a:defRPr>
            </a:lvl4pPr>
            <a:lvl5pPr>
              <a:defRPr sz="1200" b="0">
                <a:solidFill>
                  <a:srgbClr val="596D78"/>
                </a:solidFill>
              </a:defRPr>
            </a:lvl5pPr>
            <a:lvl6pPr>
              <a:defRPr sz="1200" b="0">
                <a:solidFill>
                  <a:srgbClr val="596D78"/>
                </a:solidFill>
              </a:defRPr>
            </a:lvl6pPr>
            <a:lvl7pPr>
              <a:defRPr sz="1200" b="0">
                <a:solidFill>
                  <a:srgbClr val="596D78"/>
                </a:solidFill>
              </a:defRPr>
            </a:lvl7pPr>
            <a:lvl8pPr>
              <a:defRPr sz="1200" b="0">
                <a:solidFill>
                  <a:srgbClr val="596D78"/>
                </a:solidFill>
              </a:defRPr>
            </a:lvl8pPr>
            <a:lvl9pPr>
              <a:defRPr sz="1200" b="0">
                <a:solidFill>
                  <a:srgbClr val="596D78"/>
                </a:solidFill>
              </a:defRPr>
            </a:lvl9pPr>
          </a:lstStyle>
          <a:p xmlns:a="http://schemas.openxmlformats.org/drawingml/2006/main">
            <a:pPr>
              <a:defRPr sz="1200" b="0">
                <a:solidFill>
                  <a:srgbClr val="596D78"/>
                </a:solidFill>
              </a:defRPr>
            </a:pPr>
            <a:r>
              <a:rPr sz="1200" b="0">
                <a:solidFill>
                  <a:srgbClr val="596D78"/>
                </a:solidFill>
              </a:rPr>
              <a:t>The default package allocates 40% to pensions/indexation, 25% to subsidies/tax expenditures, 20% to efficiency, and 15% to other current spending. Averages can hide who gains or loses.</a:t>
            </a:r>
          </a:p>
        </p:txBody>
      </p:sp>
      <p:sp>
        <p:nvSpPr>
          <p:cNvPr id="8" name="">
            <a:extLst xmlns:a="http://schemas.openxmlformats.org/drawingml/2006/main">
              <a:ext uri="{FF2B5EF4-FFF2-40B4-BE49-F238E27FC236}">
                <a16:creationId xmlns:a16="http://schemas.microsoft.com/office/drawing/2014/main" id="{10DE93A1-8CB7-497A-9E2B-C90095A88E01}"/>
              </a:ext>
            </a:extLst>
          </p:cNvPr>
          <p:cNvSpPr>
            <a:spLocks xmlns:a="http://schemas.openxmlformats.org/drawingml/2006/main" noGrp="1"/>
          </p:cNvSpPr>
          <p:nvPr/>
        </p:nvSpPr>
        <p:spPr>
          <a:xfrm xmlns:a="http://schemas.openxmlformats.org/drawingml/2006/main">
            <a:off x="6048375" y="1524000"/>
            <a:ext cx="4953000" cy="180975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9525">
            <a:solidFill>
              <a:srgbClr val="D9E2E5"/>
            </a:solidFill>
            <a:prstDash val="solid"/>
          </a:ln>
        </p:spPr>
      </p:sp>
      <p:sp>
        <p:nvSpPr>
          <p:cNvPr id="9" name="">
            <a:extLst xmlns:a="http://schemas.openxmlformats.org/drawingml/2006/main">
              <a:ext uri="{FF2B5EF4-FFF2-40B4-BE49-F238E27FC236}">
                <a16:creationId xmlns:a16="http://schemas.microsoft.com/office/drawing/2014/main" id="{39E9263A-045D-4D4B-AE6C-0E777D43226B}"/>
              </a:ext>
            </a:extLst>
          </p:cNvPr>
          <p:cNvSpPr>
            <a:spLocks xmlns:a="http://schemas.openxmlformats.org/drawingml/2006/main" noGrp="1"/>
          </p:cNvSpPr>
          <p:nvPr/>
        </p:nvSpPr>
        <p:spPr>
          <a:xfrm xmlns:a="http://schemas.openxmlformats.org/drawingml/2006/main">
            <a:off x="6048375" y="1524000"/>
            <a:ext cx="57150" cy="1809750"/>
          </a:xfrm>
          <a:prstGeom xmlns:a="http://schemas.openxmlformats.org/drawingml/2006/main" prst="rect">
            <a:avLst/>
          </a:prstGeom>
          <a:solidFill xmlns:a="http://schemas.openxmlformats.org/drawingml/2006/main">
            <a:srgbClr val="BD5B4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FB42046-71A5-4129-8360-49F7AE7FAB15}"/>
              </a:ext>
            </a:extLst>
          </p:cNvPr>
          <p:cNvSpPr>
            <a:spLocks xmlns:a="http://schemas.openxmlformats.org/drawingml/2006/main" noGrp="1"/>
          </p:cNvSpPr>
          <p:nvPr/>
        </p:nvSpPr>
        <p:spPr>
          <a:xfrm xmlns:a="http://schemas.openxmlformats.org/drawingml/2006/main">
            <a:off x="6257925" y="169545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173344"/>
                </a:solidFill>
              </a:defRPr>
            </a:defPPr>
            <a:lvl1pPr>
              <a:defRPr sz="1425" b="1">
                <a:solidFill>
                  <a:srgbClr val="173344"/>
                </a:solidFill>
              </a:defRPr>
            </a:lvl1pPr>
            <a:lvl2pPr>
              <a:defRPr sz="1425" b="1">
                <a:solidFill>
                  <a:srgbClr val="173344"/>
                </a:solidFill>
              </a:defRPr>
            </a:lvl2pPr>
            <a:lvl3pPr>
              <a:defRPr sz="1425" b="1">
                <a:solidFill>
                  <a:srgbClr val="173344"/>
                </a:solidFill>
              </a:defRPr>
            </a:lvl3pPr>
            <a:lvl4pPr>
              <a:defRPr sz="1425" b="1">
                <a:solidFill>
                  <a:srgbClr val="173344"/>
                </a:solidFill>
              </a:defRPr>
            </a:lvl4pPr>
            <a:lvl5pPr>
              <a:defRPr sz="1425" b="1">
                <a:solidFill>
                  <a:srgbClr val="173344"/>
                </a:solidFill>
              </a:defRPr>
            </a:lvl5pPr>
            <a:lvl6pPr>
              <a:defRPr sz="1425" b="1">
                <a:solidFill>
                  <a:srgbClr val="173344"/>
                </a:solidFill>
              </a:defRPr>
            </a:lvl6pPr>
            <a:lvl7pPr>
              <a:defRPr sz="1425" b="1">
                <a:solidFill>
                  <a:srgbClr val="173344"/>
                </a:solidFill>
              </a:defRPr>
            </a:lvl7pPr>
            <a:lvl8pPr>
              <a:defRPr sz="1425" b="1">
                <a:solidFill>
                  <a:srgbClr val="173344"/>
                </a:solidFill>
              </a:defRPr>
            </a:lvl8pPr>
            <a:lvl9pPr>
              <a:defRPr sz="1425" b="1">
                <a:solidFill>
                  <a:srgbClr val="173344"/>
                </a:solidFill>
              </a:defRPr>
            </a:lvl9pPr>
          </a:lstStyle>
          <a:p xmlns:a="http://schemas.openxmlformats.org/drawingml/2006/main">
            <a:pPr>
              <a:defRPr sz="1425" b="1">
                <a:solidFill>
                  <a:srgbClr val="173344"/>
                </a:solidFill>
              </a:defRPr>
            </a:pPr>
            <a:r>
              <a:rPr sz="1425" b="1">
                <a:solidFill>
                  <a:srgbClr val="173344"/>
                </a:solidFill>
              </a:rPr>
              <a:t>Incidence matters</a:t>
            </a:r>
          </a:p>
        </p:txBody>
      </p:sp>
      <p:sp>
        <p:nvSpPr>
          <p:cNvPr id="11" name="">
            <a:extLst xmlns:a="http://schemas.openxmlformats.org/drawingml/2006/main">
              <a:ext uri="{FF2B5EF4-FFF2-40B4-BE49-F238E27FC236}">
                <a16:creationId xmlns:a16="http://schemas.microsoft.com/office/drawing/2014/main" id="{434C08CD-CC61-47AE-8E72-8DE3E3324667}"/>
              </a:ext>
            </a:extLst>
          </p:cNvPr>
          <p:cNvSpPr>
            <a:spLocks xmlns:a="http://schemas.openxmlformats.org/drawingml/2006/main" noGrp="1"/>
          </p:cNvSpPr>
          <p:nvPr/>
        </p:nvSpPr>
        <p:spPr>
          <a:xfrm xmlns:a="http://schemas.openxmlformats.org/drawingml/2006/main">
            <a:off x="6257925" y="2114550"/>
            <a:ext cx="45339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96D78"/>
                </a:solidFill>
              </a:defRPr>
            </a:defPPr>
            <a:lvl1pPr>
              <a:defRPr sz="1200" b="0">
                <a:solidFill>
                  <a:srgbClr val="596D78"/>
                </a:solidFill>
              </a:defRPr>
            </a:lvl1pPr>
            <a:lvl2pPr>
              <a:defRPr sz="1200" b="0">
                <a:solidFill>
                  <a:srgbClr val="596D78"/>
                </a:solidFill>
              </a:defRPr>
            </a:lvl2pPr>
            <a:lvl3pPr>
              <a:defRPr sz="1200" b="0">
                <a:solidFill>
                  <a:srgbClr val="596D78"/>
                </a:solidFill>
              </a:defRPr>
            </a:lvl3pPr>
            <a:lvl4pPr>
              <a:defRPr sz="1200" b="0">
                <a:solidFill>
                  <a:srgbClr val="596D78"/>
                </a:solidFill>
              </a:defRPr>
            </a:lvl4pPr>
            <a:lvl5pPr>
              <a:defRPr sz="1200" b="0">
                <a:solidFill>
                  <a:srgbClr val="596D78"/>
                </a:solidFill>
              </a:defRPr>
            </a:lvl5pPr>
            <a:lvl6pPr>
              <a:defRPr sz="1200" b="0">
                <a:solidFill>
                  <a:srgbClr val="596D78"/>
                </a:solidFill>
              </a:defRPr>
            </a:lvl6pPr>
            <a:lvl7pPr>
              <a:defRPr sz="1200" b="0">
                <a:solidFill>
                  <a:srgbClr val="596D78"/>
                </a:solidFill>
              </a:defRPr>
            </a:lvl7pPr>
            <a:lvl8pPr>
              <a:defRPr sz="1200" b="0">
                <a:solidFill>
                  <a:srgbClr val="596D78"/>
                </a:solidFill>
              </a:defRPr>
            </a:lvl8pPr>
            <a:lvl9pPr>
              <a:defRPr sz="1200" b="0">
                <a:solidFill>
                  <a:srgbClr val="596D78"/>
                </a:solidFill>
              </a:defRPr>
            </a:lvl9pPr>
          </a:lstStyle>
          <a:p xmlns:a="http://schemas.openxmlformats.org/drawingml/2006/main">
            <a:pPr>
              <a:defRPr sz="1200" b="0">
                <a:solidFill>
                  <a:srgbClr val="596D78"/>
                </a:solidFill>
              </a:defRPr>
            </a:pPr>
            <a:r>
              <a:rPr sz="1200" b="0">
                <a:solidFill>
                  <a:srgbClr val="596D78"/>
                </a:solidFill>
              </a:rPr>
              <a:t>The microsimulation applies income and household incidence assumptions. Cuts to transfers or benefits can have larger effects lower in the distribution than savings from subsidies or administrative efficiency.</a:t>
            </a:r>
          </a:p>
        </p:txBody>
      </p:sp>
      <p:sp>
        <p:nvSpPr>
          <p:cNvPr id="12" name="">
            <a:extLst xmlns:a="http://schemas.openxmlformats.org/drawingml/2006/main">
              <a:ext uri="{FF2B5EF4-FFF2-40B4-BE49-F238E27FC236}">
                <a16:creationId xmlns:a16="http://schemas.microsoft.com/office/drawing/2014/main" id="{A5C706C2-48E6-4D2E-BC29-9705A65E078E}"/>
              </a:ext>
            </a:extLst>
          </p:cNvPr>
          <p:cNvSpPr>
            <a:spLocks xmlns:a="http://schemas.openxmlformats.org/drawingml/2006/main" noGrp="1"/>
          </p:cNvSpPr>
          <p:nvPr/>
        </p:nvSpPr>
        <p:spPr>
          <a:xfrm xmlns:a="http://schemas.openxmlformats.org/drawingml/2006/main">
            <a:off x="666750" y="3733800"/>
            <a:ext cx="10334625" cy="180975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9525">
            <a:solidFill>
              <a:srgbClr val="D9E2E5"/>
            </a:solidFill>
            <a:prstDash val="solid"/>
          </a:ln>
        </p:spPr>
      </p:sp>
      <p:sp>
        <p:nvSpPr>
          <p:cNvPr id="13" name="">
            <a:extLst xmlns:a="http://schemas.openxmlformats.org/drawingml/2006/main">
              <a:ext uri="{FF2B5EF4-FFF2-40B4-BE49-F238E27FC236}">
                <a16:creationId xmlns:a16="http://schemas.microsoft.com/office/drawing/2014/main" id="{DBB42EBB-A4DF-42F0-85BC-BB83E06D06DF}"/>
              </a:ext>
            </a:extLst>
          </p:cNvPr>
          <p:cNvSpPr>
            <a:spLocks xmlns:a="http://schemas.openxmlformats.org/drawingml/2006/main" noGrp="1"/>
          </p:cNvSpPr>
          <p:nvPr/>
        </p:nvSpPr>
        <p:spPr>
          <a:xfrm xmlns:a="http://schemas.openxmlformats.org/drawingml/2006/main">
            <a:off x="666750" y="3733800"/>
            <a:ext cx="57150" cy="1809750"/>
          </a:xfrm>
          <a:prstGeom xmlns:a="http://schemas.openxmlformats.org/drawingml/2006/main" prst="rect">
            <a:avLst/>
          </a:prstGeom>
          <a:solidFill xmlns:a="http://schemas.openxmlformats.org/drawingml/2006/main">
            <a:srgbClr val="16818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08C40C1-4ECE-4D89-BE85-FE41C754B425}"/>
              </a:ext>
            </a:extLst>
          </p:cNvPr>
          <p:cNvSpPr>
            <a:spLocks xmlns:a="http://schemas.openxmlformats.org/drawingml/2006/main" noGrp="1"/>
          </p:cNvSpPr>
          <p:nvPr/>
        </p:nvSpPr>
        <p:spPr>
          <a:xfrm xmlns:a="http://schemas.openxmlformats.org/drawingml/2006/main">
            <a:off x="876300" y="3905250"/>
            <a:ext cx="99155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173344"/>
                </a:solidFill>
              </a:defRPr>
            </a:defPPr>
            <a:lvl1pPr>
              <a:defRPr sz="1425" b="1">
                <a:solidFill>
                  <a:srgbClr val="173344"/>
                </a:solidFill>
              </a:defRPr>
            </a:lvl1pPr>
            <a:lvl2pPr>
              <a:defRPr sz="1425" b="1">
                <a:solidFill>
                  <a:srgbClr val="173344"/>
                </a:solidFill>
              </a:defRPr>
            </a:lvl2pPr>
            <a:lvl3pPr>
              <a:defRPr sz="1425" b="1">
                <a:solidFill>
                  <a:srgbClr val="173344"/>
                </a:solidFill>
              </a:defRPr>
            </a:lvl3pPr>
            <a:lvl4pPr>
              <a:defRPr sz="1425" b="1">
                <a:solidFill>
                  <a:srgbClr val="173344"/>
                </a:solidFill>
              </a:defRPr>
            </a:lvl4pPr>
            <a:lvl5pPr>
              <a:defRPr sz="1425" b="1">
                <a:solidFill>
                  <a:srgbClr val="173344"/>
                </a:solidFill>
              </a:defRPr>
            </a:lvl5pPr>
            <a:lvl6pPr>
              <a:defRPr sz="1425" b="1">
                <a:solidFill>
                  <a:srgbClr val="173344"/>
                </a:solidFill>
              </a:defRPr>
            </a:lvl6pPr>
            <a:lvl7pPr>
              <a:defRPr sz="1425" b="1">
                <a:solidFill>
                  <a:srgbClr val="173344"/>
                </a:solidFill>
              </a:defRPr>
            </a:lvl7pPr>
            <a:lvl8pPr>
              <a:defRPr sz="1425" b="1">
                <a:solidFill>
                  <a:srgbClr val="173344"/>
                </a:solidFill>
              </a:defRPr>
            </a:lvl8pPr>
            <a:lvl9pPr>
              <a:defRPr sz="1425" b="1">
                <a:solidFill>
                  <a:srgbClr val="173344"/>
                </a:solidFill>
              </a:defRPr>
            </a:lvl9pPr>
          </a:lstStyle>
          <a:p xmlns:a="http://schemas.openxmlformats.org/drawingml/2006/main">
            <a:pPr>
              <a:defRPr sz="1425" b="1">
                <a:solidFill>
                  <a:srgbClr val="173344"/>
                </a:solidFill>
              </a:defRPr>
            </a:pPr>
            <a:r>
              <a:rPr sz="1425" b="1">
                <a:solidFill>
                  <a:srgbClr val="173344"/>
                </a:solidFill>
              </a:rPr>
              <a:t>Read the result as a warning to inspect—not as a universal law</a:t>
            </a:r>
          </a:p>
        </p:txBody>
      </p:sp>
      <p:sp>
        <p:nvSpPr>
          <p:cNvPr id="15" name="">
            <a:extLst xmlns:a="http://schemas.openxmlformats.org/drawingml/2006/main">
              <a:ext uri="{FF2B5EF4-FFF2-40B4-BE49-F238E27FC236}">
                <a16:creationId xmlns:a16="http://schemas.microsoft.com/office/drawing/2014/main" id="{EE4798A3-49DD-485B-A7E5-0664BD649458}"/>
              </a:ext>
            </a:extLst>
          </p:cNvPr>
          <p:cNvSpPr>
            <a:spLocks xmlns:a="http://schemas.openxmlformats.org/drawingml/2006/main" noGrp="1"/>
          </p:cNvSpPr>
          <p:nvPr/>
        </p:nvSpPr>
        <p:spPr>
          <a:xfrm xmlns:a="http://schemas.openxmlformats.org/drawingml/2006/main">
            <a:off x="876300" y="4324350"/>
            <a:ext cx="9915525"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96D78"/>
                </a:solidFill>
              </a:defRPr>
            </a:defPPr>
            <a:lvl1pPr>
              <a:defRPr sz="1200" b="0">
                <a:solidFill>
                  <a:srgbClr val="596D78"/>
                </a:solidFill>
              </a:defRPr>
            </a:lvl1pPr>
            <a:lvl2pPr>
              <a:defRPr sz="1200" b="0">
                <a:solidFill>
                  <a:srgbClr val="596D78"/>
                </a:solidFill>
              </a:defRPr>
            </a:lvl2pPr>
            <a:lvl3pPr>
              <a:defRPr sz="1200" b="0">
                <a:solidFill>
                  <a:srgbClr val="596D78"/>
                </a:solidFill>
              </a:defRPr>
            </a:lvl3pPr>
            <a:lvl4pPr>
              <a:defRPr sz="1200" b="0">
                <a:solidFill>
                  <a:srgbClr val="596D78"/>
                </a:solidFill>
              </a:defRPr>
            </a:lvl4pPr>
            <a:lvl5pPr>
              <a:defRPr sz="1200" b="0">
                <a:solidFill>
                  <a:srgbClr val="596D78"/>
                </a:solidFill>
              </a:defRPr>
            </a:lvl5pPr>
            <a:lvl6pPr>
              <a:defRPr sz="1200" b="0">
                <a:solidFill>
                  <a:srgbClr val="596D78"/>
                </a:solidFill>
              </a:defRPr>
            </a:lvl6pPr>
            <a:lvl7pPr>
              <a:defRPr sz="1200" b="0">
                <a:solidFill>
                  <a:srgbClr val="596D78"/>
                </a:solidFill>
              </a:defRPr>
            </a:lvl7pPr>
            <a:lvl8pPr>
              <a:defRPr sz="1200" b="0">
                <a:solidFill>
                  <a:srgbClr val="596D78"/>
                </a:solidFill>
              </a:defRPr>
            </a:lvl8pPr>
            <a:lvl9pPr>
              <a:defRPr sz="1200" b="0">
                <a:solidFill>
                  <a:srgbClr val="596D78"/>
                </a:solidFill>
              </a:defRPr>
            </a:lvl9pPr>
          </a:lstStyle>
          <a:p xmlns:a="http://schemas.openxmlformats.org/drawingml/2006/main">
            <a:pPr>
              <a:defRPr sz="1200" b="0">
                <a:solidFill>
                  <a:srgbClr val="596D78"/>
                </a:solidFill>
              </a:defRPr>
            </a:pPr>
            <a:r>
              <a:rPr sz="1200" b="0">
                <a:solidFill>
                  <a:srgbClr val="596D78"/>
                </a:solidFill>
              </a:rPr>
              <a:t>The model says the default reduction package raises Gini relative to S0 in the median 20-year run. It does not establish that every possible reduction raises inequality. Composition variants are designed to probe this, but the distributional C3 indicators currently exist only for the default package; other compositions are marked not modeled.</a:t>
            </a:r>
          </a:p>
        </p:txBody>
      </p:sp>
    </p:spTree>
    <p:extLst>
      <p:ext uri="{BB962C8B-B14F-4D97-AF65-F5344CB8AC3E}">
        <p14:creationId xmlns:p14="http://schemas.microsoft.com/office/powerpoint/2010/main" val="1105240619"/>
      </p:ext>
    </p:extLst>
  </p:cSld>
</p:sld>
</file>

<file path=ppt/slides/slide7.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668AE5FA-F512-44C4-B1AE-1B735A0B46AE}"/>
              </a:ext>
            </a:extLst>
          </p:cNvPr>
          <p:cNvSpPr>
            <a:spLocks xmlns:a="http://schemas.openxmlformats.org/drawingml/2006/main" noGrp="1"/>
          </p:cNvSpPr>
          <p:nvPr/>
        </p:nvSpPr>
        <p:spPr>
          <a:xfrm xmlns:a="http://schemas.openxmlformats.org/drawingml/2006/main">
            <a:off x="647700" y="3238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168184"/>
                </a:solidFill>
              </a:defRPr>
            </a:defPPr>
            <a:lvl1pPr>
              <a:defRPr sz="975" b="1">
                <a:solidFill>
                  <a:srgbClr val="168184"/>
                </a:solidFill>
              </a:defRPr>
            </a:lvl1pPr>
            <a:lvl2pPr>
              <a:defRPr sz="975" b="1">
                <a:solidFill>
                  <a:srgbClr val="168184"/>
                </a:solidFill>
              </a:defRPr>
            </a:lvl2pPr>
            <a:lvl3pPr>
              <a:defRPr sz="975" b="1">
                <a:solidFill>
                  <a:srgbClr val="168184"/>
                </a:solidFill>
              </a:defRPr>
            </a:lvl3pPr>
            <a:lvl4pPr>
              <a:defRPr sz="975" b="1">
                <a:solidFill>
                  <a:srgbClr val="168184"/>
                </a:solidFill>
              </a:defRPr>
            </a:lvl4pPr>
            <a:lvl5pPr>
              <a:defRPr sz="975" b="1">
                <a:solidFill>
                  <a:srgbClr val="168184"/>
                </a:solidFill>
              </a:defRPr>
            </a:lvl5pPr>
            <a:lvl6pPr>
              <a:defRPr sz="975" b="1">
                <a:solidFill>
                  <a:srgbClr val="168184"/>
                </a:solidFill>
              </a:defRPr>
            </a:lvl6pPr>
            <a:lvl7pPr>
              <a:defRPr sz="975" b="1">
                <a:solidFill>
                  <a:srgbClr val="168184"/>
                </a:solidFill>
              </a:defRPr>
            </a:lvl7pPr>
            <a:lvl8pPr>
              <a:defRPr sz="975" b="1">
                <a:solidFill>
                  <a:srgbClr val="168184"/>
                </a:solidFill>
              </a:defRPr>
            </a:lvl8pPr>
            <a:lvl9pPr>
              <a:defRPr sz="975" b="1">
                <a:solidFill>
                  <a:srgbClr val="168184"/>
                </a:solidFill>
              </a:defRPr>
            </a:lvl9pPr>
          </a:lstStyle>
          <a:p xmlns:a="http://schemas.openxmlformats.org/drawingml/2006/main">
            <a:pPr>
              <a:defRPr sz="975" b="1">
                <a:solidFill>
                  <a:srgbClr val="168184"/>
                </a:solidFill>
              </a:defRPr>
            </a:pPr>
            <a:r>
              <a:rPr sz="975" b="1">
                <a:solidFill>
                  <a:srgbClr val="168184"/>
                </a:solidFill>
              </a:rPr>
              <a:t>BRAZIL SCENARIO RESULTS</a:t>
            </a:r>
          </a:p>
        </p:txBody>
      </p:sp>
      <p:sp>
        <p:nvSpPr>
          <p:cNvPr id="2" name="">
            <a:extLst xmlns:a="http://schemas.openxmlformats.org/drawingml/2006/main">
              <a:ext uri="{FF2B5EF4-FFF2-40B4-BE49-F238E27FC236}">
                <a16:creationId xmlns:a16="http://schemas.microsoft.com/office/drawing/2014/main" id="{995D0E7F-016F-4E40-BDF2-7ECC2BA5A957}"/>
              </a:ext>
            </a:extLst>
          </p:cNvPr>
          <p:cNvSpPr>
            <a:spLocks xmlns:a="http://schemas.openxmlformats.org/drawingml/2006/main" noGrp="1"/>
          </p:cNvSpPr>
          <p:nvPr/>
        </p:nvSpPr>
        <p:spPr>
          <a:xfrm xmlns:a="http://schemas.openxmlformats.org/drawingml/2006/main">
            <a:off x="647700" y="6286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173344"/>
                </a:solidFill>
              </a:defRPr>
            </a:defPPr>
            <a:lvl1pPr>
              <a:defRPr sz="2550" b="1">
                <a:solidFill>
                  <a:srgbClr val="173344"/>
                </a:solidFill>
              </a:defRPr>
            </a:lvl1pPr>
            <a:lvl2pPr>
              <a:defRPr sz="2550" b="1">
                <a:solidFill>
                  <a:srgbClr val="173344"/>
                </a:solidFill>
              </a:defRPr>
            </a:lvl2pPr>
            <a:lvl3pPr>
              <a:defRPr sz="2550" b="1">
                <a:solidFill>
                  <a:srgbClr val="173344"/>
                </a:solidFill>
              </a:defRPr>
            </a:lvl3pPr>
            <a:lvl4pPr>
              <a:defRPr sz="2550" b="1">
                <a:solidFill>
                  <a:srgbClr val="173344"/>
                </a:solidFill>
              </a:defRPr>
            </a:lvl4pPr>
            <a:lvl5pPr>
              <a:defRPr sz="2550" b="1">
                <a:solidFill>
                  <a:srgbClr val="173344"/>
                </a:solidFill>
              </a:defRPr>
            </a:lvl5pPr>
            <a:lvl6pPr>
              <a:defRPr sz="2550" b="1">
                <a:solidFill>
                  <a:srgbClr val="173344"/>
                </a:solidFill>
              </a:defRPr>
            </a:lvl6pPr>
            <a:lvl7pPr>
              <a:defRPr sz="2550" b="1">
                <a:solidFill>
                  <a:srgbClr val="173344"/>
                </a:solidFill>
              </a:defRPr>
            </a:lvl7pPr>
            <a:lvl8pPr>
              <a:defRPr sz="2550" b="1">
                <a:solidFill>
                  <a:srgbClr val="173344"/>
                </a:solidFill>
              </a:defRPr>
            </a:lvl8pPr>
            <a:lvl9pPr>
              <a:defRPr sz="2550" b="1">
                <a:solidFill>
                  <a:srgbClr val="173344"/>
                </a:solidFill>
              </a:defRPr>
            </a:lvl9pPr>
          </a:lstStyle>
          <a:p xmlns:a="http://schemas.openxmlformats.org/drawingml/2006/main">
            <a:pPr>
              <a:defRPr sz="2550" b="1">
                <a:solidFill>
                  <a:srgbClr val="173344"/>
                </a:solidFill>
              </a:defRPr>
            </a:pPr>
            <a:r>
              <a:rPr sz="2550" b="1">
                <a:solidFill>
                  <a:srgbClr val="173344"/>
                </a:solidFill>
              </a:rPr>
              <a:t>Indicator signs do not all mean the same thing</a:t>
            </a:r>
          </a:p>
        </p:txBody>
      </p:sp>
      <p:sp>
        <p:nvSpPr>
          <p:cNvPr id="3" name="">
            <a:extLst xmlns:a="http://schemas.openxmlformats.org/drawingml/2006/main">
              <a:ext uri="{FF2B5EF4-FFF2-40B4-BE49-F238E27FC236}">
                <a16:creationId xmlns:a16="http://schemas.microsoft.com/office/drawing/2014/main" id="{0907B0B6-DDA8-40D0-A773-8DD20161419C}"/>
              </a:ext>
            </a:extLst>
          </p:cNvPr>
          <p:cNvSpPr>
            <a:spLocks xmlns:a="http://schemas.openxmlformats.org/drawingml/2006/main" noGrp="1"/>
          </p:cNvSpPr>
          <p:nvPr/>
        </p:nvSpPr>
        <p:spPr>
          <a:xfrm xmlns:a="http://schemas.openxmlformats.org/drawingml/2006/main">
            <a:off x="647700" y="6477000"/>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0">
                <a:solidFill>
                  <a:srgbClr val="596D78"/>
                </a:solidFill>
              </a:defRPr>
            </a:defPPr>
            <a:lvl1pPr>
              <a:defRPr sz="900" b="0">
                <a:solidFill>
                  <a:srgbClr val="596D78"/>
                </a:solidFill>
              </a:defRPr>
            </a:lvl1pPr>
            <a:lvl2pPr>
              <a:defRPr sz="900" b="0">
                <a:solidFill>
                  <a:srgbClr val="596D78"/>
                </a:solidFill>
              </a:defRPr>
            </a:lvl2pPr>
            <a:lvl3pPr>
              <a:defRPr sz="900" b="0">
                <a:solidFill>
                  <a:srgbClr val="596D78"/>
                </a:solidFill>
              </a:defRPr>
            </a:lvl3pPr>
            <a:lvl4pPr>
              <a:defRPr sz="900" b="0">
                <a:solidFill>
                  <a:srgbClr val="596D78"/>
                </a:solidFill>
              </a:defRPr>
            </a:lvl4pPr>
            <a:lvl5pPr>
              <a:defRPr sz="900" b="0">
                <a:solidFill>
                  <a:srgbClr val="596D78"/>
                </a:solidFill>
              </a:defRPr>
            </a:lvl5pPr>
            <a:lvl6pPr>
              <a:defRPr sz="900" b="0">
                <a:solidFill>
                  <a:srgbClr val="596D78"/>
                </a:solidFill>
              </a:defRPr>
            </a:lvl6pPr>
            <a:lvl7pPr>
              <a:defRPr sz="900" b="0">
                <a:solidFill>
                  <a:srgbClr val="596D78"/>
                </a:solidFill>
              </a:defRPr>
            </a:lvl7pPr>
            <a:lvl8pPr>
              <a:defRPr sz="900" b="0">
                <a:solidFill>
                  <a:srgbClr val="596D78"/>
                </a:solidFill>
              </a:defRPr>
            </a:lvl8pPr>
            <a:lvl9pPr>
              <a:defRPr sz="900" b="0">
                <a:solidFill>
                  <a:srgbClr val="596D78"/>
                </a:solidFill>
              </a:defRPr>
            </a:lvl9pPr>
          </a:lstStyle>
          <a:p xmlns:a="http://schemas.openxmlformats.org/drawingml/2006/main">
            <a:pPr>
              <a:defRPr sz="900" b="0">
                <a:solidFill>
                  <a:srgbClr val="596D78"/>
                </a:solidFill>
              </a:defRPr>
            </a:pPr>
            <a:r>
              <a:rPr sz="900" b="0">
                <a:solidFill>
                  <a:srgbClr val="596D78"/>
                </a:solidFill>
              </a:rPr>
              <a:t>Internal review · D2 validation gate FAIL · 21 Oct 2026</a:t>
            </a:r>
          </a:p>
        </p:txBody>
      </p:sp>
      <p:sp>
        <p:nvSpPr>
          <p:cNvPr id="4" name="">
            <a:extLst xmlns:a="http://schemas.openxmlformats.org/drawingml/2006/main">
              <a:ext uri="{FF2B5EF4-FFF2-40B4-BE49-F238E27FC236}">
                <a16:creationId xmlns:a16="http://schemas.microsoft.com/office/drawing/2014/main" id="{9FD8A82E-9A27-4A1F-A6B2-2291E4903301}"/>
              </a:ext>
            </a:extLst>
          </p:cNvPr>
          <p:cNvSpPr>
            <a:spLocks xmlns:a="http://schemas.openxmlformats.org/drawingml/2006/main" noGrp="1"/>
          </p:cNvSpPr>
          <p:nvPr/>
        </p:nvSpPr>
        <p:spPr>
          <a:xfrm xmlns:a="http://schemas.openxmlformats.org/drawingml/2006/main">
            <a:off x="723900" y="1400175"/>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173344"/>
                </a:solidFill>
              </a:defRPr>
            </a:defPPr>
            <a:lvl1pPr>
              <a:defRPr sz="1275" b="1">
                <a:solidFill>
                  <a:srgbClr val="173344"/>
                </a:solidFill>
              </a:defRPr>
            </a:lvl1pPr>
            <a:lvl2pPr>
              <a:defRPr sz="1275" b="1">
                <a:solidFill>
                  <a:srgbClr val="173344"/>
                </a:solidFill>
              </a:defRPr>
            </a:lvl2pPr>
            <a:lvl3pPr>
              <a:defRPr sz="1275" b="1">
                <a:solidFill>
                  <a:srgbClr val="173344"/>
                </a:solidFill>
              </a:defRPr>
            </a:lvl3pPr>
            <a:lvl4pPr>
              <a:defRPr sz="1275" b="1">
                <a:solidFill>
                  <a:srgbClr val="173344"/>
                </a:solidFill>
              </a:defRPr>
            </a:lvl4pPr>
            <a:lvl5pPr>
              <a:defRPr sz="1275" b="1">
                <a:solidFill>
                  <a:srgbClr val="173344"/>
                </a:solidFill>
              </a:defRPr>
            </a:lvl5pPr>
            <a:lvl6pPr>
              <a:defRPr sz="1275" b="1">
                <a:solidFill>
                  <a:srgbClr val="173344"/>
                </a:solidFill>
              </a:defRPr>
            </a:lvl6pPr>
            <a:lvl7pPr>
              <a:defRPr sz="1275" b="1">
                <a:solidFill>
                  <a:srgbClr val="173344"/>
                </a:solidFill>
              </a:defRPr>
            </a:lvl7pPr>
            <a:lvl8pPr>
              <a:defRPr sz="1275" b="1">
                <a:solidFill>
                  <a:srgbClr val="173344"/>
                </a:solidFill>
              </a:defRPr>
            </a:lvl8pPr>
            <a:lvl9pPr>
              <a:defRPr sz="1275" b="1">
                <a:solidFill>
                  <a:srgbClr val="173344"/>
                </a:solidFill>
              </a:defRPr>
            </a:lvl9pPr>
          </a:lstStyle>
          <a:p xmlns:a="http://schemas.openxmlformats.org/drawingml/2006/main">
            <a:pPr>
              <a:defRPr sz="1275" b="1">
                <a:solidFill>
                  <a:srgbClr val="173344"/>
                </a:solidFill>
              </a:defRPr>
            </a:pPr>
            <a:r>
              <a:rPr sz="1275" b="1">
                <a:solidFill>
                  <a:srgbClr val="173344"/>
                </a:solidFill>
              </a:rPr>
              <a:t>GDP level / GDP per capita</a:t>
            </a:r>
          </a:p>
        </p:txBody>
      </p:sp>
      <p:sp>
        <p:nvSpPr>
          <p:cNvPr id="5" name="">
            <a:extLst xmlns:a="http://schemas.openxmlformats.org/drawingml/2006/main">
              <a:ext uri="{FF2B5EF4-FFF2-40B4-BE49-F238E27FC236}">
                <a16:creationId xmlns:a16="http://schemas.microsoft.com/office/drawing/2014/main" id="{A113152A-D5B5-43E5-AE14-98975FF1779D}"/>
              </a:ext>
            </a:extLst>
          </p:cNvPr>
          <p:cNvSpPr>
            <a:spLocks xmlns:a="http://schemas.openxmlformats.org/drawingml/2006/main" noGrp="1"/>
          </p:cNvSpPr>
          <p:nvPr/>
        </p:nvSpPr>
        <p:spPr>
          <a:xfrm xmlns:a="http://schemas.openxmlformats.org/drawingml/2006/main">
            <a:off x="3952875" y="1400175"/>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D78"/>
                </a:solidFill>
              </a:defRPr>
            </a:defPPr>
            <a:lvl1pPr>
              <a:defRPr sz="1125" b="0">
                <a:solidFill>
                  <a:srgbClr val="596D78"/>
                </a:solidFill>
              </a:defRPr>
            </a:lvl1pPr>
            <a:lvl2pPr>
              <a:defRPr sz="1125" b="0">
                <a:solidFill>
                  <a:srgbClr val="596D78"/>
                </a:solidFill>
              </a:defRPr>
            </a:lvl2pPr>
            <a:lvl3pPr>
              <a:defRPr sz="1125" b="0">
                <a:solidFill>
                  <a:srgbClr val="596D78"/>
                </a:solidFill>
              </a:defRPr>
            </a:lvl3pPr>
            <a:lvl4pPr>
              <a:defRPr sz="1125" b="0">
                <a:solidFill>
                  <a:srgbClr val="596D78"/>
                </a:solidFill>
              </a:defRPr>
            </a:lvl4pPr>
            <a:lvl5pPr>
              <a:defRPr sz="1125" b="0">
                <a:solidFill>
                  <a:srgbClr val="596D78"/>
                </a:solidFill>
              </a:defRPr>
            </a:lvl5pPr>
            <a:lvl6pPr>
              <a:defRPr sz="1125" b="0">
                <a:solidFill>
                  <a:srgbClr val="596D78"/>
                </a:solidFill>
              </a:defRPr>
            </a:lvl6pPr>
            <a:lvl7pPr>
              <a:defRPr sz="1125" b="0">
                <a:solidFill>
                  <a:srgbClr val="596D78"/>
                </a:solidFill>
              </a:defRPr>
            </a:lvl7pPr>
            <a:lvl8pPr>
              <a:defRPr sz="1125" b="0">
                <a:solidFill>
                  <a:srgbClr val="596D78"/>
                </a:solidFill>
              </a:defRPr>
            </a:lvl8pPr>
            <a:lvl9pPr>
              <a:defRPr sz="1125" b="0">
                <a:solidFill>
                  <a:srgbClr val="596D78"/>
                </a:solidFill>
              </a:defRPr>
            </a:lvl9pPr>
          </a:lstStyle>
          <a:p xmlns:a="http://schemas.openxmlformats.org/drawingml/2006/main">
            <a:pPr>
              <a:defRPr sz="1125" b="0">
                <a:solidFill>
                  <a:srgbClr val="596D78"/>
                </a:solidFill>
              </a:defRPr>
            </a:pPr>
            <a:r>
              <a:rPr sz="1125" b="0">
                <a:solidFill>
                  <a:srgbClr val="596D78"/>
                </a:solidFill>
              </a:rPr>
              <a:t>% vs S0</a:t>
            </a:r>
          </a:p>
        </p:txBody>
      </p:sp>
      <p:sp>
        <p:nvSpPr>
          <p:cNvPr id="6" name="">
            <a:extLst xmlns:a="http://schemas.openxmlformats.org/drawingml/2006/main">
              <a:ext uri="{FF2B5EF4-FFF2-40B4-BE49-F238E27FC236}">
                <a16:creationId xmlns:a16="http://schemas.microsoft.com/office/drawing/2014/main" id="{D5CEDBEB-8561-434A-B6A1-AF5461A74B42}"/>
              </a:ext>
            </a:extLst>
          </p:cNvPr>
          <p:cNvSpPr>
            <a:spLocks xmlns:a="http://schemas.openxmlformats.org/drawingml/2006/main" noGrp="1"/>
          </p:cNvSpPr>
          <p:nvPr/>
        </p:nvSpPr>
        <p:spPr>
          <a:xfrm xmlns:a="http://schemas.openxmlformats.org/drawingml/2006/main">
            <a:off x="6477000" y="140017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68184"/>
                </a:solidFill>
              </a:defRPr>
            </a:defPPr>
            <a:lvl1pPr>
              <a:defRPr sz="1200" b="1">
                <a:solidFill>
                  <a:srgbClr val="168184"/>
                </a:solidFill>
              </a:defRPr>
            </a:lvl1pPr>
            <a:lvl2pPr>
              <a:defRPr sz="1200" b="1">
                <a:solidFill>
                  <a:srgbClr val="168184"/>
                </a:solidFill>
              </a:defRPr>
            </a:lvl2pPr>
            <a:lvl3pPr>
              <a:defRPr sz="1200" b="1">
                <a:solidFill>
                  <a:srgbClr val="168184"/>
                </a:solidFill>
              </a:defRPr>
            </a:lvl3pPr>
            <a:lvl4pPr>
              <a:defRPr sz="1200" b="1">
                <a:solidFill>
                  <a:srgbClr val="168184"/>
                </a:solidFill>
              </a:defRPr>
            </a:lvl4pPr>
            <a:lvl5pPr>
              <a:defRPr sz="1200" b="1">
                <a:solidFill>
                  <a:srgbClr val="168184"/>
                </a:solidFill>
              </a:defRPr>
            </a:lvl5pPr>
            <a:lvl6pPr>
              <a:defRPr sz="1200" b="1">
                <a:solidFill>
                  <a:srgbClr val="168184"/>
                </a:solidFill>
              </a:defRPr>
            </a:lvl6pPr>
            <a:lvl7pPr>
              <a:defRPr sz="1200" b="1">
                <a:solidFill>
                  <a:srgbClr val="168184"/>
                </a:solidFill>
              </a:defRPr>
            </a:lvl7pPr>
            <a:lvl8pPr>
              <a:defRPr sz="1200" b="1">
                <a:solidFill>
                  <a:srgbClr val="168184"/>
                </a:solidFill>
              </a:defRPr>
            </a:lvl8pPr>
            <a:lvl9pPr>
              <a:defRPr sz="1200" b="1">
                <a:solidFill>
                  <a:srgbClr val="168184"/>
                </a:solidFill>
              </a:defRPr>
            </a:lvl9pPr>
          </a:lstStyle>
          <a:p xmlns:a="http://schemas.openxmlformats.org/drawingml/2006/main">
            <a:pPr>
              <a:defRPr sz="1200" b="1">
                <a:solidFill>
                  <a:srgbClr val="168184"/>
                </a:solidFill>
              </a:defRPr>
            </a:pPr>
            <a:r>
              <a:rPr sz="1200" b="1">
                <a:solidFill>
                  <a:srgbClr val="168184"/>
                </a:solidFill>
              </a:rPr>
              <a:t>Negative = lower output level</a:t>
            </a:r>
          </a:p>
        </p:txBody>
      </p:sp>
      <p:sp>
        <p:nvSpPr>
          <p:cNvPr id="7" name="">
            <a:extLst xmlns:a="http://schemas.openxmlformats.org/drawingml/2006/main">
              <a:ext uri="{FF2B5EF4-FFF2-40B4-BE49-F238E27FC236}">
                <a16:creationId xmlns:a16="http://schemas.microsoft.com/office/drawing/2014/main" id="{44A08F52-95FD-46BA-93F1-90725A7CD50B}"/>
              </a:ext>
            </a:extLst>
          </p:cNvPr>
          <p:cNvSpPr>
            <a:spLocks xmlns:a="http://schemas.openxmlformats.org/drawingml/2006/main" noGrp="1"/>
          </p:cNvSpPr>
          <p:nvPr/>
        </p:nvSpPr>
        <p:spPr>
          <a:xfrm xmlns:a="http://schemas.openxmlformats.org/drawingml/2006/main">
            <a:off x="723900" y="1809750"/>
            <a:ext cx="10467975" cy="0"/>
          </a:xfrm>
          <a:prstGeom xmlns:a="http://schemas.openxmlformats.org/drawingml/2006/main" prst="line">
            <a:avLst/>
          </a:prstGeom>
          <a:ln xmlns:a="http://schemas.openxmlformats.org/drawingml/2006/main" w="9525">
            <a:solidFill>
              <a:srgbClr val="D9E2E5"/>
            </a:solidFill>
            <a:prstDash val="solid"/>
          </a:ln>
        </p:spPr>
      </p:sp>
      <p:sp>
        <p:nvSpPr>
          <p:cNvPr id="8" name="">
            <a:extLst xmlns:a="http://schemas.openxmlformats.org/drawingml/2006/main">
              <a:ext uri="{FF2B5EF4-FFF2-40B4-BE49-F238E27FC236}">
                <a16:creationId xmlns:a16="http://schemas.microsoft.com/office/drawing/2014/main" id="{3DC25353-51BC-4737-B606-A39A5A26AEDB}"/>
              </a:ext>
            </a:extLst>
          </p:cNvPr>
          <p:cNvSpPr>
            <a:spLocks xmlns:a="http://schemas.openxmlformats.org/drawingml/2006/main" noGrp="1"/>
          </p:cNvSpPr>
          <p:nvPr/>
        </p:nvSpPr>
        <p:spPr>
          <a:xfrm xmlns:a="http://schemas.openxmlformats.org/drawingml/2006/main">
            <a:off x="723900" y="2009775"/>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173344"/>
                </a:solidFill>
              </a:defRPr>
            </a:defPPr>
            <a:lvl1pPr>
              <a:defRPr sz="1275" b="1">
                <a:solidFill>
                  <a:srgbClr val="173344"/>
                </a:solidFill>
              </a:defRPr>
            </a:lvl1pPr>
            <a:lvl2pPr>
              <a:defRPr sz="1275" b="1">
                <a:solidFill>
                  <a:srgbClr val="173344"/>
                </a:solidFill>
              </a:defRPr>
            </a:lvl2pPr>
            <a:lvl3pPr>
              <a:defRPr sz="1275" b="1">
                <a:solidFill>
                  <a:srgbClr val="173344"/>
                </a:solidFill>
              </a:defRPr>
            </a:lvl3pPr>
            <a:lvl4pPr>
              <a:defRPr sz="1275" b="1">
                <a:solidFill>
                  <a:srgbClr val="173344"/>
                </a:solidFill>
              </a:defRPr>
            </a:lvl4pPr>
            <a:lvl5pPr>
              <a:defRPr sz="1275" b="1">
                <a:solidFill>
                  <a:srgbClr val="173344"/>
                </a:solidFill>
              </a:defRPr>
            </a:lvl5pPr>
            <a:lvl6pPr>
              <a:defRPr sz="1275" b="1">
                <a:solidFill>
                  <a:srgbClr val="173344"/>
                </a:solidFill>
              </a:defRPr>
            </a:lvl6pPr>
            <a:lvl7pPr>
              <a:defRPr sz="1275" b="1">
                <a:solidFill>
                  <a:srgbClr val="173344"/>
                </a:solidFill>
              </a:defRPr>
            </a:lvl7pPr>
            <a:lvl8pPr>
              <a:defRPr sz="1275" b="1">
                <a:solidFill>
                  <a:srgbClr val="173344"/>
                </a:solidFill>
              </a:defRPr>
            </a:lvl8pPr>
            <a:lvl9pPr>
              <a:defRPr sz="1275" b="1">
                <a:solidFill>
                  <a:srgbClr val="173344"/>
                </a:solidFill>
              </a:defRPr>
            </a:lvl9pPr>
          </a:lstStyle>
          <a:p xmlns:a="http://schemas.openxmlformats.org/drawingml/2006/main">
            <a:pPr>
              <a:defRPr sz="1275" b="1">
                <a:solidFill>
                  <a:srgbClr val="173344"/>
                </a:solidFill>
              </a:defRPr>
            </a:pPr>
            <a:r>
              <a:rPr sz="1275" b="1">
                <a:solidFill>
                  <a:srgbClr val="173344"/>
                </a:solidFill>
              </a:rPr>
              <a:t>Debt / GDP</a:t>
            </a:r>
          </a:p>
        </p:txBody>
      </p:sp>
      <p:sp>
        <p:nvSpPr>
          <p:cNvPr id="9" name="">
            <a:extLst xmlns:a="http://schemas.openxmlformats.org/drawingml/2006/main">
              <a:ext uri="{FF2B5EF4-FFF2-40B4-BE49-F238E27FC236}">
                <a16:creationId xmlns:a16="http://schemas.microsoft.com/office/drawing/2014/main" id="{401B91C4-509F-46AC-AA3E-8568F8C7BED2}"/>
              </a:ext>
            </a:extLst>
          </p:cNvPr>
          <p:cNvSpPr>
            <a:spLocks xmlns:a="http://schemas.openxmlformats.org/drawingml/2006/main" noGrp="1"/>
          </p:cNvSpPr>
          <p:nvPr/>
        </p:nvSpPr>
        <p:spPr>
          <a:xfrm xmlns:a="http://schemas.openxmlformats.org/drawingml/2006/main">
            <a:off x="3952875" y="2009775"/>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D78"/>
                </a:solidFill>
              </a:defRPr>
            </a:defPPr>
            <a:lvl1pPr>
              <a:defRPr sz="1125" b="0">
                <a:solidFill>
                  <a:srgbClr val="596D78"/>
                </a:solidFill>
              </a:defRPr>
            </a:lvl1pPr>
            <a:lvl2pPr>
              <a:defRPr sz="1125" b="0">
                <a:solidFill>
                  <a:srgbClr val="596D78"/>
                </a:solidFill>
              </a:defRPr>
            </a:lvl2pPr>
            <a:lvl3pPr>
              <a:defRPr sz="1125" b="0">
                <a:solidFill>
                  <a:srgbClr val="596D78"/>
                </a:solidFill>
              </a:defRPr>
            </a:lvl3pPr>
            <a:lvl4pPr>
              <a:defRPr sz="1125" b="0">
                <a:solidFill>
                  <a:srgbClr val="596D78"/>
                </a:solidFill>
              </a:defRPr>
            </a:lvl4pPr>
            <a:lvl5pPr>
              <a:defRPr sz="1125" b="0">
                <a:solidFill>
                  <a:srgbClr val="596D78"/>
                </a:solidFill>
              </a:defRPr>
            </a:lvl5pPr>
            <a:lvl6pPr>
              <a:defRPr sz="1125" b="0">
                <a:solidFill>
                  <a:srgbClr val="596D78"/>
                </a:solidFill>
              </a:defRPr>
            </a:lvl6pPr>
            <a:lvl7pPr>
              <a:defRPr sz="1125" b="0">
                <a:solidFill>
                  <a:srgbClr val="596D78"/>
                </a:solidFill>
              </a:defRPr>
            </a:lvl7pPr>
            <a:lvl8pPr>
              <a:defRPr sz="1125" b="0">
                <a:solidFill>
                  <a:srgbClr val="596D78"/>
                </a:solidFill>
              </a:defRPr>
            </a:lvl8pPr>
            <a:lvl9pPr>
              <a:defRPr sz="1125" b="0">
                <a:solidFill>
                  <a:srgbClr val="596D78"/>
                </a:solidFill>
              </a:defRPr>
            </a:lvl9pPr>
          </a:lstStyle>
          <a:p xmlns:a="http://schemas.openxmlformats.org/drawingml/2006/main">
            <a:pPr>
              <a:defRPr sz="1125" b="0">
                <a:solidFill>
                  <a:srgbClr val="596D78"/>
                </a:solidFill>
              </a:defRPr>
            </a:pPr>
            <a:r>
              <a:rPr sz="1125" b="0">
                <a:solidFill>
                  <a:srgbClr val="596D78"/>
                </a:solidFill>
              </a:rPr>
              <a:t>percentage points</a:t>
            </a:r>
          </a:p>
        </p:txBody>
      </p:sp>
      <p:sp>
        <p:nvSpPr>
          <p:cNvPr id="10" name="">
            <a:extLst xmlns:a="http://schemas.openxmlformats.org/drawingml/2006/main">
              <a:ext uri="{FF2B5EF4-FFF2-40B4-BE49-F238E27FC236}">
                <a16:creationId xmlns:a16="http://schemas.microsoft.com/office/drawing/2014/main" id="{551F2174-EB1D-4047-8299-31FD5E4AAC57}"/>
              </a:ext>
            </a:extLst>
          </p:cNvPr>
          <p:cNvSpPr>
            <a:spLocks xmlns:a="http://schemas.openxmlformats.org/drawingml/2006/main" noGrp="1"/>
          </p:cNvSpPr>
          <p:nvPr/>
        </p:nvSpPr>
        <p:spPr>
          <a:xfrm xmlns:a="http://schemas.openxmlformats.org/drawingml/2006/main">
            <a:off x="6477000" y="200977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68184"/>
                </a:solidFill>
              </a:defRPr>
            </a:defPPr>
            <a:lvl1pPr>
              <a:defRPr sz="1200" b="1">
                <a:solidFill>
                  <a:srgbClr val="168184"/>
                </a:solidFill>
              </a:defRPr>
            </a:lvl1pPr>
            <a:lvl2pPr>
              <a:defRPr sz="1200" b="1">
                <a:solidFill>
                  <a:srgbClr val="168184"/>
                </a:solidFill>
              </a:defRPr>
            </a:lvl2pPr>
            <a:lvl3pPr>
              <a:defRPr sz="1200" b="1">
                <a:solidFill>
                  <a:srgbClr val="168184"/>
                </a:solidFill>
              </a:defRPr>
            </a:lvl3pPr>
            <a:lvl4pPr>
              <a:defRPr sz="1200" b="1">
                <a:solidFill>
                  <a:srgbClr val="168184"/>
                </a:solidFill>
              </a:defRPr>
            </a:lvl4pPr>
            <a:lvl5pPr>
              <a:defRPr sz="1200" b="1">
                <a:solidFill>
                  <a:srgbClr val="168184"/>
                </a:solidFill>
              </a:defRPr>
            </a:lvl5pPr>
            <a:lvl6pPr>
              <a:defRPr sz="1200" b="1">
                <a:solidFill>
                  <a:srgbClr val="168184"/>
                </a:solidFill>
              </a:defRPr>
            </a:lvl6pPr>
            <a:lvl7pPr>
              <a:defRPr sz="1200" b="1">
                <a:solidFill>
                  <a:srgbClr val="168184"/>
                </a:solidFill>
              </a:defRPr>
            </a:lvl7pPr>
            <a:lvl8pPr>
              <a:defRPr sz="1200" b="1">
                <a:solidFill>
                  <a:srgbClr val="168184"/>
                </a:solidFill>
              </a:defRPr>
            </a:lvl8pPr>
            <a:lvl9pPr>
              <a:defRPr sz="1200" b="1">
                <a:solidFill>
                  <a:srgbClr val="168184"/>
                </a:solidFill>
              </a:defRPr>
            </a:lvl9pPr>
          </a:lstStyle>
          <a:p xmlns:a="http://schemas.openxmlformats.org/drawingml/2006/main">
            <a:pPr>
              <a:defRPr sz="1200" b="1">
                <a:solidFill>
                  <a:srgbClr val="168184"/>
                </a:solidFill>
              </a:defRPr>
            </a:pPr>
            <a:r>
              <a:rPr sz="1200" b="1">
                <a:solidFill>
                  <a:srgbClr val="168184"/>
                </a:solidFill>
              </a:rPr>
              <a:t>Negative = lower ratio than S0</a:t>
            </a:r>
          </a:p>
        </p:txBody>
      </p:sp>
      <p:sp>
        <p:nvSpPr>
          <p:cNvPr id="11" name="">
            <a:extLst xmlns:a="http://schemas.openxmlformats.org/drawingml/2006/main">
              <a:ext uri="{FF2B5EF4-FFF2-40B4-BE49-F238E27FC236}">
                <a16:creationId xmlns:a16="http://schemas.microsoft.com/office/drawing/2014/main" id="{7D0275F1-C634-4C44-A857-0E84E0264F90}"/>
              </a:ext>
            </a:extLst>
          </p:cNvPr>
          <p:cNvSpPr>
            <a:spLocks xmlns:a="http://schemas.openxmlformats.org/drawingml/2006/main" noGrp="1"/>
          </p:cNvSpPr>
          <p:nvPr/>
        </p:nvSpPr>
        <p:spPr>
          <a:xfrm xmlns:a="http://schemas.openxmlformats.org/drawingml/2006/main">
            <a:off x="723900" y="2419350"/>
            <a:ext cx="10467975" cy="0"/>
          </a:xfrm>
          <a:prstGeom xmlns:a="http://schemas.openxmlformats.org/drawingml/2006/main" prst="line">
            <a:avLst/>
          </a:prstGeom>
          <a:ln xmlns:a="http://schemas.openxmlformats.org/drawingml/2006/main" w="9525">
            <a:solidFill>
              <a:srgbClr val="D9E2E5"/>
            </a:solidFill>
            <a:prstDash val="solid"/>
          </a:ln>
        </p:spPr>
      </p:sp>
      <p:sp>
        <p:nvSpPr>
          <p:cNvPr id="12" name="">
            <a:extLst xmlns:a="http://schemas.openxmlformats.org/drawingml/2006/main">
              <a:ext uri="{FF2B5EF4-FFF2-40B4-BE49-F238E27FC236}">
                <a16:creationId xmlns:a16="http://schemas.microsoft.com/office/drawing/2014/main" id="{E2C237C3-731A-423C-8726-4E2B3C05F177}"/>
              </a:ext>
            </a:extLst>
          </p:cNvPr>
          <p:cNvSpPr>
            <a:spLocks xmlns:a="http://schemas.openxmlformats.org/drawingml/2006/main" noGrp="1"/>
          </p:cNvSpPr>
          <p:nvPr/>
        </p:nvSpPr>
        <p:spPr>
          <a:xfrm xmlns:a="http://schemas.openxmlformats.org/drawingml/2006/main">
            <a:off x="723900" y="2619375"/>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173344"/>
                </a:solidFill>
              </a:defRPr>
            </a:defPPr>
            <a:lvl1pPr>
              <a:defRPr sz="1275" b="1">
                <a:solidFill>
                  <a:srgbClr val="173344"/>
                </a:solidFill>
              </a:defRPr>
            </a:lvl1pPr>
            <a:lvl2pPr>
              <a:defRPr sz="1275" b="1">
                <a:solidFill>
                  <a:srgbClr val="173344"/>
                </a:solidFill>
              </a:defRPr>
            </a:lvl2pPr>
            <a:lvl3pPr>
              <a:defRPr sz="1275" b="1">
                <a:solidFill>
                  <a:srgbClr val="173344"/>
                </a:solidFill>
              </a:defRPr>
            </a:lvl3pPr>
            <a:lvl4pPr>
              <a:defRPr sz="1275" b="1">
                <a:solidFill>
                  <a:srgbClr val="173344"/>
                </a:solidFill>
              </a:defRPr>
            </a:lvl4pPr>
            <a:lvl5pPr>
              <a:defRPr sz="1275" b="1">
                <a:solidFill>
                  <a:srgbClr val="173344"/>
                </a:solidFill>
              </a:defRPr>
            </a:lvl5pPr>
            <a:lvl6pPr>
              <a:defRPr sz="1275" b="1">
                <a:solidFill>
                  <a:srgbClr val="173344"/>
                </a:solidFill>
              </a:defRPr>
            </a:lvl6pPr>
            <a:lvl7pPr>
              <a:defRPr sz="1275" b="1">
                <a:solidFill>
                  <a:srgbClr val="173344"/>
                </a:solidFill>
              </a:defRPr>
            </a:lvl7pPr>
            <a:lvl8pPr>
              <a:defRPr sz="1275" b="1">
                <a:solidFill>
                  <a:srgbClr val="173344"/>
                </a:solidFill>
              </a:defRPr>
            </a:lvl8pPr>
            <a:lvl9pPr>
              <a:defRPr sz="1275" b="1">
                <a:solidFill>
                  <a:srgbClr val="173344"/>
                </a:solidFill>
              </a:defRPr>
            </a:lvl9pPr>
          </a:lstStyle>
          <a:p xmlns:a="http://schemas.openxmlformats.org/drawingml/2006/main">
            <a:pPr>
              <a:defRPr sz="1275" b="1">
                <a:solidFill>
                  <a:srgbClr val="173344"/>
                </a:solidFill>
              </a:defRPr>
            </a:pPr>
            <a:r>
              <a:rPr sz="1275" b="1">
                <a:solidFill>
                  <a:srgbClr val="173344"/>
                </a:solidFill>
              </a:rPr>
              <a:t>Unemployment</a:t>
            </a:r>
          </a:p>
        </p:txBody>
      </p:sp>
      <p:sp>
        <p:nvSpPr>
          <p:cNvPr id="13" name="">
            <a:extLst xmlns:a="http://schemas.openxmlformats.org/drawingml/2006/main">
              <a:ext uri="{FF2B5EF4-FFF2-40B4-BE49-F238E27FC236}">
                <a16:creationId xmlns:a16="http://schemas.microsoft.com/office/drawing/2014/main" id="{75DDFDB5-BA62-47FE-84E9-A7E48089982B}"/>
              </a:ext>
            </a:extLst>
          </p:cNvPr>
          <p:cNvSpPr>
            <a:spLocks xmlns:a="http://schemas.openxmlformats.org/drawingml/2006/main" noGrp="1"/>
          </p:cNvSpPr>
          <p:nvPr/>
        </p:nvSpPr>
        <p:spPr>
          <a:xfrm xmlns:a="http://schemas.openxmlformats.org/drawingml/2006/main">
            <a:off x="3952875" y="2619375"/>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D78"/>
                </a:solidFill>
              </a:defRPr>
            </a:defPPr>
            <a:lvl1pPr>
              <a:defRPr sz="1125" b="0">
                <a:solidFill>
                  <a:srgbClr val="596D78"/>
                </a:solidFill>
              </a:defRPr>
            </a:lvl1pPr>
            <a:lvl2pPr>
              <a:defRPr sz="1125" b="0">
                <a:solidFill>
                  <a:srgbClr val="596D78"/>
                </a:solidFill>
              </a:defRPr>
            </a:lvl2pPr>
            <a:lvl3pPr>
              <a:defRPr sz="1125" b="0">
                <a:solidFill>
                  <a:srgbClr val="596D78"/>
                </a:solidFill>
              </a:defRPr>
            </a:lvl3pPr>
            <a:lvl4pPr>
              <a:defRPr sz="1125" b="0">
                <a:solidFill>
                  <a:srgbClr val="596D78"/>
                </a:solidFill>
              </a:defRPr>
            </a:lvl4pPr>
            <a:lvl5pPr>
              <a:defRPr sz="1125" b="0">
                <a:solidFill>
                  <a:srgbClr val="596D78"/>
                </a:solidFill>
              </a:defRPr>
            </a:lvl5pPr>
            <a:lvl6pPr>
              <a:defRPr sz="1125" b="0">
                <a:solidFill>
                  <a:srgbClr val="596D78"/>
                </a:solidFill>
              </a:defRPr>
            </a:lvl6pPr>
            <a:lvl7pPr>
              <a:defRPr sz="1125" b="0">
                <a:solidFill>
                  <a:srgbClr val="596D78"/>
                </a:solidFill>
              </a:defRPr>
            </a:lvl7pPr>
            <a:lvl8pPr>
              <a:defRPr sz="1125" b="0">
                <a:solidFill>
                  <a:srgbClr val="596D78"/>
                </a:solidFill>
              </a:defRPr>
            </a:lvl8pPr>
            <a:lvl9pPr>
              <a:defRPr sz="1125" b="0">
                <a:solidFill>
                  <a:srgbClr val="596D78"/>
                </a:solidFill>
              </a:defRPr>
            </a:lvl9pPr>
          </a:lstStyle>
          <a:p xmlns:a="http://schemas.openxmlformats.org/drawingml/2006/main">
            <a:pPr>
              <a:defRPr sz="1125" b="0">
                <a:solidFill>
                  <a:srgbClr val="596D78"/>
                </a:solidFill>
              </a:defRPr>
            </a:pPr>
            <a:r>
              <a:rPr sz="1125" b="0">
                <a:solidFill>
                  <a:srgbClr val="596D78"/>
                </a:solidFill>
              </a:rPr>
              <a:t>percentage points</a:t>
            </a:r>
          </a:p>
        </p:txBody>
      </p:sp>
      <p:sp>
        <p:nvSpPr>
          <p:cNvPr id="14" name="">
            <a:extLst xmlns:a="http://schemas.openxmlformats.org/drawingml/2006/main">
              <a:ext uri="{FF2B5EF4-FFF2-40B4-BE49-F238E27FC236}">
                <a16:creationId xmlns:a16="http://schemas.microsoft.com/office/drawing/2014/main" id="{1BEBC5F6-74B6-47E4-AC24-87763C0C78FC}"/>
              </a:ext>
            </a:extLst>
          </p:cNvPr>
          <p:cNvSpPr>
            <a:spLocks xmlns:a="http://schemas.openxmlformats.org/drawingml/2006/main" noGrp="1"/>
          </p:cNvSpPr>
          <p:nvPr/>
        </p:nvSpPr>
        <p:spPr>
          <a:xfrm xmlns:a="http://schemas.openxmlformats.org/drawingml/2006/main">
            <a:off x="6477000" y="261937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BD5B4F"/>
                </a:solidFill>
              </a:defRPr>
            </a:defPPr>
            <a:lvl1pPr>
              <a:defRPr sz="1200" b="1">
                <a:solidFill>
                  <a:srgbClr val="BD5B4F"/>
                </a:solidFill>
              </a:defRPr>
            </a:lvl1pPr>
            <a:lvl2pPr>
              <a:defRPr sz="1200" b="1">
                <a:solidFill>
                  <a:srgbClr val="BD5B4F"/>
                </a:solidFill>
              </a:defRPr>
            </a:lvl2pPr>
            <a:lvl3pPr>
              <a:defRPr sz="1200" b="1">
                <a:solidFill>
                  <a:srgbClr val="BD5B4F"/>
                </a:solidFill>
              </a:defRPr>
            </a:lvl3pPr>
            <a:lvl4pPr>
              <a:defRPr sz="1200" b="1">
                <a:solidFill>
                  <a:srgbClr val="BD5B4F"/>
                </a:solidFill>
              </a:defRPr>
            </a:lvl4pPr>
            <a:lvl5pPr>
              <a:defRPr sz="1200" b="1">
                <a:solidFill>
                  <a:srgbClr val="BD5B4F"/>
                </a:solidFill>
              </a:defRPr>
            </a:lvl5pPr>
            <a:lvl6pPr>
              <a:defRPr sz="1200" b="1">
                <a:solidFill>
                  <a:srgbClr val="BD5B4F"/>
                </a:solidFill>
              </a:defRPr>
            </a:lvl6pPr>
            <a:lvl7pPr>
              <a:defRPr sz="1200" b="1">
                <a:solidFill>
                  <a:srgbClr val="BD5B4F"/>
                </a:solidFill>
              </a:defRPr>
            </a:lvl7pPr>
            <a:lvl8pPr>
              <a:defRPr sz="1200" b="1">
                <a:solidFill>
                  <a:srgbClr val="BD5B4F"/>
                </a:solidFill>
              </a:defRPr>
            </a:lvl8pPr>
            <a:lvl9pPr>
              <a:defRPr sz="1200" b="1">
                <a:solidFill>
                  <a:srgbClr val="BD5B4F"/>
                </a:solidFill>
              </a:defRPr>
            </a:lvl9pPr>
          </a:lstStyle>
          <a:p xmlns:a="http://schemas.openxmlformats.org/drawingml/2006/main">
            <a:pPr>
              <a:defRPr sz="1200" b="1">
                <a:solidFill>
                  <a:srgbClr val="BD5B4F"/>
                </a:solidFill>
              </a:defRPr>
            </a:pPr>
            <a:r>
              <a:rPr sz="1200" b="1">
                <a:solidFill>
                  <a:srgbClr val="BD5B4F"/>
                </a:solidFill>
              </a:rPr>
              <a:t>Positive = worse</a:t>
            </a:r>
          </a:p>
        </p:txBody>
      </p:sp>
      <p:sp>
        <p:nvSpPr>
          <p:cNvPr id="15" name="">
            <a:extLst xmlns:a="http://schemas.openxmlformats.org/drawingml/2006/main">
              <a:ext uri="{FF2B5EF4-FFF2-40B4-BE49-F238E27FC236}">
                <a16:creationId xmlns:a16="http://schemas.microsoft.com/office/drawing/2014/main" id="{E569E92F-C05D-4906-9E51-05EDDF0C0C18}"/>
              </a:ext>
            </a:extLst>
          </p:cNvPr>
          <p:cNvSpPr>
            <a:spLocks xmlns:a="http://schemas.openxmlformats.org/drawingml/2006/main" noGrp="1"/>
          </p:cNvSpPr>
          <p:nvPr/>
        </p:nvSpPr>
        <p:spPr>
          <a:xfrm xmlns:a="http://schemas.openxmlformats.org/drawingml/2006/main">
            <a:off x="723900" y="3028950"/>
            <a:ext cx="10467975" cy="0"/>
          </a:xfrm>
          <a:prstGeom xmlns:a="http://schemas.openxmlformats.org/drawingml/2006/main" prst="line">
            <a:avLst/>
          </a:prstGeom>
          <a:ln xmlns:a="http://schemas.openxmlformats.org/drawingml/2006/main" w="9525">
            <a:solidFill>
              <a:srgbClr val="D9E2E5"/>
            </a:solidFill>
            <a:prstDash val="solid"/>
          </a:ln>
        </p:spPr>
      </p:sp>
      <p:sp>
        <p:nvSpPr>
          <p:cNvPr id="16" name="">
            <a:extLst xmlns:a="http://schemas.openxmlformats.org/drawingml/2006/main">
              <a:ext uri="{FF2B5EF4-FFF2-40B4-BE49-F238E27FC236}">
                <a16:creationId xmlns:a16="http://schemas.microsoft.com/office/drawing/2014/main" id="{EA2981B2-6E8A-466D-A04D-065DF6A6DC9D}"/>
              </a:ext>
            </a:extLst>
          </p:cNvPr>
          <p:cNvSpPr>
            <a:spLocks xmlns:a="http://schemas.openxmlformats.org/drawingml/2006/main" noGrp="1"/>
          </p:cNvSpPr>
          <p:nvPr/>
        </p:nvSpPr>
        <p:spPr>
          <a:xfrm xmlns:a="http://schemas.openxmlformats.org/drawingml/2006/main">
            <a:off x="723900" y="3228975"/>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173344"/>
                </a:solidFill>
              </a:defRPr>
            </a:defPPr>
            <a:lvl1pPr>
              <a:defRPr sz="1275" b="1">
                <a:solidFill>
                  <a:srgbClr val="173344"/>
                </a:solidFill>
              </a:defRPr>
            </a:lvl1pPr>
            <a:lvl2pPr>
              <a:defRPr sz="1275" b="1">
                <a:solidFill>
                  <a:srgbClr val="173344"/>
                </a:solidFill>
              </a:defRPr>
            </a:lvl2pPr>
            <a:lvl3pPr>
              <a:defRPr sz="1275" b="1">
                <a:solidFill>
                  <a:srgbClr val="173344"/>
                </a:solidFill>
              </a:defRPr>
            </a:lvl3pPr>
            <a:lvl4pPr>
              <a:defRPr sz="1275" b="1">
                <a:solidFill>
                  <a:srgbClr val="173344"/>
                </a:solidFill>
              </a:defRPr>
            </a:lvl4pPr>
            <a:lvl5pPr>
              <a:defRPr sz="1275" b="1">
                <a:solidFill>
                  <a:srgbClr val="173344"/>
                </a:solidFill>
              </a:defRPr>
            </a:lvl5pPr>
            <a:lvl6pPr>
              <a:defRPr sz="1275" b="1">
                <a:solidFill>
                  <a:srgbClr val="173344"/>
                </a:solidFill>
              </a:defRPr>
            </a:lvl6pPr>
            <a:lvl7pPr>
              <a:defRPr sz="1275" b="1">
                <a:solidFill>
                  <a:srgbClr val="173344"/>
                </a:solidFill>
              </a:defRPr>
            </a:lvl7pPr>
            <a:lvl8pPr>
              <a:defRPr sz="1275" b="1">
                <a:solidFill>
                  <a:srgbClr val="173344"/>
                </a:solidFill>
              </a:defRPr>
            </a:lvl8pPr>
            <a:lvl9pPr>
              <a:defRPr sz="1275" b="1">
                <a:solidFill>
                  <a:srgbClr val="173344"/>
                </a:solidFill>
              </a:defRPr>
            </a:lvl9pPr>
          </a:lstStyle>
          <a:p xmlns:a="http://schemas.openxmlformats.org/drawingml/2006/main">
            <a:pPr>
              <a:defRPr sz="1275" b="1">
                <a:solidFill>
                  <a:srgbClr val="173344"/>
                </a:solidFill>
              </a:defRPr>
            </a:pPr>
            <a:r>
              <a:rPr sz="1275" b="1">
                <a:solidFill>
                  <a:srgbClr val="173344"/>
                </a:solidFill>
              </a:rPr>
              <a:t>Gini / top income shares</a:t>
            </a:r>
          </a:p>
        </p:txBody>
      </p:sp>
      <p:sp>
        <p:nvSpPr>
          <p:cNvPr id="17" name="">
            <a:extLst xmlns:a="http://schemas.openxmlformats.org/drawingml/2006/main">
              <a:ext uri="{FF2B5EF4-FFF2-40B4-BE49-F238E27FC236}">
                <a16:creationId xmlns:a16="http://schemas.microsoft.com/office/drawing/2014/main" id="{74D8E293-8E9F-4ACF-8ACC-DFDC480FC167}"/>
              </a:ext>
            </a:extLst>
          </p:cNvPr>
          <p:cNvSpPr>
            <a:spLocks xmlns:a="http://schemas.openxmlformats.org/drawingml/2006/main" noGrp="1"/>
          </p:cNvSpPr>
          <p:nvPr/>
        </p:nvSpPr>
        <p:spPr>
          <a:xfrm xmlns:a="http://schemas.openxmlformats.org/drawingml/2006/main">
            <a:off x="3952875" y="3228975"/>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D78"/>
                </a:solidFill>
              </a:defRPr>
            </a:defPPr>
            <a:lvl1pPr>
              <a:defRPr sz="1125" b="0">
                <a:solidFill>
                  <a:srgbClr val="596D78"/>
                </a:solidFill>
              </a:defRPr>
            </a:lvl1pPr>
            <a:lvl2pPr>
              <a:defRPr sz="1125" b="0">
                <a:solidFill>
                  <a:srgbClr val="596D78"/>
                </a:solidFill>
              </a:defRPr>
            </a:lvl2pPr>
            <a:lvl3pPr>
              <a:defRPr sz="1125" b="0">
                <a:solidFill>
                  <a:srgbClr val="596D78"/>
                </a:solidFill>
              </a:defRPr>
            </a:lvl3pPr>
            <a:lvl4pPr>
              <a:defRPr sz="1125" b="0">
                <a:solidFill>
                  <a:srgbClr val="596D78"/>
                </a:solidFill>
              </a:defRPr>
            </a:lvl4pPr>
            <a:lvl5pPr>
              <a:defRPr sz="1125" b="0">
                <a:solidFill>
                  <a:srgbClr val="596D78"/>
                </a:solidFill>
              </a:defRPr>
            </a:lvl5pPr>
            <a:lvl6pPr>
              <a:defRPr sz="1125" b="0">
                <a:solidFill>
                  <a:srgbClr val="596D78"/>
                </a:solidFill>
              </a:defRPr>
            </a:lvl6pPr>
            <a:lvl7pPr>
              <a:defRPr sz="1125" b="0">
                <a:solidFill>
                  <a:srgbClr val="596D78"/>
                </a:solidFill>
              </a:defRPr>
            </a:lvl7pPr>
            <a:lvl8pPr>
              <a:defRPr sz="1125" b="0">
                <a:solidFill>
                  <a:srgbClr val="596D78"/>
                </a:solidFill>
              </a:defRPr>
            </a:lvl8pPr>
            <a:lvl9pPr>
              <a:defRPr sz="1125" b="0">
                <a:solidFill>
                  <a:srgbClr val="596D78"/>
                </a:solidFill>
              </a:defRPr>
            </a:lvl9pPr>
          </a:lstStyle>
          <a:p xmlns:a="http://schemas.openxmlformats.org/drawingml/2006/main">
            <a:pPr>
              <a:defRPr sz="1125" b="0">
                <a:solidFill>
                  <a:srgbClr val="596D78"/>
                </a:solidFill>
              </a:defRPr>
            </a:pPr>
            <a:r>
              <a:rPr sz="1125" b="0">
                <a:solidFill>
                  <a:srgbClr val="596D78"/>
                </a:solidFill>
              </a:rPr>
              <a:t>Gini points / pp</a:t>
            </a:r>
          </a:p>
        </p:txBody>
      </p:sp>
      <p:sp>
        <p:nvSpPr>
          <p:cNvPr id="18" name="">
            <a:extLst xmlns:a="http://schemas.openxmlformats.org/drawingml/2006/main">
              <a:ext uri="{FF2B5EF4-FFF2-40B4-BE49-F238E27FC236}">
                <a16:creationId xmlns:a16="http://schemas.microsoft.com/office/drawing/2014/main" id="{7B3F110E-EA55-4855-B427-306E4DCDD169}"/>
              </a:ext>
            </a:extLst>
          </p:cNvPr>
          <p:cNvSpPr>
            <a:spLocks xmlns:a="http://schemas.openxmlformats.org/drawingml/2006/main" noGrp="1"/>
          </p:cNvSpPr>
          <p:nvPr/>
        </p:nvSpPr>
        <p:spPr>
          <a:xfrm xmlns:a="http://schemas.openxmlformats.org/drawingml/2006/main">
            <a:off x="6477000" y="322897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BD5B4F"/>
                </a:solidFill>
              </a:defRPr>
            </a:defPPr>
            <a:lvl1pPr>
              <a:defRPr sz="1200" b="1">
                <a:solidFill>
                  <a:srgbClr val="BD5B4F"/>
                </a:solidFill>
              </a:defRPr>
            </a:lvl1pPr>
            <a:lvl2pPr>
              <a:defRPr sz="1200" b="1">
                <a:solidFill>
                  <a:srgbClr val="BD5B4F"/>
                </a:solidFill>
              </a:defRPr>
            </a:lvl2pPr>
            <a:lvl3pPr>
              <a:defRPr sz="1200" b="1">
                <a:solidFill>
                  <a:srgbClr val="BD5B4F"/>
                </a:solidFill>
              </a:defRPr>
            </a:lvl3pPr>
            <a:lvl4pPr>
              <a:defRPr sz="1200" b="1">
                <a:solidFill>
                  <a:srgbClr val="BD5B4F"/>
                </a:solidFill>
              </a:defRPr>
            </a:lvl4pPr>
            <a:lvl5pPr>
              <a:defRPr sz="1200" b="1">
                <a:solidFill>
                  <a:srgbClr val="BD5B4F"/>
                </a:solidFill>
              </a:defRPr>
            </a:lvl5pPr>
            <a:lvl6pPr>
              <a:defRPr sz="1200" b="1">
                <a:solidFill>
                  <a:srgbClr val="BD5B4F"/>
                </a:solidFill>
              </a:defRPr>
            </a:lvl6pPr>
            <a:lvl7pPr>
              <a:defRPr sz="1200" b="1">
                <a:solidFill>
                  <a:srgbClr val="BD5B4F"/>
                </a:solidFill>
              </a:defRPr>
            </a:lvl7pPr>
            <a:lvl8pPr>
              <a:defRPr sz="1200" b="1">
                <a:solidFill>
                  <a:srgbClr val="BD5B4F"/>
                </a:solidFill>
              </a:defRPr>
            </a:lvl8pPr>
            <a:lvl9pPr>
              <a:defRPr sz="1200" b="1">
                <a:solidFill>
                  <a:srgbClr val="BD5B4F"/>
                </a:solidFill>
              </a:defRPr>
            </a:lvl9pPr>
          </a:lstStyle>
          <a:p xmlns:a="http://schemas.openxmlformats.org/drawingml/2006/main">
            <a:pPr>
              <a:defRPr sz="1200" b="1">
                <a:solidFill>
                  <a:srgbClr val="BD5B4F"/>
                </a:solidFill>
              </a:defRPr>
            </a:pPr>
            <a:r>
              <a:rPr sz="1200" b="1">
                <a:solidFill>
                  <a:srgbClr val="BD5B4F"/>
                </a:solidFill>
              </a:rPr>
              <a:t>Positive = more inequality/concentration</a:t>
            </a:r>
          </a:p>
        </p:txBody>
      </p:sp>
      <p:sp>
        <p:nvSpPr>
          <p:cNvPr id="19" name="">
            <a:extLst xmlns:a="http://schemas.openxmlformats.org/drawingml/2006/main">
              <a:ext uri="{FF2B5EF4-FFF2-40B4-BE49-F238E27FC236}">
                <a16:creationId xmlns:a16="http://schemas.microsoft.com/office/drawing/2014/main" id="{D524C30C-47B7-4164-8F27-7E0FD8D5BE9B}"/>
              </a:ext>
            </a:extLst>
          </p:cNvPr>
          <p:cNvSpPr>
            <a:spLocks xmlns:a="http://schemas.openxmlformats.org/drawingml/2006/main" noGrp="1"/>
          </p:cNvSpPr>
          <p:nvPr/>
        </p:nvSpPr>
        <p:spPr>
          <a:xfrm xmlns:a="http://schemas.openxmlformats.org/drawingml/2006/main">
            <a:off x="723900" y="3638550"/>
            <a:ext cx="10467975" cy="0"/>
          </a:xfrm>
          <a:prstGeom xmlns:a="http://schemas.openxmlformats.org/drawingml/2006/main" prst="line">
            <a:avLst/>
          </a:prstGeom>
          <a:ln xmlns:a="http://schemas.openxmlformats.org/drawingml/2006/main" w="9525">
            <a:solidFill>
              <a:srgbClr val="D9E2E5"/>
            </a:solidFill>
            <a:prstDash val="solid"/>
          </a:ln>
        </p:spPr>
      </p:sp>
      <p:sp>
        <p:nvSpPr>
          <p:cNvPr id="20" name="">
            <a:extLst xmlns:a="http://schemas.openxmlformats.org/drawingml/2006/main">
              <a:ext uri="{FF2B5EF4-FFF2-40B4-BE49-F238E27FC236}">
                <a16:creationId xmlns:a16="http://schemas.microsoft.com/office/drawing/2014/main" id="{8AB17EB6-ADD1-43CD-9684-BAB287B5E940}"/>
              </a:ext>
            </a:extLst>
          </p:cNvPr>
          <p:cNvSpPr>
            <a:spLocks xmlns:a="http://schemas.openxmlformats.org/drawingml/2006/main" noGrp="1"/>
          </p:cNvSpPr>
          <p:nvPr/>
        </p:nvSpPr>
        <p:spPr>
          <a:xfrm xmlns:a="http://schemas.openxmlformats.org/drawingml/2006/main">
            <a:off x="723900" y="3838575"/>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173344"/>
                </a:solidFill>
              </a:defRPr>
            </a:defPPr>
            <a:lvl1pPr>
              <a:defRPr sz="1275" b="1">
                <a:solidFill>
                  <a:srgbClr val="173344"/>
                </a:solidFill>
              </a:defRPr>
            </a:lvl1pPr>
            <a:lvl2pPr>
              <a:defRPr sz="1275" b="1">
                <a:solidFill>
                  <a:srgbClr val="173344"/>
                </a:solidFill>
              </a:defRPr>
            </a:lvl2pPr>
            <a:lvl3pPr>
              <a:defRPr sz="1275" b="1">
                <a:solidFill>
                  <a:srgbClr val="173344"/>
                </a:solidFill>
              </a:defRPr>
            </a:lvl3pPr>
            <a:lvl4pPr>
              <a:defRPr sz="1275" b="1">
                <a:solidFill>
                  <a:srgbClr val="173344"/>
                </a:solidFill>
              </a:defRPr>
            </a:lvl4pPr>
            <a:lvl5pPr>
              <a:defRPr sz="1275" b="1">
                <a:solidFill>
                  <a:srgbClr val="173344"/>
                </a:solidFill>
              </a:defRPr>
            </a:lvl5pPr>
            <a:lvl6pPr>
              <a:defRPr sz="1275" b="1">
                <a:solidFill>
                  <a:srgbClr val="173344"/>
                </a:solidFill>
              </a:defRPr>
            </a:lvl6pPr>
            <a:lvl7pPr>
              <a:defRPr sz="1275" b="1">
                <a:solidFill>
                  <a:srgbClr val="173344"/>
                </a:solidFill>
              </a:defRPr>
            </a:lvl7pPr>
            <a:lvl8pPr>
              <a:defRPr sz="1275" b="1">
                <a:solidFill>
                  <a:srgbClr val="173344"/>
                </a:solidFill>
              </a:defRPr>
            </a:lvl8pPr>
            <a:lvl9pPr>
              <a:defRPr sz="1275" b="1">
                <a:solidFill>
                  <a:srgbClr val="173344"/>
                </a:solidFill>
              </a:defRPr>
            </a:lvl9pPr>
          </a:lstStyle>
          <a:p xmlns:a="http://schemas.openxmlformats.org/drawingml/2006/main">
            <a:pPr>
              <a:defRPr sz="1275" b="1">
                <a:solidFill>
                  <a:srgbClr val="173344"/>
                </a:solidFill>
              </a:defRPr>
            </a:pPr>
            <a:r>
              <a:rPr sz="1275" b="1">
                <a:solidFill>
                  <a:srgbClr val="173344"/>
                </a:solidFill>
              </a:rPr>
              <a:t>Poverty rates</a:t>
            </a:r>
          </a:p>
        </p:txBody>
      </p:sp>
      <p:sp>
        <p:nvSpPr>
          <p:cNvPr id="21" name="">
            <a:extLst xmlns:a="http://schemas.openxmlformats.org/drawingml/2006/main">
              <a:ext uri="{FF2B5EF4-FFF2-40B4-BE49-F238E27FC236}">
                <a16:creationId xmlns:a16="http://schemas.microsoft.com/office/drawing/2014/main" id="{56FE1958-D5F0-467E-9730-7A72669046A2}"/>
              </a:ext>
            </a:extLst>
          </p:cNvPr>
          <p:cNvSpPr>
            <a:spLocks xmlns:a="http://schemas.openxmlformats.org/drawingml/2006/main" noGrp="1"/>
          </p:cNvSpPr>
          <p:nvPr/>
        </p:nvSpPr>
        <p:spPr>
          <a:xfrm xmlns:a="http://schemas.openxmlformats.org/drawingml/2006/main">
            <a:off x="3952875" y="3838575"/>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D78"/>
                </a:solidFill>
              </a:defRPr>
            </a:defPPr>
            <a:lvl1pPr>
              <a:defRPr sz="1125" b="0">
                <a:solidFill>
                  <a:srgbClr val="596D78"/>
                </a:solidFill>
              </a:defRPr>
            </a:lvl1pPr>
            <a:lvl2pPr>
              <a:defRPr sz="1125" b="0">
                <a:solidFill>
                  <a:srgbClr val="596D78"/>
                </a:solidFill>
              </a:defRPr>
            </a:lvl2pPr>
            <a:lvl3pPr>
              <a:defRPr sz="1125" b="0">
                <a:solidFill>
                  <a:srgbClr val="596D78"/>
                </a:solidFill>
              </a:defRPr>
            </a:lvl3pPr>
            <a:lvl4pPr>
              <a:defRPr sz="1125" b="0">
                <a:solidFill>
                  <a:srgbClr val="596D78"/>
                </a:solidFill>
              </a:defRPr>
            </a:lvl4pPr>
            <a:lvl5pPr>
              <a:defRPr sz="1125" b="0">
                <a:solidFill>
                  <a:srgbClr val="596D78"/>
                </a:solidFill>
              </a:defRPr>
            </a:lvl5pPr>
            <a:lvl6pPr>
              <a:defRPr sz="1125" b="0">
                <a:solidFill>
                  <a:srgbClr val="596D78"/>
                </a:solidFill>
              </a:defRPr>
            </a:lvl6pPr>
            <a:lvl7pPr>
              <a:defRPr sz="1125" b="0">
                <a:solidFill>
                  <a:srgbClr val="596D78"/>
                </a:solidFill>
              </a:defRPr>
            </a:lvl7pPr>
            <a:lvl8pPr>
              <a:defRPr sz="1125" b="0">
                <a:solidFill>
                  <a:srgbClr val="596D78"/>
                </a:solidFill>
              </a:defRPr>
            </a:lvl8pPr>
            <a:lvl9pPr>
              <a:defRPr sz="1125" b="0">
                <a:solidFill>
                  <a:srgbClr val="596D78"/>
                </a:solidFill>
              </a:defRPr>
            </a:lvl9pPr>
          </a:lstStyle>
          <a:p xmlns:a="http://schemas.openxmlformats.org/drawingml/2006/main">
            <a:pPr>
              <a:defRPr sz="1125" b="0">
                <a:solidFill>
                  <a:srgbClr val="596D78"/>
                </a:solidFill>
              </a:defRPr>
            </a:pPr>
            <a:r>
              <a:rPr sz="1125" b="0">
                <a:solidFill>
                  <a:srgbClr val="596D78"/>
                </a:solidFill>
              </a:rPr>
              <a:t>percentage points</a:t>
            </a:r>
          </a:p>
        </p:txBody>
      </p:sp>
      <p:sp>
        <p:nvSpPr>
          <p:cNvPr id="22" name="">
            <a:extLst xmlns:a="http://schemas.openxmlformats.org/drawingml/2006/main">
              <a:ext uri="{FF2B5EF4-FFF2-40B4-BE49-F238E27FC236}">
                <a16:creationId xmlns:a16="http://schemas.microsoft.com/office/drawing/2014/main" id="{7E7B7C67-64C2-4340-9C19-D682B24A47F2}"/>
              </a:ext>
            </a:extLst>
          </p:cNvPr>
          <p:cNvSpPr>
            <a:spLocks xmlns:a="http://schemas.openxmlformats.org/drawingml/2006/main" noGrp="1"/>
          </p:cNvSpPr>
          <p:nvPr/>
        </p:nvSpPr>
        <p:spPr>
          <a:xfrm xmlns:a="http://schemas.openxmlformats.org/drawingml/2006/main">
            <a:off x="6477000" y="383857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BD5B4F"/>
                </a:solidFill>
              </a:defRPr>
            </a:defPPr>
            <a:lvl1pPr>
              <a:defRPr sz="1200" b="1">
                <a:solidFill>
                  <a:srgbClr val="BD5B4F"/>
                </a:solidFill>
              </a:defRPr>
            </a:lvl1pPr>
            <a:lvl2pPr>
              <a:defRPr sz="1200" b="1">
                <a:solidFill>
                  <a:srgbClr val="BD5B4F"/>
                </a:solidFill>
              </a:defRPr>
            </a:lvl2pPr>
            <a:lvl3pPr>
              <a:defRPr sz="1200" b="1">
                <a:solidFill>
                  <a:srgbClr val="BD5B4F"/>
                </a:solidFill>
              </a:defRPr>
            </a:lvl3pPr>
            <a:lvl4pPr>
              <a:defRPr sz="1200" b="1">
                <a:solidFill>
                  <a:srgbClr val="BD5B4F"/>
                </a:solidFill>
              </a:defRPr>
            </a:lvl4pPr>
            <a:lvl5pPr>
              <a:defRPr sz="1200" b="1">
                <a:solidFill>
                  <a:srgbClr val="BD5B4F"/>
                </a:solidFill>
              </a:defRPr>
            </a:lvl5pPr>
            <a:lvl6pPr>
              <a:defRPr sz="1200" b="1">
                <a:solidFill>
                  <a:srgbClr val="BD5B4F"/>
                </a:solidFill>
              </a:defRPr>
            </a:lvl6pPr>
            <a:lvl7pPr>
              <a:defRPr sz="1200" b="1">
                <a:solidFill>
                  <a:srgbClr val="BD5B4F"/>
                </a:solidFill>
              </a:defRPr>
            </a:lvl7pPr>
            <a:lvl8pPr>
              <a:defRPr sz="1200" b="1">
                <a:solidFill>
                  <a:srgbClr val="BD5B4F"/>
                </a:solidFill>
              </a:defRPr>
            </a:lvl8pPr>
            <a:lvl9pPr>
              <a:defRPr sz="1200" b="1">
                <a:solidFill>
                  <a:srgbClr val="BD5B4F"/>
                </a:solidFill>
              </a:defRPr>
            </a:lvl9pPr>
          </a:lstStyle>
          <a:p xmlns:a="http://schemas.openxmlformats.org/drawingml/2006/main">
            <a:pPr>
              <a:defRPr sz="1200" b="1">
                <a:solidFill>
                  <a:srgbClr val="BD5B4F"/>
                </a:solidFill>
              </a:defRPr>
            </a:pPr>
            <a:r>
              <a:rPr sz="1200" b="1">
                <a:solidFill>
                  <a:srgbClr val="BD5B4F"/>
                </a:solidFill>
              </a:rPr>
              <a:t>Positive = more people below threshold</a:t>
            </a:r>
          </a:p>
        </p:txBody>
      </p:sp>
      <p:sp>
        <p:nvSpPr>
          <p:cNvPr id="23" name="">
            <a:extLst xmlns:a="http://schemas.openxmlformats.org/drawingml/2006/main">
              <a:ext uri="{FF2B5EF4-FFF2-40B4-BE49-F238E27FC236}">
                <a16:creationId xmlns:a16="http://schemas.microsoft.com/office/drawing/2014/main" id="{CE33B465-A855-4020-B6FC-70D8A3ED7BC0}"/>
              </a:ext>
            </a:extLst>
          </p:cNvPr>
          <p:cNvSpPr>
            <a:spLocks xmlns:a="http://schemas.openxmlformats.org/drawingml/2006/main" noGrp="1"/>
          </p:cNvSpPr>
          <p:nvPr/>
        </p:nvSpPr>
        <p:spPr>
          <a:xfrm xmlns:a="http://schemas.openxmlformats.org/drawingml/2006/main">
            <a:off x="723900" y="4248150"/>
            <a:ext cx="10467975" cy="0"/>
          </a:xfrm>
          <a:prstGeom xmlns:a="http://schemas.openxmlformats.org/drawingml/2006/main" prst="line">
            <a:avLst/>
          </a:prstGeom>
          <a:ln xmlns:a="http://schemas.openxmlformats.org/drawingml/2006/main" w="9525">
            <a:solidFill>
              <a:srgbClr val="D9E2E5"/>
            </a:solidFill>
            <a:prstDash val="solid"/>
          </a:ln>
        </p:spPr>
      </p:sp>
      <p:sp>
        <p:nvSpPr>
          <p:cNvPr id="24" name="">
            <a:extLst xmlns:a="http://schemas.openxmlformats.org/drawingml/2006/main">
              <a:ext uri="{FF2B5EF4-FFF2-40B4-BE49-F238E27FC236}">
                <a16:creationId xmlns:a16="http://schemas.microsoft.com/office/drawing/2014/main" id="{B0E6FF4C-8DF7-4F22-BAF7-81992BA6BC9F}"/>
              </a:ext>
            </a:extLst>
          </p:cNvPr>
          <p:cNvSpPr>
            <a:spLocks xmlns:a="http://schemas.openxmlformats.org/drawingml/2006/main" noGrp="1"/>
          </p:cNvSpPr>
          <p:nvPr/>
        </p:nvSpPr>
        <p:spPr>
          <a:xfrm xmlns:a="http://schemas.openxmlformats.org/drawingml/2006/main">
            <a:off x="723900" y="4448175"/>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173344"/>
                </a:solidFill>
              </a:defRPr>
            </a:defPPr>
            <a:lvl1pPr>
              <a:defRPr sz="1275" b="1">
                <a:solidFill>
                  <a:srgbClr val="173344"/>
                </a:solidFill>
              </a:defRPr>
            </a:lvl1pPr>
            <a:lvl2pPr>
              <a:defRPr sz="1275" b="1">
                <a:solidFill>
                  <a:srgbClr val="173344"/>
                </a:solidFill>
              </a:defRPr>
            </a:lvl2pPr>
            <a:lvl3pPr>
              <a:defRPr sz="1275" b="1">
                <a:solidFill>
                  <a:srgbClr val="173344"/>
                </a:solidFill>
              </a:defRPr>
            </a:lvl3pPr>
            <a:lvl4pPr>
              <a:defRPr sz="1275" b="1">
                <a:solidFill>
                  <a:srgbClr val="173344"/>
                </a:solidFill>
              </a:defRPr>
            </a:lvl4pPr>
            <a:lvl5pPr>
              <a:defRPr sz="1275" b="1">
                <a:solidFill>
                  <a:srgbClr val="173344"/>
                </a:solidFill>
              </a:defRPr>
            </a:lvl5pPr>
            <a:lvl6pPr>
              <a:defRPr sz="1275" b="1">
                <a:solidFill>
                  <a:srgbClr val="173344"/>
                </a:solidFill>
              </a:defRPr>
            </a:lvl6pPr>
            <a:lvl7pPr>
              <a:defRPr sz="1275" b="1">
                <a:solidFill>
                  <a:srgbClr val="173344"/>
                </a:solidFill>
              </a:defRPr>
            </a:lvl7pPr>
            <a:lvl8pPr>
              <a:defRPr sz="1275" b="1">
                <a:solidFill>
                  <a:srgbClr val="173344"/>
                </a:solidFill>
              </a:defRPr>
            </a:lvl8pPr>
            <a:lvl9pPr>
              <a:defRPr sz="1275" b="1">
                <a:solidFill>
                  <a:srgbClr val="173344"/>
                </a:solidFill>
              </a:defRPr>
            </a:lvl9pPr>
          </a:lstStyle>
          <a:p xmlns:a="http://schemas.openxmlformats.org/drawingml/2006/main">
            <a:pPr>
              <a:defRPr sz="1275" b="1">
                <a:solidFill>
                  <a:srgbClr val="173344"/>
                </a:solidFill>
              </a:defRPr>
            </a:pPr>
            <a:r>
              <a:rPr sz="1275" b="1">
                <a:solidFill>
                  <a:srgbClr val="173344"/>
                </a:solidFill>
              </a:rPr>
              <a:t>Infant mortality</a:t>
            </a:r>
          </a:p>
        </p:txBody>
      </p:sp>
      <p:sp>
        <p:nvSpPr>
          <p:cNvPr id="25" name="">
            <a:extLst xmlns:a="http://schemas.openxmlformats.org/drawingml/2006/main">
              <a:ext uri="{FF2B5EF4-FFF2-40B4-BE49-F238E27FC236}">
                <a16:creationId xmlns:a16="http://schemas.microsoft.com/office/drawing/2014/main" id="{39D3A51B-5CE2-4480-81BC-F80772AA6391}"/>
              </a:ext>
            </a:extLst>
          </p:cNvPr>
          <p:cNvSpPr>
            <a:spLocks xmlns:a="http://schemas.openxmlformats.org/drawingml/2006/main" noGrp="1"/>
          </p:cNvSpPr>
          <p:nvPr/>
        </p:nvSpPr>
        <p:spPr>
          <a:xfrm xmlns:a="http://schemas.openxmlformats.org/drawingml/2006/main">
            <a:off x="3952875" y="4448175"/>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D78"/>
                </a:solidFill>
              </a:defRPr>
            </a:defPPr>
            <a:lvl1pPr>
              <a:defRPr sz="1125" b="0">
                <a:solidFill>
                  <a:srgbClr val="596D78"/>
                </a:solidFill>
              </a:defRPr>
            </a:lvl1pPr>
            <a:lvl2pPr>
              <a:defRPr sz="1125" b="0">
                <a:solidFill>
                  <a:srgbClr val="596D78"/>
                </a:solidFill>
              </a:defRPr>
            </a:lvl2pPr>
            <a:lvl3pPr>
              <a:defRPr sz="1125" b="0">
                <a:solidFill>
                  <a:srgbClr val="596D78"/>
                </a:solidFill>
              </a:defRPr>
            </a:lvl3pPr>
            <a:lvl4pPr>
              <a:defRPr sz="1125" b="0">
                <a:solidFill>
                  <a:srgbClr val="596D78"/>
                </a:solidFill>
              </a:defRPr>
            </a:lvl4pPr>
            <a:lvl5pPr>
              <a:defRPr sz="1125" b="0">
                <a:solidFill>
                  <a:srgbClr val="596D78"/>
                </a:solidFill>
              </a:defRPr>
            </a:lvl5pPr>
            <a:lvl6pPr>
              <a:defRPr sz="1125" b="0">
                <a:solidFill>
                  <a:srgbClr val="596D78"/>
                </a:solidFill>
              </a:defRPr>
            </a:lvl6pPr>
            <a:lvl7pPr>
              <a:defRPr sz="1125" b="0">
                <a:solidFill>
                  <a:srgbClr val="596D78"/>
                </a:solidFill>
              </a:defRPr>
            </a:lvl7pPr>
            <a:lvl8pPr>
              <a:defRPr sz="1125" b="0">
                <a:solidFill>
                  <a:srgbClr val="596D78"/>
                </a:solidFill>
              </a:defRPr>
            </a:lvl8pPr>
            <a:lvl9pPr>
              <a:defRPr sz="1125" b="0">
                <a:solidFill>
                  <a:srgbClr val="596D78"/>
                </a:solidFill>
              </a:defRPr>
            </a:lvl9pPr>
          </a:lstStyle>
          <a:p xmlns:a="http://schemas.openxmlformats.org/drawingml/2006/main">
            <a:pPr>
              <a:defRPr sz="1125" b="0">
                <a:solidFill>
                  <a:srgbClr val="596D78"/>
                </a:solidFill>
              </a:defRPr>
            </a:pPr>
            <a:r>
              <a:rPr sz="1125" b="0">
                <a:solidFill>
                  <a:srgbClr val="596D78"/>
                </a:solidFill>
              </a:rPr>
              <a:t>deaths per 1,000</a:t>
            </a:r>
          </a:p>
        </p:txBody>
      </p:sp>
      <p:sp>
        <p:nvSpPr>
          <p:cNvPr id="26" name="">
            <a:extLst xmlns:a="http://schemas.openxmlformats.org/drawingml/2006/main">
              <a:ext uri="{FF2B5EF4-FFF2-40B4-BE49-F238E27FC236}">
                <a16:creationId xmlns:a16="http://schemas.microsoft.com/office/drawing/2014/main" id="{F235F388-627E-4A0A-9340-D0EB7DCC37AB}"/>
              </a:ext>
            </a:extLst>
          </p:cNvPr>
          <p:cNvSpPr>
            <a:spLocks xmlns:a="http://schemas.openxmlformats.org/drawingml/2006/main" noGrp="1"/>
          </p:cNvSpPr>
          <p:nvPr/>
        </p:nvSpPr>
        <p:spPr>
          <a:xfrm xmlns:a="http://schemas.openxmlformats.org/drawingml/2006/main">
            <a:off x="6477000" y="444817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BD5B4F"/>
                </a:solidFill>
              </a:defRPr>
            </a:defPPr>
            <a:lvl1pPr>
              <a:defRPr sz="1200" b="1">
                <a:solidFill>
                  <a:srgbClr val="BD5B4F"/>
                </a:solidFill>
              </a:defRPr>
            </a:lvl1pPr>
            <a:lvl2pPr>
              <a:defRPr sz="1200" b="1">
                <a:solidFill>
                  <a:srgbClr val="BD5B4F"/>
                </a:solidFill>
              </a:defRPr>
            </a:lvl2pPr>
            <a:lvl3pPr>
              <a:defRPr sz="1200" b="1">
                <a:solidFill>
                  <a:srgbClr val="BD5B4F"/>
                </a:solidFill>
              </a:defRPr>
            </a:lvl3pPr>
            <a:lvl4pPr>
              <a:defRPr sz="1200" b="1">
                <a:solidFill>
                  <a:srgbClr val="BD5B4F"/>
                </a:solidFill>
              </a:defRPr>
            </a:lvl4pPr>
            <a:lvl5pPr>
              <a:defRPr sz="1200" b="1">
                <a:solidFill>
                  <a:srgbClr val="BD5B4F"/>
                </a:solidFill>
              </a:defRPr>
            </a:lvl5pPr>
            <a:lvl6pPr>
              <a:defRPr sz="1200" b="1">
                <a:solidFill>
                  <a:srgbClr val="BD5B4F"/>
                </a:solidFill>
              </a:defRPr>
            </a:lvl6pPr>
            <a:lvl7pPr>
              <a:defRPr sz="1200" b="1">
                <a:solidFill>
                  <a:srgbClr val="BD5B4F"/>
                </a:solidFill>
              </a:defRPr>
            </a:lvl7pPr>
            <a:lvl8pPr>
              <a:defRPr sz="1200" b="1">
                <a:solidFill>
                  <a:srgbClr val="BD5B4F"/>
                </a:solidFill>
              </a:defRPr>
            </a:lvl8pPr>
            <a:lvl9pPr>
              <a:defRPr sz="1200" b="1">
                <a:solidFill>
                  <a:srgbClr val="BD5B4F"/>
                </a:solidFill>
              </a:defRPr>
            </a:lvl9pPr>
          </a:lstStyle>
          <a:p xmlns:a="http://schemas.openxmlformats.org/drawingml/2006/main">
            <a:pPr>
              <a:defRPr sz="1200" b="1">
                <a:solidFill>
                  <a:srgbClr val="BD5B4F"/>
                </a:solidFill>
              </a:defRPr>
            </a:pPr>
            <a:r>
              <a:rPr sz="1200" b="1">
                <a:solidFill>
                  <a:srgbClr val="BD5B4F"/>
                </a:solidFill>
              </a:rPr>
              <a:t>Positive = worse</a:t>
            </a:r>
          </a:p>
        </p:txBody>
      </p:sp>
      <p:sp>
        <p:nvSpPr>
          <p:cNvPr id="27" name="">
            <a:extLst xmlns:a="http://schemas.openxmlformats.org/drawingml/2006/main">
              <a:ext uri="{FF2B5EF4-FFF2-40B4-BE49-F238E27FC236}">
                <a16:creationId xmlns:a16="http://schemas.microsoft.com/office/drawing/2014/main" id="{4AAA4D55-462A-44DF-8261-A4BB00834C5B}"/>
              </a:ext>
            </a:extLst>
          </p:cNvPr>
          <p:cNvSpPr>
            <a:spLocks xmlns:a="http://schemas.openxmlformats.org/drawingml/2006/main" noGrp="1"/>
          </p:cNvSpPr>
          <p:nvPr/>
        </p:nvSpPr>
        <p:spPr>
          <a:xfrm xmlns:a="http://schemas.openxmlformats.org/drawingml/2006/main">
            <a:off x="723900" y="4857750"/>
            <a:ext cx="10467975" cy="0"/>
          </a:xfrm>
          <a:prstGeom xmlns:a="http://schemas.openxmlformats.org/drawingml/2006/main" prst="line">
            <a:avLst/>
          </a:prstGeom>
          <a:ln xmlns:a="http://schemas.openxmlformats.org/drawingml/2006/main" w="9525">
            <a:solidFill>
              <a:srgbClr val="D9E2E5"/>
            </a:solidFill>
            <a:prstDash val="solid"/>
          </a:ln>
        </p:spPr>
      </p:sp>
      <p:sp>
        <p:nvSpPr>
          <p:cNvPr id="28" name="">
            <a:extLst xmlns:a="http://schemas.openxmlformats.org/drawingml/2006/main">
              <a:ext uri="{FF2B5EF4-FFF2-40B4-BE49-F238E27FC236}">
                <a16:creationId xmlns:a16="http://schemas.microsoft.com/office/drawing/2014/main" id="{CC819FA7-53BB-4D60-B054-AA0A9F6CF8CB}"/>
              </a:ext>
            </a:extLst>
          </p:cNvPr>
          <p:cNvSpPr>
            <a:spLocks xmlns:a="http://schemas.openxmlformats.org/drawingml/2006/main" noGrp="1"/>
          </p:cNvSpPr>
          <p:nvPr/>
        </p:nvSpPr>
        <p:spPr>
          <a:xfrm xmlns:a="http://schemas.openxmlformats.org/drawingml/2006/main">
            <a:off x="723900" y="5057775"/>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173344"/>
                </a:solidFill>
              </a:defRPr>
            </a:defPPr>
            <a:lvl1pPr>
              <a:defRPr sz="1275" b="1">
                <a:solidFill>
                  <a:srgbClr val="173344"/>
                </a:solidFill>
              </a:defRPr>
            </a:lvl1pPr>
            <a:lvl2pPr>
              <a:defRPr sz="1275" b="1">
                <a:solidFill>
                  <a:srgbClr val="173344"/>
                </a:solidFill>
              </a:defRPr>
            </a:lvl2pPr>
            <a:lvl3pPr>
              <a:defRPr sz="1275" b="1">
                <a:solidFill>
                  <a:srgbClr val="173344"/>
                </a:solidFill>
              </a:defRPr>
            </a:lvl3pPr>
            <a:lvl4pPr>
              <a:defRPr sz="1275" b="1">
                <a:solidFill>
                  <a:srgbClr val="173344"/>
                </a:solidFill>
              </a:defRPr>
            </a:lvl4pPr>
            <a:lvl5pPr>
              <a:defRPr sz="1275" b="1">
                <a:solidFill>
                  <a:srgbClr val="173344"/>
                </a:solidFill>
              </a:defRPr>
            </a:lvl5pPr>
            <a:lvl6pPr>
              <a:defRPr sz="1275" b="1">
                <a:solidFill>
                  <a:srgbClr val="173344"/>
                </a:solidFill>
              </a:defRPr>
            </a:lvl6pPr>
            <a:lvl7pPr>
              <a:defRPr sz="1275" b="1">
                <a:solidFill>
                  <a:srgbClr val="173344"/>
                </a:solidFill>
              </a:defRPr>
            </a:lvl7pPr>
            <a:lvl8pPr>
              <a:defRPr sz="1275" b="1">
                <a:solidFill>
                  <a:srgbClr val="173344"/>
                </a:solidFill>
              </a:defRPr>
            </a:lvl8pPr>
            <a:lvl9pPr>
              <a:defRPr sz="1275" b="1">
                <a:solidFill>
                  <a:srgbClr val="173344"/>
                </a:solidFill>
              </a:defRPr>
            </a:lvl9pPr>
          </a:lstStyle>
          <a:p xmlns:a="http://schemas.openxmlformats.org/drawingml/2006/main">
            <a:pPr>
              <a:defRPr sz="1275" b="1">
                <a:solidFill>
                  <a:srgbClr val="173344"/>
                </a:solidFill>
              </a:defRPr>
            </a:pPr>
            <a:r>
              <a:rPr sz="1275" b="1">
                <a:solidFill>
                  <a:srgbClr val="173344"/>
                </a:solidFill>
              </a:rPr>
              <a:t>Life expectancy / schooling</a:t>
            </a:r>
          </a:p>
        </p:txBody>
      </p:sp>
      <p:sp>
        <p:nvSpPr>
          <p:cNvPr id="29" name="">
            <a:extLst xmlns:a="http://schemas.openxmlformats.org/drawingml/2006/main">
              <a:ext uri="{FF2B5EF4-FFF2-40B4-BE49-F238E27FC236}">
                <a16:creationId xmlns:a16="http://schemas.microsoft.com/office/drawing/2014/main" id="{F9CE4E48-9A91-4047-BEEB-1085F480C17D}"/>
              </a:ext>
            </a:extLst>
          </p:cNvPr>
          <p:cNvSpPr>
            <a:spLocks xmlns:a="http://schemas.openxmlformats.org/drawingml/2006/main" noGrp="1"/>
          </p:cNvSpPr>
          <p:nvPr/>
        </p:nvSpPr>
        <p:spPr>
          <a:xfrm xmlns:a="http://schemas.openxmlformats.org/drawingml/2006/main">
            <a:off x="3952875" y="5057775"/>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D78"/>
                </a:solidFill>
              </a:defRPr>
            </a:defPPr>
            <a:lvl1pPr>
              <a:defRPr sz="1125" b="0">
                <a:solidFill>
                  <a:srgbClr val="596D78"/>
                </a:solidFill>
              </a:defRPr>
            </a:lvl1pPr>
            <a:lvl2pPr>
              <a:defRPr sz="1125" b="0">
                <a:solidFill>
                  <a:srgbClr val="596D78"/>
                </a:solidFill>
              </a:defRPr>
            </a:lvl2pPr>
            <a:lvl3pPr>
              <a:defRPr sz="1125" b="0">
                <a:solidFill>
                  <a:srgbClr val="596D78"/>
                </a:solidFill>
              </a:defRPr>
            </a:lvl3pPr>
            <a:lvl4pPr>
              <a:defRPr sz="1125" b="0">
                <a:solidFill>
                  <a:srgbClr val="596D78"/>
                </a:solidFill>
              </a:defRPr>
            </a:lvl4pPr>
            <a:lvl5pPr>
              <a:defRPr sz="1125" b="0">
                <a:solidFill>
                  <a:srgbClr val="596D78"/>
                </a:solidFill>
              </a:defRPr>
            </a:lvl5pPr>
            <a:lvl6pPr>
              <a:defRPr sz="1125" b="0">
                <a:solidFill>
                  <a:srgbClr val="596D78"/>
                </a:solidFill>
              </a:defRPr>
            </a:lvl6pPr>
            <a:lvl7pPr>
              <a:defRPr sz="1125" b="0">
                <a:solidFill>
                  <a:srgbClr val="596D78"/>
                </a:solidFill>
              </a:defRPr>
            </a:lvl7pPr>
            <a:lvl8pPr>
              <a:defRPr sz="1125" b="0">
                <a:solidFill>
                  <a:srgbClr val="596D78"/>
                </a:solidFill>
              </a:defRPr>
            </a:lvl8pPr>
            <a:lvl9pPr>
              <a:defRPr sz="1125" b="0">
                <a:solidFill>
                  <a:srgbClr val="596D78"/>
                </a:solidFill>
              </a:defRPr>
            </a:lvl9pPr>
          </a:lstStyle>
          <a:p xmlns:a="http://schemas.openxmlformats.org/drawingml/2006/main">
            <a:pPr>
              <a:defRPr sz="1125" b="0">
                <a:solidFill>
                  <a:srgbClr val="596D78"/>
                </a:solidFill>
              </a:defRPr>
            </a:pPr>
            <a:r>
              <a:rPr sz="1125" b="0">
                <a:solidFill>
                  <a:srgbClr val="596D78"/>
                </a:solidFill>
              </a:rPr>
              <a:t>years</a:t>
            </a:r>
          </a:p>
        </p:txBody>
      </p:sp>
      <p:sp>
        <p:nvSpPr>
          <p:cNvPr id="30" name="">
            <a:extLst xmlns:a="http://schemas.openxmlformats.org/drawingml/2006/main">
              <a:ext uri="{FF2B5EF4-FFF2-40B4-BE49-F238E27FC236}">
                <a16:creationId xmlns:a16="http://schemas.microsoft.com/office/drawing/2014/main" id="{1714D470-E71D-4929-B5AC-11B51583005F}"/>
              </a:ext>
            </a:extLst>
          </p:cNvPr>
          <p:cNvSpPr>
            <a:spLocks xmlns:a="http://schemas.openxmlformats.org/drawingml/2006/main" noGrp="1"/>
          </p:cNvSpPr>
          <p:nvPr/>
        </p:nvSpPr>
        <p:spPr>
          <a:xfrm xmlns:a="http://schemas.openxmlformats.org/drawingml/2006/main">
            <a:off x="6477000" y="505777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68184"/>
                </a:solidFill>
              </a:defRPr>
            </a:defPPr>
            <a:lvl1pPr>
              <a:defRPr sz="1200" b="1">
                <a:solidFill>
                  <a:srgbClr val="168184"/>
                </a:solidFill>
              </a:defRPr>
            </a:lvl1pPr>
            <a:lvl2pPr>
              <a:defRPr sz="1200" b="1">
                <a:solidFill>
                  <a:srgbClr val="168184"/>
                </a:solidFill>
              </a:defRPr>
            </a:lvl2pPr>
            <a:lvl3pPr>
              <a:defRPr sz="1200" b="1">
                <a:solidFill>
                  <a:srgbClr val="168184"/>
                </a:solidFill>
              </a:defRPr>
            </a:lvl3pPr>
            <a:lvl4pPr>
              <a:defRPr sz="1200" b="1">
                <a:solidFill>
                  <a:srgbClr val="168184"/>
                </a:solidFill>
              </a:defRPr>
            </a:lvl4pPr>
            <a:lvl5pPr>
              <a:defRPr sz="1200" b="1">
                <a:solidFill>
                  <a:srgbClr val="168184"/>
                </a:solidFill>
              </a:defRPr>
            </a:lvl5pPr>
            <a:lvl6pPr>
              <a:defRPr sz="1200" b="1">
                <a:solidFill>
                  <a:srgbClr val="168184"/>
                </a:solidFill>
              </a:defRPr>
            </a:lvl6pPr>
            <a:lvl7pPr>
              <a:defRPr sz="1200" b="1">
                <a:solidFill>
                  <a:srgbClr val="168184"/>
                </a:solidFill>
              </a:defRPr>
            </a:lvl7pPr>
            <a:lvl8pPr>
              <a:defRPr sz="1200" b="1">
                <a:solidFill>
                  <a:srgbClr val="168184"/>
                </a:solidFill>
              </a:defRPr>
            </a:lvl8pPr>
            <a:lvl9pPr>
              <a:defRPr sz="1200" b="1">
                <a:solidFill>
                  <a:srgbClr val="168184"/>
                </a:solidFill>
              </a:defRPr>
            </a:lvl9pPr>
          </a:lstStyle>
          <a:p xmlns:a="http://schemas.openxmlformats.org/drawingml/2006/main">
            <a:pPr>
              <a:defRPr sz="1200" b="1">
                <a:solidFill>
                  <a:srgbClr val="168184"/>
                </a:solidFill>
              </a:defRPr>
            </a:pPr>
            <a:r>
              <a:rPr sz="1200" b="1">
                <a:solidFill>
                  <a:srgbClr val="168184"/>
                </a:solidFill>
              </a:rPr>
              <a:t>Negative = worse</a:t>
            </a:r>
          </a:p>
        </p:txBody>
      </p:sp>
      <p:sp>
        <p:nvSpPr>
          <p:cNvPr id="31" name="">
            <a:extLst xmlns:a="http://schemas.openxmlformats.org/drawingml/2006/main">
              <a:ext uri="{FF2B5EF4-FFF2-40B4-BE49-F238E27FC236}">
                <a16:creationId xmlns:a16="http://schemas.microsoft.com/office/drawing/2014/main" id="{C2E80497-43F0-43D7-8DBE-A7370CE693A1}"/>
              </a:ext>
            </a:extLst>
          </p:cNvPr>
          <p:cNvSpPr>
            <a:spLocks xmlns:a="http://schemas.openxmlformats.org/drawingml/2006/main" noGrp="1"/>
          </p:cNvSpPr>
          <p:nvPr/>
        </p:nvSpPr>
        <p:spPr>
          <a:xfrm xmlns:a="http://schemas.openxmlformats.org/drawingml/2006/main">
            <a:off x="723900" y="5467350"/>
            <a:ext cx="10467975" cy="0"/>
          </a:xfrm>
          <a:prstGeom xmlns:a="http://schemas.openxmlformats.org/drawingml/2006/main" prst="line">
            <a:avLst/>
          </a:prstGeom>
          <a:ln xmlns:a="http://schemas.openxmlformats.org/drawingml/2006/main" w="9525">
            <a:solidFill>
              <a:srgbClr val="D9E2E5"/>
            </a:solidFill>
            <a:prstDash val="solid"/>
          </a:ln>
        </p:spPr>
      </p:sp>
    </p:spTree>
    <p:extLst>
      <p:ext uri="{BB962C8B-B14F-4D97-AF65-F5344CB8AC3E}">
        <p14:creationId xmlns:p14="http://schemas.microsoft.com/office/powerpoint/2010/main" val="663442036"/>
      </p:ext>
    </p:extLst>
  </p:cSld>
</p:sld>
</file>

<file path=ppt/slides/slide8.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AB0D2D5-4786-4255-A2C5-B9BE51EDA053}"/>
              </a:ext>
            </a:extLst>
          </p:cNvPr>
          <p:cNvSpPr>
            <a:spLocks xmlns:a="http://schemas.openxmlformats.org/drawingml/2006/main" noGrp="1"/>
          </p:cNvSpPr>
          <p:nvPr/>
        </p:nvSpPr>
        <p:spPr>
          <a:xfrm xmlns:a="http://schemas.openxmlformats.org/drawingml/2006/main">
            <a:off x="647700" y="3238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168184"/>
                </a:solidFill>
              </a:defRPr>
            </a:defPPr>
            <a:lvl1pPr>
              <a:defRPr sz="975" b="1">
                <a:solidFill>
                  <a:srgbClr val="168184"/>
                </a:solidFill>
              </a:defRPr>
            </a:lvl1pPr>
            <a:lvl2pPr>
              <a:defRPr sz="975" b="1">
                <a:solidFill>
                  <a:srgbClr val="168184"/>
                </a:solidFill>
              </a:defRPr>
            </a:lvl2pPr>
            <a:lvl3pPr>
              <a:defRPr sz="975" b="1">
                <a:solidFill>
                  <a:srgbClr val="168184"/>
                </a:solidFill>
              </a:defRPr>
            </a:lvl3pPr>
            <a:lvl4pPr>
              <a:defRPr sz="975" b="1">
                <a:solidFill>
                  <a:srgbClr val="168184"/>
                </a:solidFill>
              </a:defRPr>
            </a:lvl4pPr>
            <a:lvl5pPr>
              <a:defRPr sz="975" b="1">
                <a:solidFill>
                  <a:srgbClr val="168184"/>
                </a:solidFill>
              </a:defRPr>
            </a:lvl5pPr>
            <a:lvl6pPr>
              <a:defRPr sz="975" b="1">
                <a:solidFill>
                  <a:srgbClr val="168184"/>
                </a:solidFill>
              </a:defRPr>
            </a:lvl6pPr>
            <a:lvl7pPr>
              <a:defRPr sz="975" b="1">
                <a:solidFill>
                  <a:srgbClr val="168184"/>
                </a:solidFill>
              </a:defRPr>
            </a:lvl7pPr>
            <a:lvl8pPr>
              <a:defRPr sz="975" b="1">
                <a:solidFill>
                  <a:srgbClr val="168184"/>
                </a:solidFill>
              </a:defRPr>
            </a:lvl8pPr>
            <a:lvl9pPr>
              <a:defRPr sz="975" b="1">
                <a:solidFill>
                  <a:srgbClr val="168184"/>
                </a:solidFill>
              </a:defRPr>
            </a:lvl9pPr>
          </a:lstStyle>
          <a:p xmlns:a="http://schemas.openxmlformats.org/drawingml/2006/main">
            <a:pPr>
              <a:defRPr sz="975" b="1">
                <a:solidFill>
                  <a:srgbClr val="168184"/>
                </a:solidFill>
              </a:defRPr>
            </a:pPr>
            <a:r>
              <a:rPr sz="975" b="1">
                <a:solidFill>
                  <a:srgbClr val="168184"/>
                </a:solidFill>
              </a:rPr>
              <a:t>BRAZIL SCENARIO RESULTS</a:t>
            </a:r>
          </a:p>
        </p:txBody>
      </p:sp>
      <p:sp>
        <p:nvSpPr>
          <p:cNvPr id="2" name="">
            <a:extLst xmlns:a="http://schemas.openxmlformats.org/drawingml/2006/main">
              <a:ext uri="{FF2B5EF4-FFF2-40B4-BE49-F238E27FC236}">
                <a16:creationId xmlns:a16="http://schemas.microsoft.com/office/drawing/2014/main" id="{C01A5AF0-B77A-4D7F-ACFB-931077BD26DA}"/>
              </a:ext>
            </a:extLst>
          </p:cNvPr>
          <p:cNvSpPr>
            <a:spLocks xmlns:a="http://schemas.openxmlformats.org/drawingml/2006/main" noGrp="1"/>
          </p:cNvSpPr>
          <p:nvPr/>
        </p:nvSpPr>
        <p:spPr>
          <a:xfrm xmlns:a="http://schemas.openxmlformats.org/drawingml/2006/main">
            <a:off x="647700" y="6286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173344"/>
                </a:solidFill>
              </a:defRPr>
            </a:defPPr>
            <a:lvl1pPr>
              <a:defRPr sz="2550" b="1">
                <a:solidFill>
                  <a:srgbClr val="173344"/>
                </a:solidFill>
              </a:defRPr>
            </a:lvl1pPr>
            <a:lvl2pPr>
              <a:defRPr sz="2550" b="1">
                <a:solidFill>
                  <a:srgbClr val="173344"/>
                </a:solidFill>
              </a:defRPr>
            </a:lvl2pPr>
            <a:lvl3pPr>
              <a:defRPr sz="2550" b="1">
                <a:solidFill>
                  <a:srgbClr val="173344"/>
                </a:solidFill>
              </a:defRPr>
            </a:lvl3pPr>
            <a:lvl4pPr>
              <a:defRPr sz="2550" b="1">
                <a:solidFill>
                  <a:srgbClr val="173344"/>
                </a:solidFill>
              </a:defRPr>
            </a:lvl4pPr>
            <a:lvl5pPr>
              <a:defRPr sz="2550" b="1">
                <a:solidFill>
                  <a:srgbClr val="173344"/>
                </a:solidFill>
              </a:defRPr>
            </a:lvl5pPr>
            <a:lvl6pPr>
              <a:defRPr sz="2550" b="1">
                <a:solidFill>
                  <a:srgbClr val="173344"/>
                </a:solidFill>
              </a:defRPr>
            </a:lvl6pPr>
            <a:lvl7pPr>
              <a:defRPr sz="2550" b="1">
                <a:solidFill>
                  <a:srgbClr val="173344"/>
                </a:solidFill>
              </a:defRPr>
            </a:lvl7pPr>
            <a:lvl8pPr>
              <a:defRPr sz="2550" b="1">
                <a:solidFill>
                  <a:srgbClr val="173344"/>
                </a:solidFill>
              </a:defRPr>
            </a:lvl8pPr>
            <a:lvl9pPr>
              <a:defRPr sz="2550" b="1">
                <a:solidFill>
                  <a:srgbClr val="173344"/>
                </a:solidFill>
              </a:defRPr>
            </a:lvl9pPr>
          </a:lstStyle>
          <a:p xmlns:a="http://schemas.openxmlformats.org/drawingml/2006/main">
            <a:pPr>
              <a:defRPr sz="2550" b="1">
                <a:solidFill>
                  <a:srgbClr val="173344"/>
                </a:solidFill>
              </a:defRPr>
            </a:pPr>
            <a:r>
              <a:rPr sz="2550" b="1">
                <a:solidFill>
                  <a:srgbClr val="173344"/>
                </a:solidFill>
              </a:rPr>
              <a:t>The bars show parameter uncertainty—not forecast error</a:t>
            </a:r>
          </a:p>
        </p:txBody>
      </p:sp>
      <p:sp>
        <p:nvSpPr>
          <p:cNvPr id="3" name="">
            <a:extLst xmlns:a="http://schemas.openxmlformats.org/drawingml/2006/main">
              <a:ext uri="{FF2B5EF4-FFF2-40B4-BE49-F238E27FC236}">
                <a16:creationId xmlns:a16="http://schemas.microsoft.com/office/drawing/2014/main" id="{525DFDEC-2A7B-4A85-B3C2-49F64616008C}"/>
              </a:ext>
            </a:extLst>
          </p:cNvPr>
          <p:cNvSpPr>
            <a:spLocks xmlns:a="http://schemas.openxmlformats.org/drawingml/2006/main" noGrp="1"/>
          </p:cNvSpPr>
          <p:nvPr/>
        </p:nvSpPr>
        <p:spPr>
          <a:xfrm xmlns:a="http://schemas.openxmlformats.org/drawingml/2006/main">
            <a:off x="647700" y="6477000"/>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0">
                <a:solidFill>
                  <a:srgbClr val="596D78"/>
                </a:solidFill>
              </a:defRPr>
            </a:defPPr>
            <a:lvl1pPr>
              <a:defRPr sz="900" b="0">
                <a:solidFill>
                  <a:srgbClr val="596D78"/>
                </a:solidFill>
              </a:defRPr>
            </a:lvl1pPr>
            <a:lvl2pPr>
              <a:defRPr sz="900" b="0">
                <a:solidFill>
                  <a:srgbClr val="596D78"/>
                </a:solidFill>
              </a:defRPr>
            </a:lvl2pPr>
            <a:lvl3pPr>
              <a:defRPr sz="900" b="0">
                <a:solidFill>
                  <a:srgbClr val="596D78"/>
                </a:solidFill>
              </a:defRPr>
            </a:lvl3pPr>
            <a:lvl4pPr>
              <a:defRPr sz="900" b="0">
                <a:solidFill>
                  <a:srgbClr val="596D78"/>
                </a:solidFill>
              </a:defRPr>
            </a:lvl4pPr>
            <a:lvl5pPr>
              <a:defRPr sz="900" b="0">
                <a:solidFill>
                  <a:srgbClr val="596D78"/>
                </a:solidFill>
              </a:defRPr>
            </a:lvl5pPr>
            <a:lvl6pPr>
              <a:defRPr sz="900" b="0">
                <a:solidFill>
                  <a:srgbClr val="596D78"/>
                </a:solidFill>
              </a:defRPr>
            </a:lvl6pPr>
            <a:lvl7pPr>
              <a:defRPr sz="900" b="0">
                <a:solidFill>
                  <a:srgbClr val="596D78"/>
                </a:solidFill>
              </a:defRPr>
            </a:lvl7pPr>
            <a:lvl8pPr>
              <a:defRPr sz="900" b="0">
                <a:solidFill>
                  <a:srgbClr val="596D78"/>
                </a:solidFill>
              </a:defRPr>
            </a:lvl8pPr>
            <a:lvl9pPr>
              <a:defRPr sz="900" b="0">
                <a:solidFill>
                  <a:srgbClr val="596D78"/>
                </a:solidFill>
              </a:defRPr>
            </a:lvl9pPr>
          </a:lstStyle>
          <a:p xmlns:a="http://schemas.openxmlformats.org/drawingml/2006/main">
            <a:pPr>
              <a:defRPr sz="900" b="0">
                <a:solidFill>
                  <a:srgbClr val="596D78"/>
                </a:solidFill>
              </a:defRPr>
            </a:pPr>
            <a:r>
              <a:rPr sz="900" b="0">
                <a:solidFill>
                  <a:srgbClr val="596D78"/>
                </a:solidFill>
              </a:rPr>
              <a:t>Internal review · D2 validation gate FAIL · 21 Oct 2026</a:t>
            </a:r>
          </a:p>
        </p:txBody>
      </p:sp>
      <p:sp>
        <p:nvSpPr>
          <p:cNvPr id="4" name="">
            <a:extLst xmlns:a="http://schemas.openxmlformats.org/drawingml/2006/main">
              <a:ext uri="{FF2B5EF4-FFF2-40B4-BE49-F238E27FC236}">
                <a16:creationId xmlns:a16="http://schemas.microsoft.com/office/drawing/2014/main" id="{0C30CF82-870D-49FA-8E47-1E79C56B8CC7}"/>
              </a:ext>
            </a:extLst>
          </p:cNvPr>
          <p:cNvSpPr>
            <a:spLocks xmlns:a="http://schemas.openxmlformats.org/drawingml/2006/main" noGrp="1"/>
          </p:cNvSpPr>
          <p:nvPr/>
        </p:nvSpPr>
        <p:spPr>
          <a:xfrm xmlns:a="http://schemas.openxmlformats.org/drawingml/2006/main">
            <a:off x="666750" y="1476375"/>
            <a:ext cx="4953000" cy="1762125"/>
          </a:xfrm>
          <a:prstGeom xmlns:a="http://schemas.openxmlformats.org/drawingml/2006/main" prst="roundRect">
            <a:avLst>
              <a:gd name="adj" fmla="val 6486"/>
            </a:avLst>
          </a:prstGeom>
          <a:solidFill xmlns:a="http://schemas.openxmlformats.org/drawingml/2006/main">
            <a:srgbClr val="FFFFFF"/>
          </a:solidFill>
          <a:ln xmlns:a="http://schemas.openxmlformats.org/drawingml/2006/main" w="9525">
            <a:solidFill>
              <a:srgbClr val="D9E2E5"/>
            </a:solidFill>
            <a:prstDash val="solid"/>
          </a:ln>
        </p:spPr>
      </p:sp>
      <p:sp>
        <p:nvSpPr>
          <p:cNvPr id="5" name="">
            <a:extLst xmlns:a="http://schemas.openxmlformats.org/drawingml/2006/main">
              <a:ext uri="{FF2B5EF4-FFF2-40B4-BE49-F238E27FC236}">
                <a16:creationId xmlns:a16="http://schemas.microsoft.com/office/drawing/2014/main" id="{EFD7E338-1A13-4D56-A1D7-BEECD2737B31}"/>
              </a:ext>
            </a:extLst>
          </p:cNvPr>
          <p:cNvSpPr>
            <a:spLocks xmlns:a="http://schemas.openxmlformats.org/drawingml/2006/main" noGrp="1"/>
          </p:cNvSpPr>
          <p:nvPr/>
        </p:nvSpPr>
        <p:spPr>
          <a:xfrm xmlns:a="http://schemas.openxmlformats.org/drawingml/2006/main">
            <a:off x="666750" y="1476375"/>
            <a:ext cx="57150" cy="1762125"/>
          </a:xfrm>
          <a:prstGeom xmlns:a="http://schemas.openxmlformats.org/drawingml/2006/main" prst="rect">
            <a:avLst/>
          </a:prstGeom>
          <a:solidFill xmlns:a="http://schemas.openxmlformats.org/drawingml/2006/main">
            <a:srgbClr val="16818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D4CC7C2-3A0A-4FAC-A523-10A71CE29597}"/>
              </a:ext>
            </a:extLst>
          </p:cNvPr>
          <p:cNvSpPr>
            <a:spLocks xmlns:a="http://schemas.openxmlformats.org/drawingml/2006/main" noGrp="1"/>
          </p:cNvSpPr>
          <p:nvPr/>
        </p:nvSpPr>
        <p:spPr>
          <a:xfrm xmlns:a="http://schemas.openxmlformats.org/drawingml/2006/main">
            <a:off x="876300" y="1647825"/>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173344"/>
                </a:solidFill>
              </a:defRPr>
            </a:defPPr>
            <a:lvl1pPr>
              <a:defRPr sz="1425" b="1">
                <a:solidFill>
                  <a:srgbClr val="173344"/>
                </a:solidFill>
              </a:defRPr>
            </a:lvl1pPr>
            <a:lvl2pPr>
              <a:defRPr sz="1425" b="1">
                <a:solidFill>
                  <a:srgbClr val="173344"/>
                </a:solidFill>
              </a:defRPr>
            </a:lvl2pPr>
            <a:lvl3pPr>
              <a:defRPr sz="1425" b="1">
                <a:solidFill>
                  <a:srgbClr val="173344"/>
                </a:solidFill>
              </a:defRPr>
            </a:lvl3pPr>
            <a:lvl4pPr>
              <a:defRPr sz="1425" b="1">
                <a:solidFill>
                  <a:srgbClr val="173344"/>
                </a:solidFill>
              </a:defRPr>
            </a:lvl4pPr>
            <a:lvl5pPr>
              <a:defRPr sz="1425" b="1">
                <a:solidFill>
                  <a:srgbClr val="173344"/>
                </a:solidFill>
              </a:defRPr>
            </a:lvl5pPr>
            <a:lvl6pPr>
              <a:defRPr sz="1425" b="1">
                <a:solidFill>
                  <a:srgbClr val="173344"/>
                </a:solidFill>
              </a:defRPr>
            </a:lvl6pPr>
            <a:lvl7pPr>
              <a:defRPr sz="1425" b="1">
                <a:solidFill>
                  <a:srgbClr val="173344"/>
                </a:solidFill>
              </a:defRPr>
            </a:lvl7pPr>
            <a:lvl8pPr>
              <a:defRPr sz="1425" b="1">
                <a:solidFill>
                  <a:srgbClr val="173344"/>
                </a:solidFill>
              </a:defRPr>
            </a:lvl8pPr>
            <a:lvl9pPr>
              <a:defRPr sz="1425" b="1">
                <a:solidFill>
                  <a:srgbClr val="173344"/>
                </a:solidFill>
              </a:defRPr>
            </a:lvl9pPr>
          </a:lstStyle>
          <a:p xmlns:a="http://schemas.openxmlformats.org/drawingml/2006/main">
            <a:pPr>
              <a:defRPr sz="1425" b="1">
                <a:solidFill>
                  <a:srgbClr val="173344"/>
                </a:solidFill>
              </a:defRPr>
            </a:pPr>
            <a:r>
              <a:rPr sz="1425" b="1">
                <a:solidFill>
                  <a:srgbClr val="173344"/>
                </a:solidFill>
              </a:rPr>
              <a:t>p50 · median</a:t>
            </a:r>
          </a:p>
        </p:txBody>
      </p:sp>
      <p:sp>
        <p:nvSpPr>
          <p:cNvPr id="7" name="">
            <a:extLst xmlns:a="http://schemas.openxmlformats.org/drawingml/2006/main">
              <a:ext uri="{FF2B5EF4-FFF2-40B4-BE49-F238E27FC236}">
                <a16:creationId xmlns:a16="http://schemas.microsoft.com/office/drawing/2014/main" id="{F22AFBDB-0086-40EA-9866-2CE7FCFAF15A}"/>
              </a:ext>
            </a:extLst>
          </p:cNvPr>
          <p:cNvSpPr>
            <a:spLocks xmlns:a="http://schemas.openxmlformats.org/drawingml/2006/main" noGrp="1"/>
          </p:cNvSpPr>
          <p:nvPr/>
        </p:nvSpPr>
        <p:spPr>
          <a:xfrm xmlns:a="http://schemas.openxmlformats.org/drawingml/2006/main">
            <a:off x="876300" y="2066925"/>
            <a:ext cx="45339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96D78"/>
                </a:solidFill>
              </a:defRPr>
            </a:defPPr>
            <a:lvl1pPr>
              <a:defRPr sz="1200" b="0">
                <a:solidFill>
                  <a:srgbClr val="596D78"/>
                </a:solidFill>
              </a:defRPr>
            </a:lvl1pPr>
            <a:lvl2pPr>
              <a:defRPr sz="1200" b="0">
                <a:solidFill>
                  <a:srgbClr val="596D78"/>
                </a:solidFill>
              </a:defRPr>
            </a:lvl2pPr>
            <a:lvl3pPr>
              <a:defRPr sz="1200" b="0">
                <a:solidFill>
                  <a:srgbClr val="596D78"/>
                </a:solidFill>
              </a:defRPr>
            </a:lvl3pPr>
            <a:lvl4pPr>
              <a:defRPr sz="1200" b="0">
                <a:solidFill>
                  <a:srgbClr val="596D78"/>
                </a:solidFill>
              </a:defRPr>
            </a:lvl4pPr>
            <a:lvl5pPr>
              <a:defRPr sz="1200" b="0">
                <a:solidFill>
                  <a:srgbClr val="596D78"/>
                </a:solidFill>
              </a:defRPr>
            </a:lvl5pPr>
            <a:lvl6pPr>
              <a:defRPr sz="1200" b="0">
                <a:solidFill>
                  <a:srgbClr val="596D78"/>
                </a:solidFill>
              </a:defRPr>
            </a:lvl6pPr>
            <a:lvl7pPr>
              <a:defRPr sz="1200" b="0">
                <a:solidFill>
                  <a:srgbClr val="596D78"/>
                </a:solidFill>
              </a:defRPr>
            </a:lvl7pPr>
            <a:lvl8pPr>
              <a:defRPr sz="1200" b="0">
                <a:solidFill>
                  <a:srgbClr val="596D78"/>
                </a:solidFill>
              </a:defRPr>
            </a:lvl8pPr>
            <a:lvl9pPr>
              <a:defRPr sz="1200" b="0">
                <a:solidFill>
                  <a:srgbClr val="596D78"/>
                </a:solidFill>
              </a:defRPr>
            </a:lvl9pPr>
          </a:lstStyle>
          <a:p xmlns:a="http://schemas.openxmlformats.org/drawingml/2006/main">
            <a:pPr>
              <a:defRPr sz="1200" b="0">
                <a:solidFill>
                  <a:srgbClr val="596D78"/>
                </a:solidFill>
              </a:defRPr>
            </a:pPr>
            <a:r>
              <a:rPr sz="1200" b="0">
                <a:solidFill>
                  <a:srgbClr val="596D78"/>
                </a:solidFill>
              </a:rPr>
              <a:t>Middle result across the 1,000 model draws. It is a summary of modeled parameter variation, not “the most likely future.”</a:t>
            </a:r>
          </a:p>
        </p:txBody>
      </p:sp>
      <p:sp>
        <p:nvSpPr>
          <p:cNvPr id="8" name="">
            <a:extLst xmlns:a="http://schemas.openxmlformats.org/drawingml/2006/main">
              <a:ext uri="{FF2B5EF4-FFF2-40B4-BE49-F238E27FC236}">
                <a16:creationId xmlns:a16="http://schemas.microsoft.com/office/drawing/2014/main" id="{7708A76E-8541-4B05-9119-24819D652A5A}"/>
              </a:ext>
            </a:extLst>
          </p:cNvPr>
          <p:cNvSpPr>
            <a:spLocks xmlns:a="http://schemas.openxmlformats.org/drawingml/2006/main" noGrp="1"/>
          </p:cNvSpPr>
          <p:nvPr/>
        </p:nvSpPr>
        <p:spPr>
          <a:xfrm xmlns:a="http://schemas.openxmlformats.org/drawingml/2006/main">
            <a:off x="6048375" y="1476375"/>
            <a:ext cx="4953000" cy="1762125"/>
          </a:xfrm>
          <a:prstGeom xmlns:a="http://schemas.openxmlformats.org/drawingml/2006/main" prst="roundRect">
            <a:avLst>
              <a:gd name="adj" fmla="val 6486"/>
            </a:avLst>
          </a:prstGeom>
          <a:solidFill xmlns:a="http://schemas.openxmlformats.org/drawingml/2006/main">
            <a:srgbClr val="FFFFFF"/>
          </a:solidFill>
          <a:ln xmlns:a="http://schemas.openxmlformats.org/drawingml/2006/main" w="9525">
            <a:solidFill>
              <a:srgbClr val="D9E2E5"/>
            </a:solidFill>
            <a:prstDash val="solid"/>
          </a:ln>
        </p:spPr>
      </p:sp>
      <p:sp>
        <p:nvSpPr>
          <p:cNvPr id="9" name="">
            <a:extLst xmlns:a="http://schemas.openxmlformats.org/drawingml/2006/main">
              <a:ext uri="{FF2B5EF4-FFF2-40B4-BE49-F238E27FC236}">
                <a16:creationId xmlns:a16="http://schemas.microsoft.com/office/drawing/2014/main" id="{146E0FF8-1B7A-422C-8023-A9BF230F73F6}"/>
              </a:ext>
            </a:extLst>
          </p:cNvPr>
          <p:cNvSpPr>
            <a:spLocks xmlns:a="http://schemas.openxmlformats.org/drawingml/2006/main" noGrp="1"/>
          </p:cNvSpPr>
          <p:nvPr/>
        </p:nvSpPr>
        <p:spPr>
          <a:xfrm xmlns:a="http://schemas.openxmlformats.org/drawingml/2006/main">
            <a:off x="6048375" y="1476375"/>
            <a:ext cx="57150" cy="1762125"/>
          </a:xfrm>
          <a:prstGeom xmlns:a="http://schemas.openxmlformats.org/drawingml/2006/main" prst="rect">
            <a:avLst/>
          </a:prstGeom>
          <a:solidFill xmlns:a="http://schemas.openxmlformats.org/drawingml/2006/main">
            <a:srgbClr val="C1943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2A239DD-D117-4311-943A-5BAAD46EC8D2}"/>
              </a:ext>
            </a:extLst>
          </p:cNvPr>
          <p:cNvSpPr>
            <a:spLocks xmlns:a="http://schemas.openxmlformats.org/drawingml/2006/main" noGrp="1"/>
          </p:cNvSpPr>
          <p:nvPr/>
        </p:nvSpPr>
        <p:spPr>
          <a:xfrm xmlns:a="http://schemas.openxmlformats.org/drawingml/2006/main">
            <a:off x="6257925" y="1647825"/>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173344"/>
                </a:solidFill>
              </a:defRPr>
            </a:defPPr>
            <a:lvl1pPr>
              <a:defRPr sz="1425" b="1">
                <a:solidFill>
                  <a:srgbClr val="173344"/>
                </a:solidFill>
              </a:defRPr>
            </a:lvl1pPr>
            <a:lvl2pPr>
              <a:defRPr sz="1425" b="1">
                <a:solidFill>
                  <a:srgbClr val="173344"/>
                </a:solidFill>
              </a:defRPr>
            </a:lvl2pPr>
            <a:lvl3pPr>
              <a:defRPr sz="1425" b="1">
                <a:solidFill>
                  <a:srgbClr val="173344"/>
                </a:solidFill>
              </a:defRPr>
            </a:lvl3pPr>
            <a:lvl4pPr>
              <a:defRPr sz="1425" b="1">
                <a:solidFill>
                  <a:srgbClr val="173344"/>
                </a:solidFill>
              </a:defRPr>
            </a:lvl4pPr>
            <a:lvl5pPr>
              <a:defRPr sz="1425" b="1">
                <a:solidFill>
                  <a:srgbClr val="173344"/>
                </a:solidFill>
              </a:defRPr>
            </a:lvl5pPr>
            <a:lvl6pPr>
              <a:defRPr sz="1425" b="1">
                <a:solidFill>
                  <a:srgbClr val="173344"/>
                </a:solidFill>
              </a:defRPr>
            </a:lvl6pPr>
            <a:lvl7pPr>
              <a:defRPr sz="1425" b="1">
                <a:solidFill>
                  <a:srgbClr val="173344"/>
                </a:solidFill>
              </a:defRPr>
            </a:lvl7pPr>
            <a:lvl8pPr>
              <a:defRPr sz="1425" b="1">
                <a:solidFill>
                  <a:srgbClr val="173344"/>
                </a:solidFill>
              </a:defRPr>
            </a:lvl8pPr>
            <a:lvl9pPr>
              <a:defRPr sz="1425" b="1">
                <a:solidFill>
                  <a:srgbClr val="173344"/>
                </a:solidFill>
              </a:defRPr>
            </a:lvl9pPr>
          </a:lstStyle>
          <a:p xmlns:a="http://schemas.openxmlformats.org/drawingml/2006/main">
            <a:pPr>
              <a:defRPr sz="1425" b="1">
                <a:solidFill>
                  <a:srgbClr val="173344"/>
                </a:solidFill>
              </a:defRPr>
            </a:pPr>
            <a:r>
              <a:rPr sz="1425" b="1">
                <a:solidFill>
                  <a:srgbClr val="173344"/>
                </a:solidFill>
              </a:rPr>
              <a:t>p10 to p90 · central 80% range</a:t>
            </a:r>
          </a:p>
        </p:txBody>
      </p:sp>
      <p:sp>
        <p:nvSpPr>
          <p:cNvPr id="11" name="">
            <a:extLst xmlns:a="http://schemas.openxmlformats.org/drawingml/2006/main">
              <a:ext uri="{FF2B5EF4-FFF2-40B4-BE49-F238E27FC236}">
                <a16:creationId xmlns:a16="http://schemas.microsoft.com/office/drawing/2014/main" id="{7F1A46A8-76FA-49D2-AB29-23AD227A5420}"/>
              </a:ext>
            </a:extLst>
          </p:cNvPr>
          <p:cNvSpPr>
            <a:spLocks xmlns:a="http://schemas.openxmlformats.org/drawingml/2006/main" noGrp="1"/>
          </p:cNvSpPr>
          <p:nvPr/>
        </p:nvSpPr>
        <p:spPr>
          <a:xfrm xmlns:a="http://schemas.openxmlformats.org/drawingml/2006/main">
            <a:off x="6257925" y="2066925"/>
            <a:ext cx="45339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96D78"/>
                </a:solidFill>
              </a:defRPr>
            </a:defPPr>
            <a:lvl1pPr>
              <a:defRPr sz="1200" b="0">
                <a:solidFill>
                  <a:srgbClr val="596D78"/>
                </a:solidFill>
              </a:defRPr>
            </a:lvl1pPr>
            <a:lvl2pPr>
              <a:defRPr sz="1200" b="0">
                <a:solidFill>
                  <a:srgbClr val="596D78"/>
                </a:solidFill>
              </a:defRPr>
            </a:lvl2pPr>
            <a:lvl3pPr>
              <a:defRPr sz="1200" b="0">
                <a:solidFill>
                  <a:srgbClr val="596D78"/>
                </a:solidFill>
              </a:defRPr>
            </a:lvl3pPr>
            <a:lvl4pPr>
              <a:defRPr sz="1200" b="0">
                <a:solidFill>
                  <a:srgbClr val="596D78"/>
                </a:solidFill>
              </a:defRPr>
            </a:lvl4pPr>
            <a:lvl5pPr>
              <a:defRPr sz="1200" b="0">
                <a:solidFill>
                  <a:srgbClr val="596D78"/>
                </a:solidFill>
              </a:defRPr>
            </a:lvl5pPr>
            <a:lvl6pPr>
              <a:defRPr sz="1200" b="0">
                <a:solidFill>
                  <a:srgbClr val="596D78"/>
                </a:solidFill>
              </a:defRPr>
            </a:lvl6pPr>
            <a:lvl7pPr>
              <a:defRPr sz="1200" b="0">
                <a:solidFill>
                  <a:srgbClr val="596D78"/>
                </a:solidFill>
              </a:defRPr>
            </a:lvl7pPr>
            <a:lvl8pPr>
              <a:defRPr sz="1200" b="0">
                <a:solidFill>
                  <a:srgbClr val="596D78"/>
                </a:solidFill>
              </a:defRPr>
            </a:lvl8pPr>
            <a:lvl9pPr>
              <a:defRPr sz="1200" b="0">
                <a:solidFill>
                  <a:srgbClr val="596D78"/>
                </a:solidFill>
              </a:defRPr>
            </a:lvl9pPr>
          </a:lstStyle>
          <a:p xmlns:a="http://schemas.openxmlformats.org/drawingml/2006/main">
            <a:pPr>
              <a:defRPr sz="1200" b="0">
                <a:solidFill>
                  <a:srgbClr val="596D78"/>
                </a:solidFill>
              </a:defRPr>
            </a:pPr>
            <a:r>
              <a:rPr sz="1200" b="0">
                <a:solidFill>
                  <a:srgbClr val="596D78"/>
                </a:solidFill>
              </a:rPr>
              <a:t>The 10th and 90th percentiles of the output distribution generated by sampled parameters.</a:t>
            </a:r>
          </a:p>
        </p:txBody>
      </p:sp>
      <p:sp>
        <p:nvSpPr>
          <p:cNvPr id="12" name="">
            <a:extLst xmlns:a="http://schemas.openxmlformats.org/drawingml/2006/main">
              <a:ext uri="{FF2B5EF4-FFF2-40B4-BE49-F238E27FC236}">
                <a16:creationId xmlns:a16="http://schemas.microsoft.com/office/drawing/2014/main" id="{99E7E1BA-6EDF-47A3-B25B-0F9514547577}"/>
              </a:ext>
            </a:extLst>
          </p:cNvPr>
          <p:cNvSpPr>
            <a:spLocks xmlns:a="http://schemas.openxmlformats.org/drawingml/2006/main" noGrp="1"/>
          </p:cNvSpPr>
          <p:nvPr/>
        </p:nvSpPr>
        <p:spPr>
          <a:xfrm xmlns:a="http://schemas.openxmlformats.org/drawingml/2006/main">
            <a:off x="666750" y="3619500"/>
            <a:ext cx="10334625" cy="1952625"/>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9525">
            <a:solidFill>
              <a:srgbClr val="D9E2E5"/>
            </a:solidFill>
            <a:prstDash val="solid"/>
          </a:ln>
        </p:spPr>
      </p:sp>
      <p:sp>
        <p:nvSpPr>
          <p:cNvPr id="13" name="">
            <a:extLst xmlns:a="http://schemas.openxmlformats.org/drawingml/2006/main">
              <a:ext uri="{FF2B5EF4-FFF2-40B4-BE49-F238E27FC236}">
                <a16:creationId xmlns:a16="http://schemas.microsoft.com/office/drawing/2014/main" id="{EF4C6341-00EA-47DF-88F3-F0774BAF409A}"/>
              </a:ext>
            </a:extLst>
          </p:cNvPr>
          <p:cNvSpPr>
            <a:spLocks xmlns:a="http://schemas.openxmlformats.org/drawingml/2006/main" noGrp="1"/>
          </p:cNvSpPr>
          <p:nvPr/>
        </p:nvSpPr>
        <p:spPr>
          <a:xfrm xmlns:a="http://schemas.openxmlformats.org/drawingml/2006/main">
            <a:off x="666750" y="3619500"/>
            <a:ext cx="57150" cy="1952625"/>
          </a:xfrm>
          <a:prstGeom xmlns:a="http://schemas.openxmlformats.org/drawingml/2006/main" prst="rect">
            <a:avLst/>
          </a:prstGeom>
          <a:solidFill xmlns:a="http://schemas.openxmlformats.org/drawingml/2006/main">
            <a:srgbClr val="BD5B4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B0A811D-BB8B-4134-99ED-EC2F55969B36}"/>
              </a:ext>
            </a:extLst>
          </p:cNvPr>
          <p:cNvSpPr>
            <a:spLocks xmlns:a="http://schemas.openxmlformats.org/drawingml/2006/main" noGrp="1"/>
          </p:cNvSpPr>
          <p:nvPr/>
        </p:nvSpPr>
        <p:spPr>
          <a:xfrm xmlns:a="http://schemas.openxmlformats.org/drawingml/2006/main">
            <a:off x="876300" y="3790950"/>
            <a:ext cx="99155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173344"/>
                </a:solidFill>
              </a:defRPr>
            </a:defPPr>
            <a:lvl1pPr>
              <a:defRPr sz="1425" b="1">
                <a:solidFill>
                  <a:srgbClr val="173344"/>
                </a:solidFill>
              </a:defRPr>
            </a:lvl1pPr>
            <a:lvl2pPr>
              <a:defRPr sz="1425" b="1">
                <a:solidFill>
                  <a:srgbClr val="173344"/>
                </a:solidFill>
              </a:defRPr>
            </a:lvl2pPr>
            <a:lvl3pPr>
              <a:defRPr sz="1425" b="1">
                <a:solidFill>
                  <a:srgbClr val="173344"/>
                </a:solidFill>
              </a:defRPr>
            </a:lvl3pPr>
            <a:lvl4pPr>
              <a:defRPr sz="1425" b="1">
                <a:solidFill>
                  <a:srgbClr val="173344"/>
                </a:solidFill>
              </a:defRPr>
            </a:lvl4pPr>
            <a:lvl5pPr>
              <a:defRPr sz="1425" b="1">
                <a:solidFill>
                  <a:srgbClr val="173344"/>
                </a:solidFill>
              </a:defRPr>
            </a:lvl5pPr>
            <a:lvl6pPr>
              <a:defRPr sz="1425" b="1">
                <a:solidFill>
                  <a:srgbClr val="173344"/>
                </a:solidFill>
              </a:defRPr>
            </a:lvl6pPr>
            <a:lvl7pPr>
              <a:defRPr sz="1425" b="1">
                <a:solidFill>
                  <a:srgbClr val="173344"/>
                </a:solidFill>
              </a:defRPr>
            </a:lvl7pPr>
            <a:lvl8pPr>
              <a:defRPr sz="1425" b="1">
                <a:solidFill>
                  <a:srgbClr val="173344"/>
                </a:solidFill>
              </a:defRPr>
            </a:lvl8pPr>
            <a:lvl9pPr>
              <a:defRPr sz="1425" b="1">
                <a:solidFill>
                  <a:srgbClr val="173344"/>
                </a:solidFill>
              </a:defRPr>
            </a:lvl9pPr>
          </a:lstStyle>
          <a:p xmlns:a="http://schemas.openxmlformats.org/drawingml/2006/main">
            <a:pPr>
              <a:defRPr sz="1425" b="1">
                <a:solidFill>
                  <a:srgbClr val="173344"/>
                </a:solidFill>
              </a:defRPr>
            </a:pPr>
            <a:r>
              <a:rPr sz="1425" b="1">
                <a:solidFill>
                  <a:srgbClr val="173344"/>
                </a:solidFill>
              </a:rPr>
              <a:t>What is left outside these ranges</a:t>
            </a:r>
          </a:p>
        </p:txBody>
      </p:sp>
      <p:sp>
        <p:nvSpPr>
          <p:cNvPr id="15" name="">
            <a:extLst xmlns:a="http://schemas.openxmlformats.org/drawingml/2006/main">
              <a:ext uri="{FF2B5EF4-FFF2-40B4-BE49-F238E27FC236}">
                <a16:creationId xmlns:a16="http://schemas.microsoft.com/office/drawing/2014/main" id="{5254E453-B5EC-449B-8584-34DEEAADF3E3}"/>
              </a:ext>
            </a:extLst>
          </p:cNvPr>
          <p:cNvSpPr>
            <a:spLocks xmlns:a="http://schemas.openxmlformats.org/drawingml/2006/main" noGrp="1"/>
          </p:cNvSpPr>
          <p:nvPr/>
        </p:nvSpPr>
        <p:spPr>
          <a:xfrm xmlns:a="http://schemas.openxmlformats.org/drawingml/2006/main">
            <a:off x="876300" y="4210050"/>
            <a:ext cx="9915525" cy="1247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96D78"/>
                </a:solidFill>
              </a:defRPr>
            </a:defPPr>
            <a:lvl1pPr>
              <a:defRPr sz="1200" b="0">
                <a:solidFill>
                  <a:srgbClr val="596D78"/>
                </a:solidFill>
              </a:defRPr>
            </a:lvl1pPr>
            <a:lvl2pPr>
              <a:defRPr sz="1200" b="0">
                <a:solidFill>
                  <a:srgbClr val="596D78"/>
                </a:solidFill>
              </a:defRPr>
            </a:lvl2pPr>
            <a:lvl3pPr>
              <a:defRPr sz="1200" b="0">
                <a:solidFill>
                  <a:srgbClr val="596D78"/>
                </a:solidFill>
              </a:defRPr>
            </a:lvl3pPr>
            <a:lvl4pPr>
              <a:defRPr sz="1200" b="0">
                <a:solidFill>
                  <a:srgbClr val="596D78"/>
                </a:solidFill>
              </a:defRPr>
            </a:lvl4pPr>
            <a:lvl5pPr>
              <a:defRPr sz="1200" b="0">
                <a:solidFill>
                  <a:srgbClr val="596D78"/>
                </a:solidFill>
              </a:defRPr>
            </a:lvl5pPr>
            <a:lvl6pPr>
              <a:defRPr sz="1200" b="0">
                <a:solidFill>
                  <a:srgbClr val="596D78"/>
                </a:solidFill>
              </a:defRPr>
            </a:lvl6pPr>
            <a:lvl7pPr>
              <a:defRPr sz="1200" b="0">
                <a:solidFill>
                  <a:srgbClr val="596D78"/>
                </a:solidFill>
              </a:defRPr>
            </a:lvl7pPr>
            <a:lvl8pPr>
              <a:defRPr sz="1200" b="0">
                <a:solidFill>
                  <a:srgbClr val="596D78"/>
                </a:solidFill>
              </a:defRPr>
            </a:lvl8pPr>
            <a:lvl9pPr>
              <a:defRPr sz="1200" b="0">
                <a:solidFill>
                  <a:srgbClr val="596D78"/>
                </a:solidFill>
              </a:defRPr>
            </a:lvl9pPr>
          </a:lstStyle>
          <a:p xmlns:a="http://schemas.openxmlformats.org/drawingml/2006/main">
            <a:pPr>
              <a:defRPr sz="1200" b="0">
                <a:solidFill>
                  <a:srgbClr val="596D78"/>
                </a:solidFill>
              </a:defRPr>
            </a:pPr>
            <a:r>
              <a:rPr sz="1200" b="0">
                <a:solidFill>
                  <a:srgbClr val="596D78"/>
                </a:solidFill>
              </a:rPr>
              <a:t>No sourced correlations are applied between sampled parameters; triangular distributions are modeling choices; persistence is shown as separate transitory/persistent settings. These intervals do not capture all forecast error, future shocks, policy implementation risk, or model misspecification.</a:t>
            </a:r>
          </a:p>
        </p:txBody>
      </p:sp>
    </p:spTree>
    <p:extLst>
      <p:ext uri="{BB962C8B-B14F-4D97-AF65-F5344CB8AC3E}">
        <p14:creationId xmlns:p14="http://schemas.microsoft.com/office/powerpoint/2010/main" val="1409057386"/>
      </p:ext>
    </p:extLst>
  </p:cSld>
</p:sld>
</file>

<file path=ppt/slides/slide9.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5325F87-610F-4CEA-94D5-3EC96A69F085}"/>
              </a:ext>
            </a:extLst>
          </p:cNvPr>
          <p:cNvSpPr>
            <a:spLocks xmlns:a="http://schemas.openxmlformats.org/drawingml/2006/main" noGrp="1"/>
          </p:cNvSpPr>
          <p:nvPr/>
        </p:nvSpPr>
        <p:spPr>
          <a:xfrm xmlns:a="http://schemas.openxmlformats.org/drawingml/2006/main">
            <a:off x="647700" y="3238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168184"/>
                </a:solidFill>
              </a:defRPr>
            </a:defPPr>
            <a:lvl1pPr>
              <a:defRPr sz="975" b="1">
                <a:solidFill>
                  <a:srgbClr val="168184"/>
                </a:solidFill>
              </a:defRPr>
            </a:lvl1pPr>
            <a:lvl2pPr>
              <a:defRPr sz="975" b="1">
                <a:solidFill>
                  <a:srgbClr val="168184"/>
                </a:solidFill>
              </a:defRPr>
            </a:lvl2pPr>
            <a:lvl3pPr>
              <a:defRPr sz="975" b="1">
                <a:solidFill>
                  <a:srgbClr val="168184"/>
                </a:solidFill>
              </a:defRPr>
            </a:lvl3pPr>
            <a:lvl4pPr>
              <a:defRPr sz="975" b="1">
                <a:solidFill>
                  <a:srgbClr val="168184"/>
                </a:solidFill>
              </a:defRPr>
            </a:lvl4pPr>
            <a:lvl5pPr>
              <a:defRPr sz="975" b="1">
                <a:solidFill>
                  <a:srgbClr val="168184"/>
                </a:solidFill>
              </a:defRPr>
            </a:lvl5pPr>
            <a:lvl6pPr>
              <a:defRPr sz="975" b="1">
                <a:solidFill>
                  <a:srgbClr val="168184"/>
                </a:solidFill>
              </a:defRPr>
            </a:lvl6pPr>
            <a:lvl7pPr>
              <a:defRPr sz="975" b="1">
                <a:solidFill>
                  <a:srgbClr val="168184"/>
                </a:solidFill>
              </a:defRPr>
            </a:lvl7pPr>
            <a:lvl8pPr>
              <a:defRPr sz="975" b="1">
                <a:solidFill>
                  <a:srgbClr val="168184"/>
                </a:solidFill>
              </a:defRPr>
            </a:lvl8pPr>
            <a:lvl9pPr>
              <a:defRPr sz="975" b="1">
                <a:solidFill>
                  <a:srgbClr val="168184"/>
                </a:solidFill>
              </a:defRPr>
            </a:lvl9pPr>
          </a:lstStyle>
          <a:p xmlns:a="http://schemas.openxmlformats.org/drawingml/2006/main">
            <a:pPr>
              <a:defRPr sz="975" b="1">
                <a:solidFill>
                  <a:srgbClr val="168184"/>
                </a:solidFill>
              </a:defRPr>
            </a:pPr>
            <a:r>
              <a:rPr sz="975" b="1">
                <a:solidFill>
                  <a:srgbClr val="168184"/>
                </a:solidFill>
              </a:rPr>
              <a:t>BRAZIL SCENARIO RESULTS</a:t>
            </a:r>
          </a:p>
        </p:txBody>
      </p:sp>
      <p:sp>
        <p:nvSpPr>
          <p:cNvPr id="2" name="">
            <a:extLst xmlns:a="http://schemas.openxmlformats.org/drawingml/2006/main">
              <a:ext uri="{FF2B5EF4-FFF2-40B4-BE49-F238E27FC236}">
                <a16:creationId xmlns:a16="http://schemas.microsoft.com/office/drawing/2014/main" id="{4DB04E27-10D1-4FA3-BA15-3823461E327A}"/>
              </a:ext>
            </a:extLst>
          </p:cNvPr>
          <p:cNvSpPr>
            <a:spLocks xmlns:a="http://schemas.openxmlformats.org/drawingml/2006/main" noGrp="1"/>
          </p:cNvSpPr>
          <p:nvPr/>
        </p:nvSpPr>
        <p:spPr>
          <a:xfrm xmlns:a="http://schemas.openxmlformats.org/drawingml/2006/main">
            <a:off x="647700" y="6286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173344"/>
                </a:solidFill>
              </a:defRPr>
            </a:defPPr>
            <a:lvl1pPr>
              <a:defRPr sz="2550" b="1">
                <a:solidFill>
                  <a:srgbClr val="173344"/>
                </a:solidFill>
              </a:defRPr>
            </a:lvl1pPr>
            <a:lvl2pPr>
              <a:defRPr sz="2550" b="1">
                <a:solidFill>
                  <a:srgbClr val="173344"/>
                </a:solidFill>
              </a:defRPr>
            </a:lvl2pPr>
            <a:lvl3pPr>
              <a:defRPr sz="2550" b="1">
                <a:solidFill>
                  <a:srgbClr val="173344"/>
                </a:solidFill>
              </a:defRPr>
            </a:lvl3pPr>
            <a:lvl4pPr>
              <a:defRPr sz="2550" b="1">
                <a:solidFill>
                  <a:srgbClr val="173344"/>
                </a:solidFill>
              </a:defRPr>
            </a:lvl4pPr>
            <a:lvl5pPr>
              <a:defRPr sz="2550" b="1">
                <a:solidFill>
                  <a:srgbClr val="173344"/>
                </a:solidFill>
              </a:defRPr>
            </a:lvl5pPr>
            <a:lvl6pPr>
              <a:defRPr sz="2550" b="1">
                <a:solidFill>
                  <a:srgbClr val="173344"/>
                </a:solidFill>
              </a:defRPr>
            </a:lvl6pPr>
            <a:lvl7pPr>
              <a:defRPr sz="2550" b="1">
                <a:solidFill>
                  <a:srgbClr val="173344"/>
                </a:solidFill>
              </a:defRPr>
            </a:lvl7pPr>
            <a:lvl8pPr>
              <a:defRPr sz="2550" b="1">
                <a:solidFill>
                  <a:srgbClr val="173344"/>
                </a:solidFill>
              </a:defRPr>
            </a:lvl8pPr>
            <a:lvl9pPr>
              <a:defRPr sz="2550" b="1">
                <a:solidFill>
                  <a:srgbClr val="173344"/>
                </a:solidFill>
              </a:defRPr>
            </a:lvl9pPr>
          </a:lstStyle>
          <a:p xmlns:a="http://schemas.openxmlformats.org/drawingml/2006/main">
            <a:pPr>
              <a:defRPr sz="2550" b="1">
                <a:solidFill>
                  <a:srgbClr val="173344"/>
                </a:solidFill>
              </a:defRPr>
            </a:pPr>
            <a:r>
              <a:rPr sz="2550" b="1">
                <a:solidFill>
                  <a:srgbClr val="173344"/>
                </a:solidFill>
              </a:rPr>
              <a:t>Persistence and composition change the story</a:t>
            </a:r>
          </a:p>
        </p:txBody>
      </p:sp>
      <p:sp>
        <p:nvSpPr>
          <p:cNvPr id="3" name="">
            <a:extLst xmlns:a="http://schemas.openxmlformats.org/drawingml/2006/main">
              <a:ext uri="{FF2B5EF4-FFF2-40B4-BE49-F238E27FC236}">
                <a16:creationId xmlns:a16="http://schemas.microsoft.com/office/drawing/2014/main" id="{D232D182-858D-4208-8285-E0FD0A103D02}"/>
              </a:ext>
            </a:extLst>
          </p:cNvPr>
          <p:cNvSpPr>
            <a:spLocks xmlns:a="http://schemas.openxmlformats.org/drawingml/2006/main" noGrp="1"/>
          </p:cNvSpPr>
          <p:nvPr/>
        </p:nvSpPr>
        <p:spPr>
          <a:xfrm xmlns:a="http://schemas.openxmlformats.org/drawingml/2006/main">
            <a:off x="647700" y="6477000"/>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0">
                <a:solidFill>
                  <a:srgbClr val="596D78"/>
                </a:solidFill>
              </a:defRPr>
            </a:defPPr>
            <a:lvl1pPr>
              <a:defRPr sz="900" b="0">
                <a:solidFill>
                  <a:srgbClr val="596D78"/>
                </a:solidFill>
              </a:defRPr>
            </a:lvl1pPr>
            <a:lvl2pPr>
              <a:defRPr sz="900" b="0">
                <a:solidFill>
                  <a:srgbClr val="596D78"/>
                </a:solidFill>
              </a:defRPr>
            </a:lvl2pPr>
            <a:lvl3pPr>
              <a:defRPr sz="900" b="0">
                <a:solidFill>
                  <a:srgbClr val="596D78"/>
                </a:solidFill>
              </a:defRPr>
            </a:lvl3pPr>
            <a:lvl4pPr>
              <a:defRPr sz="900" b="0">
                <a:solidFill>
                  <a:srgbClr val="596D78"/>
                </a:solidFill>
              </a:defRPr>
            </a:lvl4pPr>
            <a:lvl5pPr>
              <a:defRPr sz="900" b="0">
                <a:solidFill>
                  <a:srgbClr val="596D78"/>
                </a:solidFill>
              </a:defRPr>
            </a:lvl5pPr>
            <a:lvl6pPr>
              <a:defRPr sz="900" b="0">
                <a:solidFill>
                  <a:srgbClr val="596D78"/>
                </a:solidFill>
              </a:defRPr>
            </a:lvl6pPr>
            <a:lvl7pPr>
              <a:defRPr sz="900" b="0">
                <a:solidFill>
                  <a:srgbClr val="596D78"/>
                </a:solidFill>
              </a:defRPr>
            </a:lvl7pPr>
            <a:lvl8pPr>
              <a:defRPr sz="900" b="0">
                <a:solidFill>
                  <a:srgbClr val="596D78"/>
                </a:solidFill>
              </a:defRPr>
            </a:lvl8pPr>
            <a:lvl9pPr>
              <a:defRPr sz="900" b="0">
                <a:solidFill>
                  <a:srgbClr val="596D78"/>
                </a:solidFill>
              </a:defRPr>
            </a:lvl9pPr>
          </a:lstStyle>
          <a:p xmlns:a="http://schemas.openxmlformats.org/drawingml/2006/main">
            <a:pPr>
              <a:defRPr sz="900" b="0">
                <a:solidFill>
                  <a:srgbClr val="596D78"/>
                </a:solidFill>
              </a:defRPr>
            </a:pPr>
            <a:r>
              <a:rPr sz="900" b="0">
                <a:solidFill>
                  <a:srgbClr val="596D78"/>
                </a:solidFill>
              </a:rPr>
              <a:t>Internal review · D2 validation gate FAIL · 21 Oct 2026</a:t>
            </a:r>
          </a:p>
        </p:txBody>
      </p:sp>
      <p:sp>
        <p:nvSpPr>
          <p:cNvPr id="4" name="">
            <a:extLst xmlns:a="http://schemas.openxmlformats.org/drawingml/2006/main">
              <a:ext uri="{FF2B5EF4-FFF2-40B4-BE49-F238E27FC236}">
                <a16:creationId xmlns:a16="http://schemas.microsoft.com/office/drawing/2014/main" id="{019E3F34-283A-4DDD-9617-426BF5E487B3}"/>
              </a:ext>
            </a:extLst>
          </p:cNvPr>
          <p:cNvSpPr>
            <a:spLocks xmlns:a="http://schemas.openxmlformats.org/drawingml/2006/main" noGrp="1"/>
          </p:cNvSpPr>
          <p:nvPr/>
        </p:nvSpPr>
        <p:spPr>
          <a:xfrm xmlns:a="http://schemas.openxmlformats.org/drawingml/2006/main">
            <a:off x="666750" y="1428750"/>
            <a:ext cx="4953000" cy="180975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9525">
            <a:solidFill>
              <a:srgbClr val="D9E2E5"/>
            </a:solidFill>
            <a:prstDash val="solid"/>
          </a:ln>
        </p:spPr>
      </p:sp>
      <p:sp>
        <p:nvSpPr>
          <p:cNvPr id="5" name="">
            <a:extLst xmlns:a="http://schemas.openxmlformats.org/drawingml/2006/main">
              <a:ext uri="{FF2B5EF4-FFF2-40B4-BE49-F238E27FC236}">
                <a16:creationId xmlns:a16="http://schemas.microsoft.com/office/drawing/2014/main" id="{6E3A4846-2FF2-4C08-8A42-DA425F0DD841}"/>
              </a:ext>
            </a:extLst>
          </p:cNvPr>
          <p:cNvSpPr>
            <a:spLocks xmlns:a="http://schemas.openxmlformats.org/drawingml/2006/main" noGrp="1"/>
          </p:cNvSpPr>
          <p:nvPr/>
        </p:nvSpPr>
        <p:spPr>
          <a:xfrm xmlns:a="http://schemas.openxmlformats.org/drawingml/2006/main">
            <a:off x="666750" y="1428750"/>
            <a:ext cx="57150" cy="1809750"/>
          </a:xfrm>
          <a:prstGeom xmlns:a="http://schemas.openxmlformats.org/drawingml/2006/main" prst="rect">
            <a:avLst/>
          </a:prstGeom>
          <a:solidFill xmlns:a="http://schemas.openxmlformats.org/drawingml/2006/main">
            <a:srgbClr val="16818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9027098-1F78-4A7C-B02E-DCE3E989D8C3}"/>
              </a:ext>
            </a:extLst>
          </p:cNvPr>
          <p:cNvSpPr>
            <a:spLocks xmlns:a="http://schemas.openxmlformats.org/drawingml/2006/main" noGrp="1"/>
          </p:cNvSpPr>
          <p:nvPr/>
        </p:nvSpPr>
        <p:spPr>
          <a:xfrm xmlns:a="http://schemas.openxmlformats.org/drawingml/2006/main">
            <a:off x="876300" y="160020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173344"/>
                </a:solidFill>
              </a:defRPr>
            </a:defPPr>
            <a:lvl1pPr>
              <a:defRPr sz="1425" b="1">
                <a:solidFill>
                  <a:srgbClr val="173344"/>
                </a:solidFill>
              </a:defRPr>
            </a:lvl1pPr>
            <a:lvl2pPr>
              <a:defRPr sz="1425" b="1">
                <a:solidFill>
                  <a:srgbClr val="173344"/>
                </a:solidFill>
              </a:defRPr>
            </a:lvl2pPr>
            <a:lvl3pPr>
              <a:defRPr sz="1425" b="1">
                <a:solidFill>
                  <a:srgbClr val="173344"/>
                </a:solidFill>
              </a:defRPr>
            </a:lvl3pPr>
            <a:lvl4pPr>
              <a:defRPr sz="1425" b="1">
                <a:solidFill>
                  <a:srgbClr val="173344"/>
                </a:solidFill>
              </a:defRPr>
            </a:lvl4pPr>
            <a:lvl5pPr>
              <a:defRPr sz="1425" b="1">
                <a:solidFill>
                  <a:srgbClr val="173344"/>
                </a:solidFill>
              </a:defRPr>
            </a:lvl5pPr>
            <a:lvl6pPr>
              <a:defRPr sz="1425" b="1">
                <a:solidFill>
                  <a:srgbClr val="173344"/>
                </a:solidFill>
              </a:defRPr>
            </a:lvl6pPr>
            <a:lvl7pPr>
              <a:defRPr sz="1425" b="1">
                <a:solidFill>
                  <a:srgbClr val="173344"/>
                </a:solidFill>
              </a:defRPr>
            </a:lvl7pPr>
            <a:lvl8pPr>
              <a:defRPr sz="1425" b="1">
                <a:solidFill>
                  <a:srgbClr val="173344"/>
                </a:solidFill>
              </a:defRPr>
            </a:lvl8pPr>
            <a:lvl9pPr>
              <a:defRPr sz="1425" b="1">
                <a:solidFill>
                  <a:srgbClr val="173344"/>
                </a:solidFill>
              </a:defRPr>
            </a:lvl9pPr>
          </a:lstStyle>
          <a:p xmlns:a="http://schemas.openxmlformats.org/drawingml/2006/main">
            <a:pPr>
              <a:defRPr sz="1425" b="1">
                <a:solidFill>
                  <a:srgbClr val="173344"/>
                </a:solidFill>
              </a:defRPr>
            </a:pPr>
            <a:r>
              <a:rPr sz="1425" b="1">
                <a:solidFill>
                  <a:srgbClr val="173344"/>
                </a:solidFill>
              </a:rPr>
              <a:t>Transitory</a:t>
            </a:r>
          </a:p>
        </p:txBody>
      </p:sp>
      <p:sp>
        <p:nvSpPr>
          <p:cNvPr id="7" name="">
            <a:extLst xmlns:a="http://schemas.openxmlformats.org/drawingml/2006/main">
              <a:ext uri="{FF2B5EF4-FFF2-40B4-BE49-F238E27FC236}">
                <a16:creationId xmlns:a16="http://schemas.microsoft.com/office/drawing/2014/main" id="{CBFAAD41-2805-4F49-B753-767E81D1FAE4}"/>
              </a:ext>
            </a:extLst>
          </p:cNvPr>
          <p:cNvSpPr>
            <a:spLocks xmlns:a="http://schemas.openxmlformats.org/drawingml/2006/main" noGrp="1"/>
          </p:cNvSpPr>
          <p:nvPr/>
        </p:nvSpPr>
        <p:spPr>
          <a:xfrm xmlns:a="http://schemas.openxmlformats.org/drawingml/2006/main">
            <a:off x="876300" y="2019300"/>
            <a:ext cx="45339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96D78"/>
                </a:solidFill>
              </a:defRPr>
            </a:defPPr>
            <a:lvl1pPr>
              <a:defRPr sz="1200" b="0">
                <a:solidFill>
                  <a:srgbClr val="596D78"/>
                </a:solidFill>
              </a:defRPr>
            </a:lvl1pPr>
            <a:lvl2pPr>
              <a:defRPr sz="1200" b="0">
                <a:solidFill>
                  <a:srgbClr val="596D78"/>
                </a:solidFill>
              </a:defRPr>
            </a:lvl2pPr>
            <a:lvl3pPr>
              <a:defRPr sz="1200" b="0">
                <a:solidFill>
                  <a:srgbClr val="596D78"/>
                </a:solidFill>
              </a:defRPr>
            </a:lvl3pPr>
            <a:lvl4pPr>
              <a:defRPr sz="1200" b="0">
                <a:solidFill>
                  <a:srgbClr val="596D78"/>
                </a:solidFill>
              </a:defRPr>
            </a:lvl4pPr>
            <a:lvl5pPr>
              <a:defRPr sz="1200" b="0">
                <a:solidFill>
                  <a:srgbClr val="596D78"/>
                </a:solidFill>
              </a:defRPr>
            </a:lvl5pPr>
            <a:lvl6pPr>
              <a:defRPr sz="1200" b="0">
                <a:solidFill>
                  <a:srgbClr val="596D78"/>
                </a:solidFill>
              </a:defRPr>
            </a:lvl6pPr>
            <a:lvl7pPr>
              <a:defRPr sz="1200" b="0">
                <a:solidFill>
                  <a:srgbClr val="596D78"/>
                </a:solidFill>
              </a:defRPr>
            </a:lvl7pPr>
            <a:lvl8pPr>
              <a:defRPr sz="1200" b="0">
                <a:solidFill>
                  <a:srgbClr val="596D78"/>
                </a:solidFill>
              </a:defRPr>
            </a:lvl8pPr>
            <a:lvl9pPr>
              <a:defRPr sz="1200" b="0">
                <a:solidFill>
                  <a:srgbClr val="596D78"/>
                </a:solidFill>
              </a:defRPr>
            </a:lvl9pPr>
          </a:lstStyle>
          <a:p xmlns:a="http://schemas.openxmlformats.org/drawingml/2006/main">
            <a:pPr>
              <a:defRPr sz="1200" b="0">
                <a:solidFill>
                  <a:srgbClr val="596D78"/>
                </a:solidFill>
              </a:defRPr>
            </a:pPr>
            <a:r>
              <a:rPr sz="1200" b="0">
                <a:solidFill>
                  <a:srgbClr val="596D78"/>
                </a:solidFill>
              </a:rPr>
              <a:t>Spending effects fade after their accumulated multiplier is spread over the selected horizon. It is a lower-bound demand-effect case.</a:t>
            </a:r>
          </a:p>
        </p:txBody>
      </p:sp>
      <p:sp>
        <p:nvSpPr>
          <p:cNvPr id="8" name="">
            <a:extLst xmlns:a="http://schemas.openxmlformats.org/drawingml/2006/main">
              <a:ext uri="{FF2B5EF4-FFF2-40B4-BE49-F238E27FC236}">
                <a16:creationId xmlns:a16="http://schemas.microsoft.com/office/drawing/2014/main" id="{3B7BAC27-24F1-4C33-966A-F45AEB3E15DA}"/>
              </a:ext>
            </a:extLst>
          </p:cNvPr>
          <p:cNvSpPr>
            <a:spLocks xmlns:a="http://schemas.openxmlformats.org/drawingml/2006/main" noGrp="1"/>
          </p:cNvSpPr>
          <p:nvPr/>
        </p:nvSpPr>
        <p:spPr>
          <a:xfrm xmlns:a="http://schemas.openxmlformats.org/drawingml/2006/main">
            <a:off x="6048375" y="1428750"/>
            <a:ext cx="4953000" cy="180975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9525">
            <a:solidFill>
              <a:srgbClr val="D9E2E5"/>
            </a:solidFill>
            <a:prstDash val="solid"/>
          </a:ln>
        </p:spPr>
      </p:sp>
      <p:sp>
        <p:nvSpPr>
          <p:cNvPr id="9" name="">
            <a:extLst xmlns:a="http://schemas.openxmlformats.org/drawingml/2006/main">
              <a:ext uri="{FF2B5EF4-FFF2-40B4-BE49-F238E27FC236}">
                <a16:creationId xmlns:a16="http://schemas.microsoft.com/office/drawing/2014/main" id="{817250F9-64CF-4204-B404-F98E888A27B8}"/>
              </a:ext>
            </a:extLst>
          </p:cNvPr>
          <p:cNvSpPr>
            <a:spLocks xmlns:a="http://schemas.openxmlformats.org/drawingml/2006/main" noGrp="1"/>
          </p:cNvSpPr>
          <p:nvPr/>
        </p:nvSpPr>
        <p:spPr>
          <a:xfrm xmlns:a="http://schemas.openxmlformats.org/drawingml/2006/main">
            <a:off x="6048375" y="1428750"/>
            <a:ext cx="57150" cy="1809750"/>
          </a:xfrm>
          <a:prstGeom xmlns:a="http://schemas.openxmlformats.org/drawingml/2006/main" prst="rect">
            <a:avLst/>
          </a:prstGeom>
          <a:solidFill xmlns:a="http://schemas.openxmlformats.org/drawingml/2006/main">
            <a:srgbClr val="C1943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1EBF0B1-2200-46EE-B026-A333F5195A13}"/>
              </a:ext>
            </a:extLst>
          </p:cNvPr>
          <p:cNvSpPr>
            <a:spLocks xmlns:a="http://schemas.openxmlformats.org/drawingml/2006/main" noGrp="1"/>
          </p:cNvSpPr>
          <p:nvPr/>
        </p:nvSpPr>
        <p:spPr>
          <a:xfrm xmlns:a="http://schemas.openxmlformats.org/drawingml/2006/main">
            <a:off x="6257925" y="160020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173344"/>
                </a:solidFill>
              </a:defRPr>
            </a:defPPr>
            <a:lvl1pPr>
              <a:defRPr sz="1425" b="1">
                <a:solidFill>
                  <a:srgbClr val="173344"/>
                </a:solidFill>
              </a:defRPr>
            </a:lvl1pPr>
            <a:lvl2pPr>
              <a:defRPr sz="1425" b="1">
                <a:solidFill>
                  <a:srgbClr val="173344"/>
                </a:solidFill>
              </a:defRPr>
            </a:lvl2pPr>
            <a:lvl3pPr>
              <a:defRPr sz="1425" b="1">
                <a:solidFill>
                  <a:srgbClr val="173344"/>
                </a:solidFill>
              </a:defRPr>
            </a:lvl3pPr>
            <a:lvl4pPr>
              <a:defRPr sz="1425" b="1">
                <a:solidFill>
                  <a:srgbClr val="173344"/>
                </a:solidFill>
              </a:defRPr>
            </a:lvl4pPr>
            <a:lvl5pPr>
              <a:defRPr sz="1425" b="1">
                <a:solidFill>
                  <a:srgbClr val="173344"/>
                </a:solidFill>
              </a:defRPr>
            </a:lvl5pPr>
            <a:lvl6pPr>
              <a:defRPr sz="1425" b="1">
                <a:solidFill>
                  <a:srgbClr val="173344"/>
                </a:solidFill>
              </a:defRPr>
            </a:lvl6pPr>
            <a:lvl7pPr>
              <a:defRPr sz="1425" b="1">
                <a:solidFill>
                  <a:srgbClr val="173344"/>
                </a:solidFill>
              </a:defRPr>
            </a:lvl7pPr>
            <a:lvl8pPr>
              <a:defRPr sz="1425" b="1">
                <a:solidFill>
                  <a:srgbClr val="173344"/>
                </a:solidFill>
              </a:defRPr>
            </a:lvl8pPr>
            <a:lvl9pPr>
              <a:defRPr sz="1425" b="1">
                <a:solidFill>
                  <a:srgbClr val="173344"/>
                </a:solidFill>
              </a:defRPr>
            </a:lvl9pPr>
          </a:lstStyle>
          <a:p xmlns:a="http://schemas.openxmlformats.org/drawingml/2006/main">
            <a:pPr>
              <a:defRPr sz="1425" b="1">
                <a:solidFill>
                  <a:srgbClr val="173344"/>
                </a:solidFill>
              </a:defRPr>
            </a:pPr>
            <a:r>
              <a:rPr sz="1425" b="1">
                <a:solidFill>
                  <a:srgbClr val="173344"/>
                </a:solidFill>
              </a:rPr>
              <a:t>Persistent</a:t>
            </a:r>
          </a:p>
        </p:txBody>
      </p:sp>
      <p:sp>
        <p:nvSpPr>
          <p:cNvPr id="11" name="">
            <a:extLst xmlns:a="http://schemas.openxmlformats.org/drawingml/2006/main">
              <a:ext uri="{FF2B5EF4-FFF2-40B4-BE49-F238E27FC236}">
                <a16:creationId xmlns:a16="http://schemas.microsoft.com/office/drawing/2014/main" id="{E3F80630-3B9D-4C44-9855-DC0DF21CC4C6}"/>
              </a:ext>
            </a:extLst>
          </p:cNvPr>
          <p:cNvSpPr>
            <a:spLocks xmlns:a="http://schemas.openxmlformats.org/drawingml/2006/main" noGrp="1"/>
          </p:cNvSpPr>
          <p:nvPr/>
        </p:nvSpPr>
        <p:spPr>
          <a:xfrm xmlns:a="http://schemas.openxmlformats.org/drawingml/2006/main">
            <a:off x="6257925" y="2019300"/>
            <a:ext cx="45339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96D78"/>
                </a:solidFill>
              </a:defRPr>
            </a:defPPr>
            <a:lvl1pPr>
              <a:defRPr sz="1200" b="0">
                <a:solidFill>
                  <a:srgbClr val="596D78"/>
                </a:solidFill>
              </a:defRPr>
            </a:lvl1pPr>
            <a:lvl2pPr>
              <a:defRPr sz="1200" b="0">
                <a:solidFill>
                  <a:srgbClr val="596D78"/>
                </a:solidFill>
              </a:defRPr>
            </a:lvl2pPr>
            <a:lvl3pPr>
              <a:defRPr sz="1200" b="0">
                <a:solidFill>
                  <a:srgbClr val="596D78"/>
                </a:solidFill>
              </a:defRPr>
            </a:lvl3pPr>
            <a:lvl4pPr>
              <a:defRPr sz="1200" b="0">
                <a:solidFill>
                  <a:srgbClr val="596D78"/>
                </a:solidFill>
              </a:defRPr>
            </a:lvl4pPr>
            <a:lvl5pPr>
              <a:defRPr sz="1200" b="0">
                <a:solidFill>
                  <a:srgbClr val="596D78"/>
                </a:solidFill>
              </a:defRPr>
            </a:lvl5pPr>
            <a:lvl6pPr>
              <a:defRPr sz="1200" b="0">
                <a:solidFill>
                  <a:srgbClr val="596D78"/>
                </a:solidFill>
              </a:defRPr>
            </a:lvl6pPr>
            <a:lvl7pPr>
              <a:defRPr sz="1200" b="0">
                <a:solidFill>
                  <a:srgbClr val="596D78"/>
                </a:solidFill>
              </a:defRPr>
            </a:lvl7pPr>
            <a:lvl8pPr>
              <a:defRPr sz="1200" b="0">
                <a:solidFill>
                  <a:srgbClr val="596D78"/>
                </a:solidFill>
              </a:defRPr>
            </a:lvl8pPr>
            <a:lvl9pPr>
              <a:defRPr sz="1200" b="0">
                <a:solidFill>
                  <a:srgbClr val="596D78"/>
                </a:solidFill>
              </a:defRPr>
            </a:lvl9pPr>
          </a:lstStyle>
          <a:p xmlns:a="http://schemas.openxmlformats.org/drawingml/2006/main">
            <a:pPr>
              <a:defRPr sz="1200" b="0">
                <a:solidFill>
                  <a:srgbClr val="596D78"/>
                </a:solidFill>
              </a:defRPr>
            </a:pPr>
            <a:r>
              <a:rPr sz="1200" b="0">
                <a:solidFill>
                  <a:srgbClr val="596D78"/>
                </a:solidFill>
              </a:rPr>
              <a:t>Output-level gap remains while the spending gap remains. This is an upper-bound persistence choice, not an empirically proven path.</a:t>
            </a:r>
          </a:p>
        </p:txBody>
      </p:sp>
      <p:sp>
        <p:nvSpPr>
          <p:cNvPr id="12" name="">
            <a:extLst xmlns:a="http://schemas.openxmlformats.org/drawingml/2006/main">
              <a:ext uri="{FF2B5EF4-FFF2-40B4-BE49-F238E27FC236}">
                <a16:creationId xmlns:a16="http://schemas.microsoft.com/office/drawing/2014/main" id="{250EE63F-2761-495C-9930-F072E5D1A56A}"/>
              </a:ext>
            </a:extLst>
          </p:cNvPr>
          <p:cNvSpPr>
            <a:spLocks xmlns:a="http://schemas.openxmlformats.org/drawingml/2006/main" noGrp="1"/>
          </p:cNvSpPr>
          <p:nvPr/>
        </p:nvSpPr>
        <p:spPr>
          <a:xfrm xmlns:a="http://schemas.openxmlformats.org/drawingml/2006/main">
            <a:off x="666750" y="3619500"/>
            <a:ext cx="4953000" cy="200025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9E2E5"/>
            </a:solidFill>
            <a:prstDash val="solid"/>
          </a:ln>
        </p:spPr>
      </p:sp>
      <p:sp>
        <p:nvSpPr>
          <p:cNvPr id="13" name="">
            <a:extLst xmlns:a="http://schemas.openxmlformats.org/drawingml/2006/main">
              <a:ext uri="{FF2B5EF4-FFF2-40B4-BE49-F238E27FC236}">
                <a16:creationId xmlns:a16="http://schemas.microsoft.com/office/drawing/2014/main" id="{43ACBC34-58B9-44D2-ADC4-21F5CBC059EB}"/>
              </a:ext>
            </a:extLst>
          </p:cNvPr>
          <p:cNvSpPr>
            <a:spLocks xmlns:a="http://schemas.openxmlformats.org/drawingml/2006/main" noGrp="1"/>
          </p:cNvSpPr>
          <p:nvPr/>
        </p:nvSpPr>
        <p:spPr>
          <a:xfrm xmlns:a="http://schemas.openxmlformats.org/drawingml/2006/main">
            <a:off x="666750" y="3619500"/>
            <a:ext cx="57150" cy="2000250"/>
          </a:xfrm>
          <a:prstGeom xmlns:a="http://schemas.openxmlformats.org/drawingml/2006/main" prst="rect">
            <a:avLst/>
          </a:prstGeom>
          <a:solidFill xmlns:a="http://schemas.openxmlformats.org/drawingml/2006/main">
            <a:srgbClr val="16818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90D9985-1E72-407E-A847-69500324D4A0}"/>
              </a:ext>
            </a:extLst>
          </p:cNvPr>
          <p:cNvSpPr>
            <a:spLocks xmlns:a="http://schemas.openxmlformats.org/drawingml/2006/main" noGrp="1"/>
          </p:cNvSpPr>
          <p:nvPr/>
        </p:nvSpPr>
        <p:spPr>
          <a:xfrm xmlns:a="http://schemas.openxmlformats.org/drawingml/2006/main">
            <a:off x="876300" y="379095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173344"/>
                </a:solidFill>
              </a:defRPr>
            </a:defPPr>
            <a:lvl1pPr>
              <a:defRPr sz="1425" b="1">
                <a:solidFill>
                  <a:srgbClr val="173344"/>
                </a:solidFill>
              </a:defRPr>
            </a:lvl1pPr>
            <a:lvl2pPr>
              <a:defRPr sz="1425" b="1">
                <a:solidFill>
                  <a:srgbClr val="173344"/>
                </a:solidFill>
              </a:defRPr>
            </a:lvl2pPr>
            <a:lvl3pPr>
              <a:defRPr sz="1425" b="1">
                <a:solidFill>
                  <a:srgbClr val="173344"/>
                </a:solidFill>
              </a:defRPr>
            </a:lvl3pPr>
            <a:lvl4pPr>
              <a:defRPr sz="1425" b="1">
                <a:solidFill>
                  <a:srgbClr val="173344"/>
                </a:solidFill>
              </a:defRPr>
            </a:lvl4pPr>
            <a:lvl5pPr>
              <a:defRPr sz="1425" b="1">
                <a:solidFill>
                  <a:srgbClr val="173344"/>
                </a:solidFill>
              </a:defRPr>
            </a:lvl5pPr>
            <a:lvl6pPr>
              <a:defRPr sz="1425" b="1">
                <a:solidFill>
                  <a:srgbClr val="173344"/>
                </a:solidFill>
              </a:defRPr>
            </a:lvl6pPr>
            <a:lvl7pPr>
              <a:defRPr sz="1425" b="1">
                <a:solidFill>
                  <a:srgbClr val="173344"/>
                </a:solidFill>
              </a:defRPr>
            </a:lvl7pPr>
            <a:lvl8pPr>
              <a:defRPr sz="1425" b="1">
                <a:solidFill>
                  <a:srgbClr val="173344"/>
                </a:solidFill>
              </a:defRPr>
            </a:lvl8pPr>
            <a:lvl9pPr>
              <a:defRPr sz="1425" b="1">
                <a:solidFill>
                  <a:srgbClr val="173344"/>
                </a:solidFill>
              </a:defRPr>
            </a:lvl9pPr>
          </a:lstStyle>
          <a:p xmlns:a="http://schemas.openxmlformats.org/drawingml/2006/main">
            <a:pPr>
              <a:defRPr sz="1425" b="1">
                <a:solidFill>
                  <a:srgbClr val="173344"/>
                </a:solidFill>
              </a:defRPr>
            </a:pPr>
            <a:r>
              <a:rPr sz="1425" b="1">
                <a:solidFill>
                  <a:srgbClr val="173344"/>
                </a:solidFill>
              </a:rPr>
              <a:t>Composition selector</a:t>
            </a:r>
          </a:p>
        </p:txBody>
      </p:sp>
      <p:sp>
        <p:nvSpPr>
          <p:cNvPr id="15" name="">
            <a:extLst xmlns:a="http://schemas.openxmlformats.org/drawingml/2006/main">
              <a:ext uri="{FF2B5EF4-FFF2-40B4-BE49-F238E27FC236}">
                <a16:creationId xmlns:a16="http://schemas.microsoft.com/office/drawing/2014/main" id="{2A965590-CC6E-4C7F-9C25-AD96F6C4F52E}"/>
              </a:ext>
            </a:extLst>
          </p:cNvPr>
          <p:cNvSpPr>
            <a:spLocks xmlns:a="http://schemas.openxmlformats.org/drawingml/2006/main" noGrp="1"/>
          </p:cNvSpPr>
          <p:nvPr/>
        </p:nvSpPr>
        <p:spPr>
          <a:xfrm xmlns:a="http://schemas.openxmlformats.org/drawingml/2006/main">
            <a:off x="876300" y="4210050"/>
            <a:ext cx="45339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96D78"/>
                </a:solidFill>
              </a:defRPr>
            </a:defPPr>
            <a:lvl1pPr>
              <a:defRPr sz="1200" b="0">
                <a:solidFill>
                  <a:srgbClr val="596D78"/>
                </a:solidFill>
              </a:defRPr>
            </a:lvl1pPr>
            <a:lvl2pPr>
              <a:defRPr sz="1200" b="0">
                <a:solidFill>
                  <a:srgbClr val="596D78"/>
                </a:solidFill>
              </a:defRPr>
            </a:lvl2pPr>
            <a:lvl3pPr>
              <a:defRPr sz="1200" b="0">
                <a:solidFill>
                  <a:srgbClr val="596D78"/>
                </a:solidFill>
              </a:defRPr>
            </a:lvl3pPr>
            <a:lvl4pPr>
              <a:defRPr sz="1200" b="0">
                <a:solidFill>
                  <a:srgbClr val="596D78"/>
                </a:solidFill>
              </a:defRPr>
            </a:lvl4pPr>
            <a:lvl5pPr>
              <a:defRPr sz="1200" b="0">
                <a:solidFill>
                  <a:srgbClr val="596D78"/>
                </a:solidFill>
              </a:defRPr>
            </a:lvl5pPr>
            <a:lvl6pPr>
              <a:defRPr sz="1200" b="0">
                <a:solidFill>
                  <a:srgbClr val="596D78"/>
                </a:solidFill>
              </a:defRPr>
            </a:lvl6pPr>
            <a:lvl7pPr>
              <a:defRPr sz="1200" b="0">
                <a:solidFill>
                  <a:srgbClr val="596D78"/>
                </a:solidFill>
              </a:defRPr>
            </a:lvl7pPr>
            <a:lvl8pPr>
              <a:defRPr sz="1200" b="0">
                <a:solidFill>
                  <a:srgbClr val="596D78"/>
                </a:solidFill>
              </a:defRPr>
            </a:lvl8pPr>
            <a:lvl9pPr>
              <a:defRPr sz="1200" b="0">
                <a:solidFill>
                  <a:srgbClr val="596D78"/>
                </a:solidFill>
              </a:defRPr>
            </a:lvl9pPr>
          </a:lstStyle>
          <a:p xmlns:a="http://schemas.openxmlformats.org/drawingml/2006/main">
            <a:pPr>
              <a:defRPr sz="1200" b="0">
                <a:solidFill>
                  <a:srgbClr val="596D78"/>
                </a:solidFill>
              </a:defRPr>
            </a:pPr>
            <a:r>
              <a:rPr sz="1200" b="0">
                <a:solidFill>
                  <a:srgbClr val="596D78"/>
                </a:solidFill>
              </a:rPr>
              <a:t>Default · pension only · efficiency only · investment cut stress · compensating transfers. These are alternative allocations of a given reduction.</a:t>
            </a:r>
          </a:p>
        </p:txBody>
      </p:sp>
      <p:sp>
        <p:nvSpPr>
          <p:cNvPr id="16" name="">
            <a:extLst xmlns:a="http://schemas.openxmlformats.org/drawingml/2006/main">
              <a:ext uri="{FF2B5EF4-FFF2-40B4-BE49-F238E27FC236}">
                <a16:creationId xmlns:a16="http://schemas.microsoft.com/office/drawing/2014/main" id="{1BDC0388-503C-4530-A6DE-C460FF5D7174}"/>
              </a:ext>
            </a:extLst>
          </p:cNvPr>
          <p:cNvSpPr>
            <a:spLocks xmlns:a="http://schemas.openxmlformats.org/drawingml/2006/main" noGrp="1"/>
          </p:cNvSpPr>
          <p:nvPr/>
        </p:nvSpPr>
        <p:spPr>
          <a:xfrm xmlns:a="http://schemas.openxmlformats.org/drawingml/2006/main">
            <a:off x="6048375" y="3619500"/>
            <a:ext cx="4953000" cy="200025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9E2E5"/>
            </a:solidFill>
            <a:prstDash val="solid"/>
          </a:ln>
        </p:spPr>
      </p:sp>
      <p:sp>
        <p:nvSpPr>
          <p:cNvPr id="17" name="">
            <a:extLst xmlns:a="http://schemas.openxmlformats.org/drawingml/2006/main">
              <a:ext uri="{FF2B5EF4-FFF2-40B4-BE49-F238E27FC236}">
                <a16:creationId xmlns:a16="http://schemas.microsoft.com/office/drawing/2014/main" id="{45C7B37C-16F1-4702-8A64-6154CC15BA0A}"/>
              </a:ext>
            </a:extLst>
          </p:cNvPr>
          <p:cNvSpPr>
            <a:spLocks xmlns:a="http://schemas.openxmlformats.org/drawingml/2006/main" noGrp="1"/>
          </p:cNvSpPr>
          <p:nvPr/>
        </p:nvSpPr>
        <p:spPr>
          <a:xfrm xmlns:a="http://schemas.openxmlformats.org/drawingml/2006/main">
            <a:off x="6048375" y="3619500"/>
            <a:ext cx="57150" cy="2000250"/>
          </a:xfrm>
          <a:prstGeom xmlns:a="http://schemas.openxmlformats.org/drawingml/2006/main" prst="rect">
            <a:avLst/>
          </a:prstGeom>
          <a:solidFill xmlns:a="http://schemas.openxmlformats.org/drawingml/2006/main">
            <a:srgbClr val="BD5B4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1000117-DDD1-4CA9-A312-BE4923029704}"/>
              </a:ext>
            </a:extLst>
          </p:cNvPr>
          <p:cNvSpPr>
            <a:spLocks xmlns:a="http://schemas.openxmlformats.org/drawingml/2006/main" noGrp="1"/>
          </p:cNvSpPr>
          <p:nvPr/>
        </p:nvSpPr>
        <p:spPr>
          <a:xfrm xmlns:a="http://schemas.openxmlformats.org/drawingml/2006/main">
            <a:off x="6257925" y="379095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173344"/>
                </a:solidFill>
              </a:defRPr>
            </a:defPPr>
            <a:lvl1pPr>
              <a:defRPr sz="1425" b="1">
                <a:solidFill>
                  <a:srgbClr val="173344"/>
                </a:solidFill>
              </a:defRPr>
            </a:lvl1pPr>
            <a:lvl2pPr>
              <a:defRPr sz="1425" b="1">
                <a:solidFill>
                  <a:srgbClr val="173344"/>
                </a:solidFill>
              </a:defRPr>
            </a:lvl2pPr>
            <a:lvl3pPr>
              <a:defRPr sz="1425" b="1">
                <a:solidFill>
                  <a:srgbClr val="173344"/>
                </a:solidFill>
              </a:defRPr>
            </a:lvl3pPr>
            <a:lvl4pPr>
              <a:defRPr sz="1425" b="1">
                <a:solidFill>
                  <a:srgbClr val="173344"/>
                </a:solidFill>
              </a:defRPr>
            </a:lvl4pPr>
            <a:lvl5pPr>
              <a:defRPr sz="1425" b="1">
                <a:solidFill>
                  <a:srgbClr val="173344"/>
                </a:solidFill>
              </a:defRPr>
            </a:lvl5pPr>
            <a:lvl6pPr>
              <a:defRPr sz="1425" b="1">
                <a:solidFill>
                  <a:srgbClr val="173344"/>
                </a:solidFill>
              </a:defRPr>
            </a:lvl6pPr>
            <a:lvl7pPr>
              <a:defRPr sz="1425" b="1">
                <a:solidFill>
                  <a:srgbClr val="173344"/>
                </a:solidFill>
              </a:defRPr>
            </a:lvl7pPr>
            <a:lvl8pPr>
              <a:defRPr sz="1425" b="1">
                <a:solidFill>
                  <a:srgbClr val="173344"/>
                </a:solidFill>
              </a:defRPr>
            </a:lvl8pPr>
            <a:lvl9pPr>
              <a:defRPr sz="1425" b="1">
                <a:solidFill>
                  <a:srgbClr val="173344"/>
                </a:solidFill>
              </a:defRPr>
            </a:lvl9pPr>
          </a:lstStyle>
          <a:p xmlns:a="http://schemas.openxmlformats.org/drawingml/2006/main">
            <a:pPr>
              <a:defRPr sz="1425" b="1">
                <a:solidFill>
                  <a:srgbClr val="173344"/>
                </a:solidFill>
              </a:defRPr>
            </a:pPr>
            <a:r>
              <a:rPr sz="1425" b="1">
                <a:solidFill>
                  <a:srgbClr val="173344"/>
                </a:solidFill>
              </a:rPr>
              <a:t>Important data gap</a:t>
            </a:r>
          </a:p>
        </p:txBody>
      </p:sp>
      <p:sp>
        <p:nvSpPr>
          <p:cNvPr id="19" name="">
            <a:extLst xmlns:a="http://schemas.openxmlformats.org/drawingml/2006/main">
              <a:ext uri="{FF2B5EF4-FFF2-40B4-BE49-F238E27FC236}">
                <a16:creationId xmlns:a16="http://schemas.microsoft.com/office/drawing/2014/main" id="{2DAB2044-9477-4DCB-A5DB-790CD69EDEF4}"/>
              </a:ext>
            </a:extLst>
          </p:cNvPr>
          <p:cNvSpPr>
            <a:spLocks xmlns:a="http://schemas.openxmlformats.org/drawingml/2006/main" noGrp="1"/>
          </p:cNvSpPr>
          <p:nvPr/>
        </p:nvSpPr>
        <p:spPr>
          <a:xfrm xmlns:a="http://schemas.openxmlformats.org/drawingml/2006/main">
            <a:off x="6257925" y="4210050"/>
            <a:ext cx="45339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96D78"/>
                </a:solidFill>
              </a:defRPr>
            </a:defPPr>
            <a:lvl1pPr>
              <a:defRPr sz="1200" b="0">
                <a:solidFill>
                  <a:srgbClr val="596D78"/>
                </a:solidFill>
              </a:defRPr>
            </a:lvl1pPr>
            <a:lvl2pPr>
              <a:defRPr sz="1200" b="0">
                <a:solidFill>
                  <a:srgbClr val="596D78"/>
                </a:solidFill>
              </a:defRPr>
            </a:lvl2pPr>
            <a:lvl3pPr>
              <a:defRPr sz="1200" b="0">
                <a:solidFill>
                  <a:srgbClr val="596D78"/>
                </a:solidFill>
              </a:defRPr>
            </a:lvl3pPr>
            <a:lvl4pPr>
              <a:defRPr sz="1200" b="0">
                <a:solidFill>
                  <a:srgbClr val="596D78"/>
                </a:solidFill>
              </a:defRPr>
            </a:lvl4pPr>
            <a:lvl5pPr>
              <a:defRPr sz="1200" b="0">
                <a:solidFill>
                  <a:srgbClr val="596D78"/>
                </a:solidFill>
              </a:defRPr>
            </a:lvl5pPr>
            <a:lvl6pPr>
              <a:defRPr sz="1200" b="0">
                <a:solidFill>
                  <a:srgbClr val="596D78"/>
                </a:solidFill>
              </a:defRPr>
            </a:lvl6pPr>
            <a:lvl7pPr>
              <a:defRPr sz="1200" b="0">
                <a:solidFill>
                  <a:srgbClr val="596D78"/>
                </a:solidFill>
              </a:defRPr>
            </a:lvl7pPr>
            <a:lvl8pPr>
              <a:defRPr sz="1200" b="0">
                <a:solidFill>
                  <a:srgbClr val="596D78"/>
                </a:solidFill>
              </a:defRPr>
            </a:lvl8pPr>
            <a:lvl9pPr>
              <a:defRPr sz="1200" b="0">
                <a:solidFill>
                  <a:srgbClr val="596D78"/>
                </a:solidFill>
              </a:defRPr>
            </a:lvl9pPr>
          </a:lstStyle>
          <a:p xmlns:a="http://schemas.openxmlformats.org/drawingml/2006/main">
            <a:pPr>
              <a:defRPr sz="1200" b="0">
                <a:solidFill>
                  <a:srgbClr val="596D78"/>
                </a:solidFill>
              </a:defRPr>
            </a:pPr>
            <a:r>
              <a:rPr sz="1200" b="0">
                <a:solidFill>
                  <a:srgbClr val="596D78"/>
                </a:solidFill>
              </a:rPr>
              <a:t>C3 distribution outcomes (Gini, poverty, top shares) are modeled for default composition only. Other cells are “not modeled,” not zero.</a:t>
            </a:r>
          </a:p>
        </p:txBody>
      </p:sp>
    </p:spTree>
    <p:extLst>
      <p:ext uri="{BB962C8B-B14F-4D97-AF65-F5344CB8AC3E}">
        <p14:creationId xmlns:p14="http://schemas.microsoft.com/office/powerpoint/2010/main" val="1172479074"/>
      </p:ext>
    </p:extLst>
  </p:cSld>
</p:sld>
</file>

<file path=ppt/slides/slide10.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DA525DD-3016-4E11-9C1D-E6D4182DBD70}"/>
              </a:ext>
            </a:extLst>
          </p:cNvPr>
          <p:cNvSpPr>
            <a:spLocks xmlns:a="http://schemas.openxmlformats.org/drawingml/2006/main" noGrp="1"/>
          </p:cNvSpPr>
          <p:nvPr/>
        </p:nvSpPr>
        <p:spPr>
          <a:xfrm xmlns:a="http://schemas.openxmlformats.org/drawingml/2006/main">
            <a:off x="647700" y="3238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168184"/>
                </a:solidFill>
              </a:defRPr>
            </a:defPPr>
            <a:lvl1pPr>
              <a:defRPr sz="975" b="1">
                <a:solidFill>
                  <a:srgbClr val="168184"/>
                </a:solidFill>
              </a:defRPr>
            </a:lvl1pPr>
            <a:lvl2pPr>
              <a:defRPr sz="975" b="1">
                <a:solidFill>
                  <a:srgbClr val="168184"/>
                </a:solidFill>
              </a:defRPr>
            </a:lvl2pPr>
            <a:lvl3pPr>
              <a:defRPr sz="975" b="1">
                <a:solidFill>
                  <a:srgbClr val="168184"/>
                </a:solidFill>
              </a:defRPr>
            </a:lvl3pPr>
            <a:lvl4pPr>
              <a:defRPr sz="975" b="1">
                <a:solidFill>
                  <a:srgbClr val="168184"/>
                </a:solidFill>
              </a:defRPr>
            </a:lvl4pPr>
            <a:lvl5pPr>
              <a:defRPr sz="975" b="1">
                <a:solidFill>
                  <a:srgbClr val="168184"/>
                </a:solidFill>
              </a:defRPr>
            </a:lvl5pPr>
            <a:lvl6pPr>
              <a:defRPr sz="975" b="1">
                <a:solidFill>
                  <a:srgbClr val="168184"/>
                </a:solidFill>
              </a:defRPr>
            </a:lvl6pPr>
            <a:lvl7pPr>
              <a:defRPr sz="975" b="1">
                <a:solidFill>
                  <a:srgbClr val="168184"/>
                </a:solidFill>
              </a:defRPr>
            </a:lvl7pPr>
            <a:lvl8pPr>
              <a:defRPr sz="975" b="1">
                <a:solidFill>
                  <a:srgbClr val="168184"/>
                </a:solidFill>
              </a:defRPr>
            </a:lvl8pPr>
            <a:lvl9pPr>
              <a:defRPr sz="975" b="1">
                <a:solidFill>
                  <a:srgbClr val="168184"/>
                </a:solidFill>
              </a:defRPr>
            </a:lvl9pPr>
          </a:lstStyle>
          <a:p xmlns:a="http://schemas.openxmlformats.org/drawingml/2006/main">
            <a:pPr>
              <a:defRPr sz="975" b="1">
                <a:solidFill>
                  <a:srgbClr val="168184"/>
                </a:solidFill>
              </a:defRPr>
            </a:pPr>
            <a:r>
              <a:rPr sz="975" b="1">
                <a:solidFill>
                  <a:srgbClr val="168184"/>
                </a:solidFill>
              </a:rPr>
              <a:t>BRAZIL SCENARIO RESULTS</a:t>
            </a:r>
          </a:p>
        </p:txBody>
      </p:sp>
      <p:sp>
        <p:nvSpPr>
          <p:cNvPr id="2" name="">
            <a:extLst xmlns:a="http://schemas.openxmlformats.org/drawingml/2006/main">
              <a:ext uri="{FF2B5EF4-FFF2-40B4-BE49-F238E27FC236}">
                <a16:creationId xmlns:a16="http://schemas.microsoft.com/office/drawing/2014/main" id="{0D9E52C4-6925-4283-8247-F6D4BA164F80}"/>
              </a:ext>
            </a:extLst>
          </p:cNvPr>
          <p:cNvSpPr>
            <a:spLocks xmlns:a="http://schemas.openxmlformats.org/drawingml/2006/main" noGrp="1"/>
          </p:cNvSpPr>
          <p:nvPr/>
        </p:nvSpPr>
        <p:spPr>
          <a:xfrm xmlns:a="http://schemas.openxmlformats.org/drawingml/2006/main">
            <a:off x="647700" y="6286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173344"/>
                </a:solidFill>
              </a:defRPr>
            </a:defPPr>
            <a:lvl1pPr>
              <a:defRPr sz="2550" b="1">
                <a:solidFill>
                  <a:srgbClr val="173344"/>
                </a:solidFill>
              </a:defRPr>
            </a:lvl1pPr>
            <a:lvl2pPr>
              <a:defRPr sz="2550" b="1">
                <a:solidFill>
                  <a:srgbClr val="173344"/>
                </a:solidFill>
              </a:defRPr>
            </a:lvl2pPr>
            <a:lvl3pPr>
              <a:defRPr sz="2550" b="1">
                <a:solidFill>
                  <a:srgbClr val="173344"/>
                </a:solidFill>
              </a:defRPr>
            </a:lvl3pPr>
            <a:lvl4pPr>
              <a:defRPr sz="2550" b="1">
                <a:solidFill>
                  <a:srgbClr val="173344"/>
                </a:solidFill>
              </a:defRPr>
            </a:lvl4pPr>
            <a:lvl5pPr>
              <a:defRPr sz="2550" b="1">
                <a:solidFill>
                  <a:srgbClr val="173344"/>
                </a:solidFill>
              </a:defRPr>
            </a:lvl5pPr>
            <a:lvl6pPr>
              <a:defRPr sz="2550" b="1">
                <a:solidFill>
                  <a:srgbClr val="173344"/>
                </a:solidFill>
              </a:defRPr>
            </a:lvl6pPr>
            <a:lvl7pPr>
              <a:defRPr sz="2550" b="1">
                <a:solidFill>
                  <a:srgbClr val="173344"/>
                </a:solidFill>
              </a:defRPr>
            </a:lvl7pPr>
            <a:lvl8pPr>
              <a:defRPr sz="2550" b="1">
                <a:solidFill>
                  <a:srgbClr val="173344"/>
                </a:solidFill>
              </a:defRPr>
            </a:lvl8pPr>
            <a:lvl9pPr>
              <a:defRPr sz="2550" b="1">
                <a:solidFill>
                  <a:srgbClr val="173344"/>
                </a:solidFill>
              </a:defRPr>
            </a:lvl9pPr>
          </a:lstStyle>
          <a:p xmlns:a="http://schemas.openxmlformats.org/drawingml/2006/main">
            <a:pPr>
              <a:defRPr sz="2550" b="1">
                <a:solidFill>
                  <a:srgbClr val="173344"/>
                </a:solidFill>
              </a:defRPr>
            </a:pPr>
            <a:r>
              <a:rPr sz="2550" b="1">
                <a:solidFill>
                  <a:srgbClr val="173344"/>
                </a:solidFill>
              </a:rPr>
              <a:t>What the current results support—and what they do not</a:t>
            </a:r>
          </a:p>
        </p:txBody>
      </p:sp>
      <p:sp>
        <p:nvSpPr>
          <p:cNvPr id="3" name="">
            <a:extLst xmlns:a="http://schemas.openxmlformats.org/drawingml/2006/main">
              <a:ext uri="{FF2B5EF4-FFF2-40B4-BE49-F238E27FC236}">
                <a16:creationId xmlns:a16="http://schemas.microsoft.com/office/drawing/2014/main" id="{FCF0FA1F-B4B7-4849-9DC3-29413FA4E9C7}"/>
              </a:ext>
            </a:extLst>
          </p:cNvPr>
          <p:cNvSpPr>
            <a:spLocks xmlns:a="http://schemas.openxmlformats.org/drawingml/2006/main" noGrp="1"/>
          </p:cNvSpPr>
          <p:nvPr/>
        </p:nvSpPr>
        <p:spPr>
          <a:xfrm xmlns:a="http://schemas.openxmlformats.org/drawingml/2006/main">
            <a:off x="647700" y="6477000"/>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0">
                <a:solidFill>
                  <a:srgbClr val="596D78"/>
                </a:solidFill>
              </a:defRPr>
            </a:defPPr>
            <a:lvl1pPr>
              <a:defRPr sz="900" b="0">
                <a:solidFill>
                  <a:srgbClr val="596D78"/>
                </a:solidFill>
              </a:defRPr>
            </a:lvl1pPr>
            <a:lvl2pPr>
              <a:defRPr sz="900" b="0">
                <a:solidFill>
                  <a:srgbClr val="596D78"/>
                </a:solidFill>
              </a:defRPr>
            </a:lvl2pPr>
            <a:lvl3pPr>
              <a:defRPr sz="900" b="0">
                <a:solidFill>
                  <a:srgbClr val="596D78"/>
                </a:solidFill>
              </a:defRPr>
            </a:lvl3pPr>
            <a:lvl4pPr>
              <a:defRPr sz="900" b="0">
                <a:solidFill>
                  <a:srgbClr val="596D78"/>
                </a:solidFill>
              </a:defRPr>
            </a:lvl4pPr>
            <a:lvl5pPr>
              <a:defRPr sz="900" b="0">
                <a:solidFill>
                  <a:srgbClr val="596D78"/>
                </a:solidFill>
              </a:defRPr>
            </a:lvl5pPr>
            <a:lvl6pPr>
              <a:defRPr sz="900" b="0">
                <a:solidFill>
                  <a:srgbClr val="596D78"/>
                </a:solidFill>
              </a:defRPr>
            </a:lvl6pPr>
            <a:lvl7pPr>
              <a:defRPr sz="900" b="0">
                <a:solidFill>
                  <a:srgbClr val="596D78"/>
                </a:solidFill>
              </a:defRPr>
            </a:lvl7pPr>
            <a:lvl8pPr>
              <a:defRPr sz="900" b="0">
                <a:solidFill>
                  <a:srgbClr val="596D78"/>
                </a:solidFill>
              </a:defRPr>
            </a:lvl8pPr>
            <a:lvl9pPr>
              <a:defRPr sz="900" b="0">
                <a:solidFill>
                  <a:srgbClr val="596D78"/>
                </a:solidFill>
              </a:defRPr>
            </a:lvl9pPr>
          </a:lstStyle>
          <a:p xmlns:a="http://schemas.openxmlformats.org/drawingml/2006/main">
            <a:pPr>
              <a:defRPr sz="900" b="0">
                <a:solidFill>
                  <a:srgbClr val="596D78"/>
                </a:solidFill>
              </a:defRPr>
            </a:pPr>
            <a:r>
              <a:rPr sz="900" b="0">
                <a:solidFill>
                  <a:srgbClr val="596D78"/>
                </a:solidFill>
              </a:rPr>
              <a:t>Internal review · D2 validation gate FAIL · 21 Oct 2026</a:t>
            </a:r>
          </a:p>
        </p:txBody>
      </p:sp>
      <p:sp>
        <p:nvSpPr>
          <p:cNvPr id="4" name="">
            <a:extLst xmlns:a="http://schemas.openxmlformats.org/drawingml/2006/main">
              <a:ext uri="{FF2B5EF4-FFF2-40B4-BE49-F238E27FC236}">
                <a16:creationId xmlns:a16="http://schemas.microsoft.com/office/drawing/2014/main" id="{5569BC18-B180-4FAB-A910-9E7A812D3911}"/>
              </a:ext>
            </a:extLst>
          </p:cNvPr>
          <p:cNvSpPr>
            <a:spLocks xmlns:a="http://schemas.openxmlformats.org/drawingml/2006/main" noGrp="1"/>
          </p:cNvSpPr>
          <p:nvPr/>
        </p:nvSpPr>
        <p:spPr>
          <a:xfrm xmlns:a="http://schemas.openxmlformats.org/drawingml/2006/main">
            <a:off x="666750" y="1381125"/>
            <a:ext cx="4953000" cy="180975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9525">
            <a:solidFill>
              <a:srgbClr val="D9E2E5"/>
            </a:solidFill>
            <a:prstDash val="solid"/>
          </a:ln>
        </p:spPr>
      </p:sp>
      <p:sp>
        <p:nvSpPr>
          <p:cNvPr id="5" name="">
            <a:extLst xmlns:a="http://schemas.openxmlformats.org/drawingml/2006/main">
              <a:ext uri="{FF2B5EF4-FFF2-40B4-BE49-F238E27FC236}">
                <a16:creationId xmlns:a16="http://schemas.microsoft.com/office/drawing/2014/main" id="{EF3B4B13-C903-43BB-A4CE-AF2ECB97A86C}"/>
              </a:ext>
            </a:extLst>
          </p:cNvPr>
          <p:cNvSpPr>
            <a:spLocks xmlns:a="http://schemas.openxmlformats.org/drawingml/2006/main" noGrp="1"/>
          </p:cNvSpPr>
          <p:nvPr/>
        </p:nvSpPr>
        <p:spPr>
          <a:xfrm xmlns:a="http://schemas.openxmlformats.org/drawingml/2006/main">
            <a:off x="666750" y="1381125"/>
            <a:ext cx="57150" cy="1809750"/>
          </a:xfrm>
          <a:prstGeom xmlns:a="http://schemas.openxmlformats.org/drawingml/2006/main" prst="rect">
            <a:avLst/>
          </a:prstGeom>
          <a:solidFill xmlns:a="http://schemas.openxmlformats.org/drawingml/2006/main">
            <a:srgbClr val="16818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4A91608-87E1-4A1C-B621-B85E13B95017}"/>
              </a:ext>
            </a:extLst>
          </p:cNvPr>
          <p:cNvSpPr>
            <a:spLocks xmlns:a="http://schemas.openxmlformats.org/drawingml/2006/main" noGrp="1"/>
          </p:cNvSpPr>
          <p:nvPr/>
        </p:nvSpPr>
        <p:spPr>
          <a:xfrm xmlns:a="http://schemas.openxmlformats.org/drawingml/2006/main">
            <a:off x="876300" y="1552575"/>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173344"/>
                </a:solidFill>
              </a:defRPr>
            </a:defPPr>
            <a:lvl1pPr>
              <a:defRPr sz="1425" b="1">
                <a:solidFill>
                  <a:srgbClr val="173344"/>
                </a:solidFill>
              </a:defRPr>
            </a:lvl1pPr>
            <a:lvl2pPr>
              <a:defRPr sz="1425" b="1">
                <a:solidFill>
                  <a:srgbClr val="173344"/>
                </a:solidFill>
              </a:defRPr>
            </a:lvl2pPr>
            <a:lvl3pPr>
              <a:defRPr sz="1425" b="1">
                <a:solidFill>
                  <a:srgbClr val="173344"/>
                </a:solidFill>
              </a:defRPr>
            </a:lvl3pPr>
            <a:lvl4pPr>
              <a:defRPr sz="1425" b="1">
                <a:solidFill>
                  <a:srgbClr val="173344"/>
                </a:solidFill>
              </a:defRPr>
            </a:lvl4pPr>
            <a:lvl5pPr>
              <a:defRPr sz="1425" b="1">
                <a:solidFill>
                  <a:srgbClr val="173344"/>
                </a:solidFill>
              </a:defRPr>
            </a:lvl5pPr>
            <a:lvl6pPr>
              <a:defRPr sz="1425" b="1">
                <a:solidFill>
                  <a:srgbClr val="173344"/>
                </a:solidFill>
              </a:defRPr>
            </a:lvl6pPr>
            <a:lvl7pPr>
              <a:defRPr sz="1425" b="1">
                <a:solidFill>
                  <a:srgbClr val="173344"/>
                </a:solidFill>
              </a:defRPr>
            </a:lvl7pPr>
            <a:lvl8pPr>
              <a:defRPr sz="1425" b="1">
                <a:solidFill>
                  <a:srgbClr val="173344"/>
                </a:solidFill>
              </a:defRPr>
            </a:lvl8pPr>
            <a:lvl9pPr>
              <a:defRPr sz="1425" b="1">
                <a:solidFill>
                  <a:srgbClr val="173344"/>
                </a:solidFill>
              </a:defRPr>
            </a:lvl9pPr>
          </a:lstStyle>
          <a:p xmlns:a="http://schemas.openxmlformats.org/drawingml/2006/main">
            <a:pPr>
              <a:defRPr sz="1425" b="1">
                <a:solidFill>
                  <a:srgbClr val="173344"/>
                </a:solidFill>
              </a:defRPr>
            </a:pPr>
            <a:r>
              <a:rPr sz="1425" b="1">
                <a:solidFill>
                  <a:srgbClr val="173344"/>
                </a:solidFill>
              </a:rPr>
              <a:t>Supported as model output</a:t>
            </a:r>
          </a:p>
        </p:txBody>
      </p:sp>
      <p:sp>
        <p:nvSpPr>
          <p:cNvPr id="7" name="">
            <a:extLst xmlns:a="http://schemas.openxmlformats.org/drawingml/2006/main">
              <a:ext uri="{FF2B5EF4-FFF2-40B4-BE49-F238E27FC236}">
                <a16:creationId xmlns:a16="http://schemas.microsoft.com/office/drawing/2014/main" id="{E5464E2E-1CFB-44EE-9D3D-3EC47BAFA185}"/>
              </a:ext>
            </a:extLst>
          </p:cNvPr>
          <p:cNvSpPr>
            <a:spLocks xmlns:a="http://schemas.openxmlformats.org/drawingml/2006/main" noGrp="1"/>
          </p:cNvSpPr>
          <p:nvPr/>
        </p:nvSpPr>
        <p:spPr>
          <a:xfrm xmlns:a="http://schemas.openxmlformats.org/drawingml/2006/main">
            <a:off x="876300" y="1971675"/>
            <a:ext cx="45339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96D78"/>
                </a:solidFill>
              </a:defRPr>
            </a:defPPr>
            <a:lvl1pPr>
              <a:defRPr sz="1200" b="0">
                <a:solidFill>
                  <a:srgbClr val="596D78"/>
                </a:solidFill>
              </a:defRPr>
            </a:lvl1pPr>
            <a:lvl2pPr>
              <a:defRPr sz="1200" b="0">
                <a:solidFill>
                  <a:srgbClr val="596D78"/>
                </a:solidFill>
              </a:defRPr>
            </a:lvl2pPr>
            <a:lvl3pPr>
              <a:defRPr sz="1200" b="0">
                <a:solidFill>
                  <a:srgbClr val="596D78"/>
                </a:solidFill>
              </a:defRPr>
            </a:lvl3pPr>
            <a:lvl4pPr>
              <a:defRPr sz="1200" b="0">
                <a:solidFill>
                  <a:srgbClr val="596D78"/>
                </a:solidFill>
              </a:defRPr>
            </a:lvl4pPr>
            <a:lvl5pPr>
              <a:defRPr sz="1200" b="0">
                <a:solidFill>
                  <a:srgbClr val="596D78"/>
                </a:solidFill>
              </a:defRPr>
            </a:lvl5pPr>
            <a:lvl6pPr>
              <a:defRPr sz="1200" b="0">
                <a:solidFill>
                  <a:srgbClr val="596D78"/>
                </a:solidFill>
              </a:defRPr>
            </a:lvl6pPr>
            <a:lvl7pPr>
              <a:defRPr sz="1200" b="0">
                <a:solidFill>
                  <a:srgbClr val="596D78"/>
                </a:solidFill>
              </a:defRPr>
            </a:lvl7pPr>
            <a:lvl8pPr>
              <a:defRPr sz="1200" b="0">
                <a:solidFill>
                  <a:srgbClr val="596D78"/>
                </a:solidFill>
              </a:defRPr>
            </a:lvl8pPr>
            <a:lvl9pPr>
              <a:defRPr sz="1200" b="0">
                <a:solidFill>
                  <a:srgbClr val="596D78"/>
                </a:solidFill>
              </a:defRPr>
            </a:lvl9pPr>
          </a:lstStyle>
          <a:p xmlns:a="http://schemas.openxmlformats.org/drawingml/2006/main">
            <a:pPr>
              <a:defRPr sz="1200" b="0">
                <a:solidFill>
                  <a:srgbClr val="596D78"/>
                </a:solidFill>
              </a:defRPr>
            </a:pPr>
            <a:r>
              <a:rPr sz="1200" b="0">
                <a:solidFill>
                  <a:srgbClr val="596D78"/>
                </a:solidFill>
              </a:rPr>
              <a:t>A conditional comparison: under the default package, persistent reductions show lower GDP levels and higher Gini vs S0 in the 2045 median. Debt ratios fall in the model, but debt validation fails.</a:t>
            </a:r>
          </a:p>
        </p:txBody>
      </p:sp>
      <p:sp>
        <p:nvSpPr>
          <p:cNvPr id="8" name="">
            <a:extLst xmlns:a="http://schemas.openxmlformats.org/drawingml/2006/main">
              <a:ext uri="{FF2B5EF4-FFF2-40B4-BE49-F238E27FC236}">
                <a16:creationId xmlns:a16="http://schemas.microsoft.com/office/drawing/2014/main" id="{74D558B7-42FB-491A-8360-32A980C1A3E7}"/>
              </a:ext>
            </a:extLst>
          </p:cNvPr>
          <p:cNvSpPr>
            <a:spLocks xmlns:a="http://schemas.openxmlformats.org/drawingml/2006/main" noGrp="1"/>
          </p:cNvSpPr>
          <p:nvPr/>
        </p:nvSpPr>
        <p:spPr>
          <a:xfrm xmlns:a="http://schemas.openxmlformats.org/drawingml/2006/main">
            <a:off x="6048375" y="1381125"/>
            <a:ext cx="4953000" cy="180975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9525">
            <a:solidFill>
              <a:srgbClr val="D9E2E5"/>
            </a:solidFill>
            <a:prstDash val="solid"/>
          </a:ln>
        </p:spPr>
      </p:sp>
      <p:sp>
        <p:nvSpPr>
          <p:cNvPr id="9" name="">
            <a:extLst xmlns:a="http://schemas.openxmlformats.org/drawingml/2006/main">
              <a:ext uri="{FF2B5EF4-FFF2-40B4-BE49-F238E27FC236}">
                <a16:creationId xmlns:a16="http://schemas.microsoft.com/office/drawing/2014/main" id="{199C79FE-8BDC-44E4-9C37-F44D3191AA09}"/>
              </a:ext>
            </a:extLst>
          </p:cNvPr>
          <p:cNvSpPr>
            <a:spLocks xmlns:a="http://schemas.openxmlformats.org/drawingml/2006/main" noGrp="1"/>
          </p:cNvSpPr>
          <p:nvPr/>
        </p:nvSpPr>
        <p:spPr>
          <a:xfrm xmlns:a="http://schemas.openxmlformats.org/drawingml/2006/main">
            <a:off x="6048375" y="1381125"/>
            <a:ext cx="57150" cy="1809750"/>
          </a:xfrm>
          <a:prstGeom xmlns:a="http://schemas.openxmlformats.org/drawingml/2006/main" prst="rect">
            <a:avLst/>
          </a:prstGeom>
          <a:solidFill xmlns:a="http://schemas.openxmlformats.org/drawingml/2006/main">
            <a:srgbClr val="BD5B4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E6B960D-30A4-4EA7-B674-916070B20E3E}"/>
              </a:ext>
            </a:extLst>
          </p:cNvPr>
          <p:cNvSpPr>
            <a:spLocks xmlns:a="http://schemas.openxmlformats.org/drawingml/2006/main" noGrp="1"/>
          </p:cNvSpPr>
          <p:nvPr/>
        </p:nvSpPr>
        <p:spPr>
          <a:xfrm xmlns:a="http://schemas.openxmlformats.org/drawingml/2006/main">
            <a:off x="6257925" y="1552575"/>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173344"/>
                </a:solidFill>
              </a:defRPr>
            </a:defPPr>
            <a:lvl1pPr>
              <a:defRPr sz="1425" b="1">
                <a:solidFill>
                  <a:srgbClr val="173344"/>
                </a:solidFill>
              </a:defRPr>
            </a:lvl1pPr>
            <a:lvl2pPr>
              <a:defRPr sz="1425" b="1">
                <a:solidFill>
                  <a:srgbClr val="173344"/>
                </a:solidFill>
              </a:defRPr>
            </a:lvl2pPr>
            <a:lvl3pPr>
              <a:defRPr sz="1425" b="1">
                <a:solidFill>
                  <a:srgbClr val="173344"/>
                </a:solidFill>
              </a:defRPr>
            </a:lvl3pPr>
            <a:lvl4pPr>
              <a:defRPr sz="1425" b="1">
                <a:solidFill>
                  <a:srgbClr val="173344"/>
                </a:solidFill>
              </a:defRPr>
            </a:lvl4pPr>
            <a:lvl5pPr>
              <a:defRPr sz="1425" b="1">
                <a:solidFill>
                  <a:srgbClr val="173344"/>
                </a:solidFill>
              </a:defRPr>
            </a:lvl5pPr>
            <a:lvl6pPr>
              <a:defRPr sz="1425" b="1">
                <a:solidFill>
                  <a:srgbClr val="173344"/>
                </a:solidFill>
              </a:defRPr>
            </a:lvl6pPr>
            <a:lvl7pPr>
              <a:defRPr sz="1425" b="1">
                <a:solidFill>
                  <a:srgbClr val="173344"/>
                </a:solidFill>
              </a:defRPr>
            </a:lvl7pPr>
            <a:lvl8pPr>
              <a:defRPr sz="1425" b="1">
                <a:solidFill>
                  <a:srgbClr val="173344"/>
                </a:solidFill>
              </a:defRPr>
            </a:lvl8pPr>
            <a:lvl9pPr>
              <a:defRPr sz="1425" b="1">
                <a:solidFill>
                  <a:srgbClr val="173344"/>
                </a:solidFill>
              </a:defRPr>
            </a:lvl9pPr>
          </a:lstStyle>
          <a:p xmlns:a="http://schemas.openxmlformats.org/drawingml/2006/main">
            <a:pPr>
              <a:defRPr sz="1425" b="1">
                <a:solidFill>
                  <a:srgbClr val="173344"/>
                </a:solidFill>
              </a:defRPr>
            </a:pPr>
            <a:r>
              <a:rPr sz="1425" b="1">
                <a:solidFill>
                  <a:srgbClr val="173344"/>
                </a:solidFill>
              </a:rPr>
              <a:t>Not supported</a:t>
            </a:r>
          </a:p>
        </p:txBody>
      </p:sp>
      <p:sp>
        <p:nvSpPr>
          <p:cNvPr id="11" name="">
            <a:extLst xmlns:a="http://schemas.openxmlformats.org/drawingml/2006/main">
              <a:ext uri="{FF2B5EF4-FFF2-40B4-BE49-F238E27FC236}">
                <a16:creationId xmlns:a16="http://schemas.microsoft.com/office/drawing/2014/main" id="{28D0E1A5-635F-49FB-B5A2-BCFC56C6A9C7}"/>
              </a:ext>
            </a:extLst>
          </p:cNvPr>
          <p:cNvSpPr>
            <a:spLocks xmlns:a="http://schemas.openxmlformats.org/drawingml/2006/main" noGrp="1"/>
          </p:cNvSpPr>
          <p:nvPr/>
        </p:nvSpPr>
        <p:spPr>
          <a:xfrm xmlns:a="http://schemas.openxmlformats.org/drawingml/2006/main">
            <a:off x="6257925" y="1971675"/>
            <a:ext cx="45339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96D78"/>
                </a:solidFill>
              </a:defRPr>
            </a:defPPr>
            <a:lvl1pPr>
              <a:defRPr sz="1200" b="0">
                <a:solidFill>
                  <a:srgbClr val="596D78"/>
                </a:solidFill>
              </a:defRPr>
            </a:lvl1pPr>
            <a:lvl2pPr>
              <a:defRPr sz="1200" b="0">
                <a:solidFill>
                  <a:srgbClr val="596D78"/>
                </a:solidFill>
              </a:defRPr>
            </a:lvl2pPr>
            <a:lvl3pPr>
              <a:defRPr sz="1200" b="0">
                <a:solidFill>
                  <a:srgbClr val="596D78"/>
                </a:solidFill>
              </a:defRPr>
            </a:lvl3pPr>
            <a:lvl4pPr>
              <a:defRPr sz="1200" b="0">
                <a:solidFill>
                  <a:srgbClr val="596D78"/>
                </a:solidFill>
              </a:defRPr>
            </a:lvl4pPr>
            <a:lvl5pPr>
              <a:defRPr sz="1200" b="0">
                <a:solidFill>
                  <a:srgbClr val="596D78"/>
                </a:solidFill>
              </a:defRPr>
            </a:lvl5pPr>
            <a:lvl6pPr>
              <a:defRPr sz="1200" b="0">
                <a:solidFill>
                  <a:srgbClr val="596D78"/>
                </a:solidFill>
              </a:defRPr>
            </a:lvl6pPr>
            <a:lvl7pPr>
              <a:defRPr sz="1200" b="0">
                <a:solidFill>
                  <a:srgbClr val="596D78"/>
                </a:solidFill>
              </a:defRPr>
            </a:lvl7pPr>
            <a:lvl8pPr>
              <a:defRPr sz="1200" b="0">
                <a:solidFill>
                  <a:srgbClr val="596D78"/>
                </a:solidFill>
              </a:defRPr>
            </a:lvl8pPr>
            <a:lvl9pPr>
              <a:defRPr sz="1200" b="0">
                <a:solidFill>
                  <a:srgbClr val="596D78"/>
                </a:solidFill>
              </a:defRPr>
            </a:lvl9pPr>
          </a:lstStyle>
          <a:p xmlns:a="http://schemas.openxmlformats.org/drawingml/2006/main">
            <a:pPr>
              <a:defRPr sz="1200" b="0">
                <a:solidFill>
                  <a:srgbClr val="596D78"/>
                </a:solidFill>
              </a:defRPr>
            </a:pPr>
            <a:r>
              <a:rPr sz="1200" b="0">
                <a:solidFill>
                  <a:srgbClr val="596D78"/>
                </a:solidFill>
              </a:rPr>
              <a:t>A validated forecast, a policy recommendation, a claim that all reductions worsen inequality, or a precise absolute future Gini level.</a:t>
            </a:r>
          </a:p>
        </p:txBody>
      </p:sp>
      <p:sp>
        <p:nvSpPr>
          <p:cNvPr id="12" name="">
            <a:extLst xmlns:a="http://schemas.openxmlformats.org/drawingml/2006/main">
              <a:ext uri="{FF2B5EF4-FFF2-40B4-BE49-F238E27FC236}">
                <a16:creationId xmlns:a16="http://schemas.microsoft.com/office/drawing/2014/main" id="{4BA18BFE-69B0-4FAF-BBAB-D1464002BA69}"/>
              </a:ext>
            </a:extLst>
          </p:cNvPr>
          <p:cNvSpPr>
            <a:spLocks xmlns:a="http://schemas.openxmlformats.org/drawingml/2006/main" noGrp="1"/>
          </p:cNvSpPr>
          <p:nvPr/>
        </p:nvSpPr>
        <p:spPr>
          <a:xfrm xmlns:a="http://schemas.openxmlformats.org/drawingml/2006/main">
            <a:off x="666750" y="3571875"/>
            <a:ext cx="10334625"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D9E2E5"/>
            </a:solidFill>
            <a:prstDash val="solid"/>
          </a:ln>
        </p:spPr>
      </p:sp>
      <p:sp>
        <p:nvSpPr>
          <p:cNvPr id="13" name="">
            <a:extLst xmlns:a="http://schemas.openxmlformats.org/drawingml/2006/main">
              <a:ext uri="{FF2B5EF4-FFF2-40B4-BE49-F238E27FC236}">
                <a16:creationId xmlns:a16="http://schemas.microsoft.com/office/drawing/2014/main" id="{7DE1944A-814F-40DE-A8F4-44DA124B1E09}"/>
              </a:ext>
            </a:extLst>
          </p:cNvPr>
          <p:cNvSpPr>
            <a:spLocks xmlns:a="http://schemas.openxmlformats.org/drawingml/2006/main" noGrp="1"/>
          </p:cNvSpPr>
          <p:nvPr/>
        </p:nvSpPr>
        <p:spPr>
          <a:xfrm xmlns:a="http://schemas.openxmlformats.org/drawingml/2006/main">
            <a:off x="666750" y="3571875"/>
            <a:ext cx="57150" cy="2095500"/>
          </a:xfrm>
          <a:prstGeom xmlns:a="http://schemas.openxmlformats.org/drawingml/2006/main" prst="rect">
            <a:avLst/>
          </a:prstGeom>
          <a:solidFill xmlns:a="http://schemas.openxmlformats.org/drawingml/2006/main">
            <a:srgbClr val="C1943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B79EA6A-34C8-4B6F-9A39-033E136C8060}"/>
              </a:ext>
            </a:extLst>
          </p:cNvPr>
          <p:cNvSpPr>
            <a:spLocks xmlns:a="http://schemas.openxmlformats.org/drawingml/2006/main" noGrp="1"/>
          </p:cNvSpPr>
          <p:nvPr/>
        </p:nvSpPr>
        <p:spPr>
          <a:xfrm xmlns:a="http://schemas.openxmlformats.org/drawingml/2006/main">
            <a:off x="876300" y="3743325"/>
            <a:ext cx="99155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173344"/>
                </a:solidFill>
              </a:defRPr>
            </a:defPPr>
            <a:lvl1pPr>
              <a:defRPr sz="1425" b="1">
                <a:solidFill>
                  <a:srgbClr val="173344"/>
                </a:solidFill>
              </a:defRPr>
            </a:lvl1pPr>
            <a:lvl2pPr>
              <a:defRPr sz="1425" b="1">
                <a:solidFill>
                  <a:srgbClr val="173344"/>
                </a:solidFill>
              </a:defRPr>
            </a:lvl2pPr>
            <a:lvl3pPr>
              <a:defRPr sz="1425" b="1">
                <a:solidFill>
                  <a:srgbClr val="173344"/>
                </a:solidFill>
              </a:defRPr>
            </a:lvl3pPr>
            <a:lvl4pPr>
              <a:defRPr sz="1425" b="1">
                <a:solidFill>
                  <a:srgbClr val="173344"/>
                </a:solidFill>
              </a:defRPr>
            </a:lvl4pPr>
            <a:lvl5pPr>
              <a:defRPr sz="1425" b="1">
                <a:solidFill>
                  <a:srgbClr val="173344"/>
                </a:solidFill>
              </a:defRPr>
            </a:lvl5pPr>
            <a:lvl6pPr>
              <a:defRPr sz="1425" b="1">
                <a:solidFill>
                  <a:srgbClr val="173344"/>
                </a:solidFill>
              </a:defRPr>
            </a:lvl6pPr>
            <a:lvl7pPr>
              <a:defRPr sz="1425" b="1">
                <a:solidFill>
                  <a:srgbClr val="173344"/>
                </a:solidFill>
              </a:defRPr>
            </a:lvl7pPr>
            <a:lvl8pPr>
              <a:defRPr sz="1425" b="1">
                <a:solidFill>
                  <a:srgbClr val="173344"/>
                </a:solidFill>
              </a:defRPr>
            </a:lvl8pPr>
            <a:lvl9pPr>
              <a:defRPr sz="1425" b="1">
                <a:solidFill>
                  <a:srgbClr val="173344"/>
                </a:solidFill>
              </a:defRPr>
            </a:lvl9pPr>
          </a:lstStyle>
          <a:p xmlns:a="http://schemas.openxmlformats.org/drawingml/2006/main">
            <a:pPr>
              <a:defRPr sz="1425" b="1">
                <a:solidFill>
                  <a:srgbClr val="173344"/>
                </a:solidFill>
              </a:defRPr>
            </a:pPr>
            <a:r>
              <a:rPr sz="1425" b="1">
                <a:solidFill>
                  <a:srgbClr val="173344"/>
                </a:solidFill>
              </a:rPr>
              <a:t>What to improve next</a:t>
            </a:r>
          </a:p>
        </p:txBody>
      </p:sp>
      <p:sp>
        <p:nvSpPr>
          <p:cNvPr id="15" name="">
            <a:extLst xmlns:a="http://schemas.openxmlformats.org/drawingml/2006/main">
              <a:ext uri="{FF2B5EF4-FFF2-40B4-BE49-F238E27FC236}">
                <a16:creationId xmlns:a16="http://schemas.microsoft.com/office/drawing/2014/main" id="{BADC3771-3B80-46C6-BDF3-7BFE54AADB50}"/>
              </a:ext>
            </a:extLst>
          </p:cNvPr>
          <p:cNvSpPr>
            <a:spLocks xmlns:a="http://schemas.openxmlformats.org/drawingml/2006/main" noGrp="1"/>
          </p:cNvSpPr>
          <p:nvPr/>
        </p:nvSpPr>
        <p:spPr>
          <a:xfrm xmlns:a="http://schemas.openxmlformats.org/drawingml/2006/main">
            <a:off x="876300" y="4162425"/>
            <a:ext cx="9915525"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96D78"/>
                </a:solidFill>
              </a:defRPr>
            </a:defPPr>
            <a:lvl1pPr>
              <a:defRPr sz="1200" b="0">
                <a:solidFill>
                  <a:srgbClr val="596D78"/>
                </a:solidFill>
              </a:defRPr>
            </a:lvl1pPr>
            <a:lvl2pPr>
              <a:defRPr sz="1200" b="0">
                <a:solidFill>
                  <a:srgbClr val="596D78"/>
                </a:solidFill>
              </a:defRPr>
            </a:lvl2pPr>
            <a:lvl3pPr>
              <a:defRPr sz="1200" b="0">
                <a:solidFill>
                  <a:srgbClr val="596D78"/>
                </a:solidFill>
              </a:defRPr>
            </a:lvl3pPr>
            <a:lvl4pPr>
              <a:defRPr sz="1200" b="0">
                <a:solidFill>
                  <a:srgbClr val="596D78"/>
                </a:solidFill>
              </a:defRPr>
            </a:lvl4pPr>
            <a:lvl5pPr>
              <a:defRPr sz="1200" b="0">
                <a:solidFill>
                  <a:srgbClr val="596D78"/>
                </a:solidFill>
              </a:defRPr>
            </a:lvl5pPr>
            <a:lvl6pPr>
              <a:defRPr sz="1200" b="0">
                <a:solidFill>
                  <a:srgbClr val="596D78"/>
                </a:solidFill>
              </a:defRPr>
            </a:lvl6pPr>
            <a:lvl7pPr>
              <a:defRPr sz="1200" b="0">
                <a:solidFill>
                  <a:srgbClr val="596D78"/>
                </a:solidFill>
              </a:defRPr>
            </a:lvl7pPr>
            <a:lvl8pPr>
              <a:defRPr sz="1200" b="0">
                <a:solidFill>
                  <a:srgbClr val="596D78"/>
                </a:solidFill>
              </a:defRPr>
            </a:lvl8pPr>
            <a:lvl9pPr>
              <a:defRPr sz="1200" b="0">
                <a:solidFill>
                  <a:srgbClr val="596D78"/>
                </a:solidFill>
              </a:defRPr>
            </a:lvl9pPr>
          </a:lstStyle>
          <a:p xmlns:a="http://schemas.openxmlformats.org/drawingml/2006/main">
            <a:pPr>
              <a:defRPr sz="1200" b="0">
                <a:solidFill>
                  <a:srgbClr val="596D78"/>
                </a:solidFill>
              </a:defRPr>
            </a:pPr>
            <a:r>
              <a:rPr sz="1200" b="0">
                <a:solidFill>
                  <a:srgbClr val="596D78"/>
                </a:solidFill>
              </a:rPr>
              <a:t>Resolve the debt stock-flow/reconciliation miss; expand historical macro validation; make distribution results available for each package composition; then revisit the gate and report. Use the interactive explainer to inspect indicators, horizons, persistence and packages.</a:t>
            </a:r>
          </a:p>
        </p:txBody>
      </p:sp>
    </p:spTree>
    <p:extLst>
      <p:ext uri="{BB962C8B-B14F-4D97-AF65-F5344CB8AC3E}">
        <p14:creationId xmlns:p14="http://schemas.microsoft.com/office/powerpoint/2010/main" val="10057943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2026-10-21T10:23:05.5950000Z</dcterms:created>
  <dcterms:modified xsi:type="dcterms:W3CDTF">2026-10-21T10:23:05.5950000Z</dcterms:modified>
</coreProperties>
</file>